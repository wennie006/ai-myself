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说到接下来的规划，我对抢票业务的理解是：它要同时平衡三件事，票量、收益和体验。</a:t>
            </a:r>
          </a:p>
          <a:p>
            <a:r>
              <a:t>前面讲到的几个需求，其实都是在这三者之间找平衡点：既要让更多订单出票，也要让用户在过程中有好的感受，同时守住平台的收益。</a:t>
            </a:r>
          </a:p>
          <a:p>
            <a:r>
              <a:t>接下来我也想围绕这三点继续推进。</a:t>
            </a:r>
          </a:p>
          <a:p>
            <a:r>
              <a:t>票量上，我想重点补齐小程序的支付策略。</a:t>
            </a:r>
          </a:p>
          <a:p>
            <a:r>
              <a:t>小程序受风控影响比较大，没法走代付出票，需要跳到客服对话付款的订单，只能通过支付召回来完成，付款这一步的流失比较多。</a:t>
            </a:r>
          </a:p>
          <a:p>
            <a:r>
              <a:t>接下来想从两个方向推进：一是在小程序内部优化付款方式，比如接入微信合单支付，在稳住体验的前提下提升小程序的票量；二是做场景转换，把订单引导到成功率更高的路径上，比如召回用户回到 App 下单，或者引导用户在小程序里完成信用付授权。</a:t>
            </a:r>
          </a:p>
          <a:p>
            <a:r>
              <a:t>收益上，我希望在合规的前提下，重新梳理各个场景里用户比较需要的服务，在目前线上的流程和环节中，补上一些收益场景的空白。</a:t>
            </a:r>
          </a:p>
          <a:p>
            <a:r>
              <a:t>同时，提高收益的前提是稳住用户体验，我目前正在探索的一个方向，就是外呼场景下的策略优化。</a:t>
            </a:r>
          </a:p>
          <a:p>
            <a:r>
              <a:t>AI 上，我希望从 AI native 的产品走进业务，把 AI 能力真正落到抢票业务的链路里。</a:t>
            </a:r>
          </a:p>
          <a:p>
            <a:r>
              <a:t>我已经在自己的工作中把Ai运用固定为一套较为固定的流程，比如用飞书命令行工具，直接读取文档、群聊记录，行程我个人的工作日报和提醒，进行材料的整理和数据核对，并且用claudecode写了一个skill，能够辅助进行需求验收。</a:t>
            </a:r>
          </a:p>
          <a:p>
            <a:r>
              <a:t>我一直在思考和探索的，还有如何找出那些用传统方法不太好解决的痛点，引入 AI，并用我们平台用户最容易接受的方式呈现，提供他们当下最需要的能力，让 AI 真正服务于票量、收益和体验三者之间的平衡。</a:t>
            </a:r>
          </a:p>
          <a:p>
            <a:r>
              <a:t>以上就是我的分享，谢谢各位老师。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3、未来规划 · 在票量、收益、体验之间找平衡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抢票业务要同时平衡票量、收益与体验，AI 服务于三者的平衡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868680" y="1965960"/>
            <a:ext cx="3017520" cy="2743200"/>
          </a:xfrm>
          <a:prstGeom prst="triangl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1993392" y="1399032"/>
            <a:ext cx="768096" cy="768096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Ti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591056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2194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票量</a:t>
            </a:r>
          </a:p>
        </p:txBody>
      </p:sp>
      <p:sp>
        <p:nvSpPr>
          <p:cNvPr id="8" name="icon-circle"/>
          <p:cNvSpPr/>
          <p:nvPr/>
        </p:nvSpPr>
        <p:spPr>
          <a:xfrm>
            <a:off x="484632" y="4325112"/>
            <a:ext cx="768096" cy="768096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aCoi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17136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1206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收益</a:t>
            </a:r>
          </a:p>
        </p:txBody>
      </p:sp>
      <p:sp>
        <p:nvSpPr>
          <p:cNvPr id="11" name="icon-circle"/>
          <p:cNvSpPr/>
          <p:nvPr/>
        </p:nvSpPr>
        <p:spPr>
          <a:xfrm>
            <a:off x="3502152" y="4325112"/>
            <a:ext cx="768096" cy="768096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aFaceSm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4517136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37560" y="51206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体验</a:t>
            </a:r>
          </a:p>
        </p:txBody>
      </p:sp>
      <p:sp>
        <p:nvSpPr>
          <p:cNvPr id="14" name="icon-circle"/>
          <p:cNvSpPr/>
          <p:nvPr/>
        </p:nvSpPr>
        <p:spPr>
          <a:xfrm>
            <a:off x="1920240" y="3154680"/>
            <a:ext cx="914400" cy="9144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338328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0" y="409651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AI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26280" y="1554480"/>
          <a:ext cx="720547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697480"/>
                <a:gridCol w="32735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anchor="ctr" marL="137160" marR="91440">
                    <a:solidFill>
                      <a:srgbClr val="287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现状</a:t>
                      </a:r>
                    </a:p>
                  </a:txBody>
                  <a:tcPr anchor="ctr" marL="137160" marR="91440">
                    <a:solidFill>
                      <a:srgbClr val="287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接下来做什么</a:t>
                      </a:r>
                    </a:p>
                  </a:txBody>
                  <a:tcPr anchor="ctr" marL="137160" marR="91440">
                    <a:solidFill>
                      <a:srgbClr val="287DFA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票量</a:t>
                      </a:r>
                    </a:p>
                  </a:txBody>
                  <a:tcPr anchor="ctr" marL="566928" marR="9144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小程序受风控影响无法代付，跳客服付款，流失多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小程序内：接入微信合单支付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3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场景转换：召回 App、引导信用付授权</a:t>
                      </a:r>
                    </a:p>
                  </a:txBody>
                  <a:tcPr anchor="ctr" marL="137160" marR="91440">
                    <a:solidFill>
                      <a:srgbClr val="F5F9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收益</a:t>
                      </a:r>
                    </a:p>
                  </a:txBody>
                  <a:tcPr anchor="ctr" marL="566928" marR="9144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合规要求下，部分环节存在收益场景空白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梳理用户需要的服务，补齐收益场景</a:t>
                      </a:r>
                    </a:p>
                  </a:txBody>
                  <a:tcPr anchor="ctr" marL="137160" marR="91440">
                    <a:solidFill>
                      <a:srgbClr val="F5F9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</a:t>
                      </a:r>
                    </a:p>
                  </a:txBody>
                  <a:tcPr anchor="ctr" marL="566928" marR="9144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提高收益的前提，是稳住用户体验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外呼场景的策略优化</a:t>
                      </a:r>
                    </a:p>
                  </a:txBody>
                  <a:tcPr anchor="ctr" marL="137160" marR="91440">
                    <a:solidFill>
                      <a:srgbClr val="F5F9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</a:t>
                      </a:r>
                    </a:p>
                  </a:txBody>
                  <a:tcPr anchor="ctr" marL="566928" marR="9144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已固化进个人工作流：飞书 CLI、Claude Code Skill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找到传统方法难解决的痛点，用平台用户最易接受的方式落地</a:t>
                      </a:r>
                    </a:p>
                  </a:txBody>
                  <a:tcPr anchor="ctr" marL="137160" marR="91440"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18" name="icon-circle"/>
          <p:cNvSpPr/>
          <p:nvPr/>
        </p:nvSpPr>
        <p:spPr>
          <a:xfrm>
            <a:off x="4636008" y="2368296"/>
            <a:ext cx="384048" cy="384048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aTi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464308"/>
            <a:ext cx="192024" cy="192024"/>
          </a:xfrm>
          <a:prstGeom prst="rect">
            <a:avLst/>
          </a:prstGeom>
        </p:spPr>
      </p:pic>
      <p:sp>
        <p:nvSpPr>
          <p:cNvPr id="20" name="icon-circle"/>
          <p:cNvSpPr/>
          <p:nvPr/>
        </p:nvSpPr>
        <p:spPr>
          <a:xfrm>
            <a:off x="4636008" y="3396996"/>
            <a:ext cx="384048" cy="384048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FaCoi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3493008"/>
            <a:ext cx="192024" cy="192024"/>
          </a:xfrm>
          <a:prstGeom prst="rect">
            <a:avLst/>
          </a:prstGeom>
        </p:spPr>
      </p:pic>
      <p:sp>
        <p:nvSpPr>
          <p:cNvPr id="22" name="icon-circle"/>
          <p:cNvSpPr/>
          <p:nvPr/>
        </p:nvSpPr>
        <p:spPr>
          <a:xfrm>
            <a:off x="4636008" y="4311396"/>
            <a:ext cx="384048" cy="384048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FaceSm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407408"/>
            <a:ext cx="192024" cy="192024"/>
          </a:xfrm>
          <a:prstGeom prst="rect">
            <a:avLst/>
          </a:prstGeom>
        </p:spPr>
      </p:pic>
      <p:sp>
        <p:nvSpPr>
          <p:cNvPr id="24" name="icon-circle"/>
          <p:cNvSpPr/>
          <p:nvPr/>
        </p:nvSpPr>
        <p:spPr>
          <a:xfrm>
            <a:off x="4636008" y="5317236"/>
            <a:ext cx="384048" cy="384048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5413248"/>
            <a:ext cx="192024" cy="192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