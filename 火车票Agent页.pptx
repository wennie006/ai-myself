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m刘怡鸣" initials="l" lastIdx="1" clrIdx="0">
    <p:extLst>
      <p:ext uri="{19B8F6BF-5375-455C-9EA6-DF929625EA0E}">
        <p15:presenceInfo xmlns:p15="http://schemas.microsoft.com/office/powerpoint/2012/main" userId="lym刘怡鸣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6A6A6"/>
    <a:srgbClr val="28CE83"/>
    <a:srgbClr val="1BB178"/>
    <a:srgbClr val="43BB8D"/>
    <a:srgbClr val="2A69A2"/>
    <a:srgbClr val="D6E1F1"/>
    <a:srgbClr val="9DC3E6"/>
    <a:srgbClr val="70AD47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2279" autoAdjust="0"/>
  </p:normalViewPr>
  <p:slideViewPr>
    <p:cSldViewPr snapToGrid="0">
      <p:cViewPr varScale="1">
        <p:scale>
          <a:sx n="106" d="100"/>
          <a:sy n="106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8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4"/>
          <c:y val="0.22"/>
          <c:w val="0.92"/>
          <c:h val="0.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错分拒答占比</c:v>
                </c:pt>
              </c:strCache>
            </c:strRef>
          </c:tx>
          <c:spPr>
            <a:ln w="25400">
              <a:solidFill>
                <a:srgbClr val="287DFA"/>
              </a:solidFill>
            </a:ln>
          </c:spPr>
          <c:marker>
            <c:size val="5"/>
            <c:spPr>
              <a:solidFill>
                <a:srgbClr val="287DFA"/>
              </a:solidFill>
              <a:ln>
                <a:solidFill>
                  <a:srgbClr val="287DFA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8.7</c:v>
                </c:pt>
                <c:pt idx="1">
                  <c:v>8.8</c:v>
                </c:pt>
                <c:pt idx="2">
                  <c:v>8.9</c:v>
                </c:pt>
                <c:pt idx="3">
                  <c:v>8.10</c:v>
                </c:pt>
                <c:pt idx="4">
                  <c:v>8.11</c:v>
                </c:pt>
                <c:pt idx="5">
                  <c:v>8.12</c:v>
                </c:pt>
                <c:pt idx="6">
                  <c:v>8.13</c:v>
                </c:pt>
                <c:pt idx="7">
                  <c:v>8.14</c:v>
                </c:pt>
                <c:pt idx="8">
                  <c:v>8.15</c:v>
                </c:pt>
                <c:pt idx="9">
                  <c:v>8.16</c:v>
                </c:pt>
                <c:pt idx="10">
                  <c:v>8.17</c:v>
                </c:pt>
                <c:pt idx="11">
                  <c:v>8.18</c:v>
                </c:pt>
                <c:pt idx="12">
                  <c:v>8.19</c:v>
                </c:pt>
                <c:pt idx="13">
                  <c:v>8.20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10.73</c:v>
                </c:pt>
                <c:pt idx="1">
                  <c:v>10.65</c:v>
                </c:pt>
                <c:pt idx="2">
                  <c:v>10.1</c:v>
                </c:pt>
                <c:pt idx="3">
                  <c:v>10.1</c:v>
                </c:pt>
                <c:pt idx="4">
                  <c:v>7.18</c:v>
                </c:pt>
                <c:pt idx="5">
                  <c:v>7.46</c:v>
                </c:pt>
                <c:pt idx="6">
                  <c:v>6.91</c:v>
                </c:pt>
                <c:pt idx="7">
                  <c:v>7.2</c:v>
                </c:pt>
                <c:pt idx="8">
                  <c:v>6.14</c:v>
                </c:pt>
                <c:pt idx="9">
                  <c:v>5.98</c:v>
                </c:pt>
                <c:pt idx="10">
                  <c:v>6.28</c:v>
                </c:pt>
                <c:pt idx="11">
                  <c:v>5.69</c:v>
                </c:pt>
                <c:pt idx="12">
                  <c:v>5.51</c:v>
                </c:pt>
                <c:pt idx="13">
                  <c:v>4.93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>
            <a:solidFill>
              <a:srgbClr val="D3E2F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3.0"/>
          <c:min val="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D70F8-A809-479A-B4E7-7CD7FBA21D45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5A24-1C80-4826-8331-A30A6CC3A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7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我的第一条主线是火车票 Agent，它主要负责承接问道分发过来的火车相关问题，我在这个项目里做的是偏基础的工作。Agent 能不能答好，前提是它能准确判断一个问题该不该由火车来回答、具体属于哪一类。所以我主要负责优化意图识别框架，解决“什么属于火车、什么不属于火车”的问题。</a:t>
            </a:r>
          </a:p>
          <a:p/>
          <a:p>
            <a:r>
              <a:t>一期上线前，我把 Agent 基于意图识别框架的分类结果，和算法按业务标签给出的分类结果逐条比对，核对两边不一致的场景，重点看从业务视角判断、算法对而 Agent 错的情况。这说明 Agent 的提示词有漏洞，才会把不属于这一类的 query 纳进来。我针对这些情况，逐条修改对应类别的关键词和分类标准，一期上线前，意图分类准确率从 94.6% 提升到了 98%。上线后，和问道兜底相比，正文完播率提升了 7.7%，说明回答内容更符合用户的需求。</a:t>
            </a:r>
          </a:p>
          <a:p/>
          <a:p>
            <a:r>
              <a:t>二期主要做拒答治理。降低拒答有两个方向：一是提升模型能力，让它能回答目前还答不了的问题；二是治理分发错误。我们是一个垂直于火车的 Agent，有一部分问题根本不属于火车，是被错误分发过来的，这类问题只要调整问道的分发策略就能解决，见效更快。所以我们在持续推进火车能力覆盖的同时，优先治理分发错误。我人工核查了 1,000 多条拒答 query，整理出火车问题的边界，问道据此调整了对火车 Agent 的分发策略，这类拒答的占比从 10.7% 降到了 4.9%。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9900" y="555951"/>
            <a:ext cx="2010530" cy="4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8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11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7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37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6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4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943633" y="1565211"/>
            <a:ext cx="8733041" cy="6614959"/>
            <a:chOff x="3943629" y="1765230"/>
            <a:chExt cx="8733041" cy="6614959"/>
          </a:xfrm>
        </p:grpSpPr>
        <p:sp>
          <p:nvSpPr>
            <p:cNvPr id="8" name="Donut 7"/>
            <p:cNvSpPr/>
            <p:nvPr userDrawn="1"/>
          </p:nvSpPr>
          <p:spPr>
            <a:xfrm rot="6104502">
              <a:off x="10513894" y="4182360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 userDrawn="1"/>
          </p:nvSpPr>
          <p:spPr>
            <a:xfrm rot="6104502">
              <a:off x="11635129" y="323203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 userDrawn="1"/>
          </p:nvSpPr>
          <p:spPr>
            <a:xfrm rot="6104502">
              <a:off x="4885213" y="5754088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1" name="Donut 10"/>
            <p:cNvSpPr/>
            <p:nvPr userDrawn="1"/>
          </p:nvSpPr>
          <p:spPr>
            <a:xfrm rot="6104502">
              <a:off x="9890317" y="632831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2" name="Donut 11"/>
            <p:cNvSpPr/>
            <p:nvPr userDrawn="1"/>
          </p:nvSpPr>
          <p:spPr>
            <a:xfrm rot="6104502">
              <a:off x="11280398" y="277344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>
            <a:xfrm rot="6104502">
              <a:off x="11255956" y="4096902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4" name="Oval 13"/>
            <p:cNvSpPr/>
            <p:nvPr userDrawn="1"/>
          </p:nvSpPr>
          <p:spPr>
            <a:xfrm rot="6104502">
              <a:off x="10988857" y="3411415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5" name="Donut 14"/>
            <p:cNvSpPr/>
            <p:nvPr userDrawn="1"/>
          </p:nvSpPr>
          <p:spPr>
            <a:xfrm rot="20504502">
              <a:off x="8157576" y="4967821"/>
              <a:ext cx="1778283" cy="1778283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42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6" name="Donut 15"/>
            <p:cNvSpPr/>
            <p:nvPr userDrawn="1"/>
          </p:nvSpPr>
          <p:spPr>
            <a:xfrm rot="20504502">
              <a:off x="5967631" y="5517505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>
            <a:xfrm rot="20504502">
              <a:off x="7106071" y="6040256"/>
              <a:ext cx="688490" cy="688490"/>
            </a:xfrm>
            <a:prstGeom prst="ellipse">
              <a:avLst/>
            </a:prstGeom>
            <a:solidFill>
              <a:schemeClr val="bg1">
                <a:lumMod val="95000"/>
                <a:alpha val="39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8" name="Oval 17"/>
            <p:cNvSpPr/>
            <p:nvPr userDrawn="1"/>
          </p:nvSpPr>
          <p:spPr>
            <a:xfrm rot="20504502">
              <a:off x="8828367" y="4697538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9" name="Donut 18"/>
            <p:cNvSpPr/>
            <p:nvPr userDrawn="1"/>
          </p:nvSpPr>
          <p:spPr>
            <a:xfrm rot="20504502">
              <a:off x="7272388" y="5137491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0" name="Donut 19"/>
            <p:cNvSpPr/>
            <p:nvPr userDrawn="1"/>
          </p:nvSpPr>
          <p:spPr>
            <a:xfrm rot="20504502">
              <a:off x="9359434" y="559670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 userDrawn="1"/>
          </p:nvSpPr>
          <p:spPr>
            <a:xfrm rot="20504502">
              <a:off x="9482547" y="465955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2" name="Donut 21"/>
            <p:cNvSpPr/>
            <p:nvPr userDrawn="1"/>
          </p:nvSpPr>
          <p:spPr>
            <a:xfrm rot="20504502">
              <a:off x="11146308" y="586877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 userDrawn="1"/>
          </p:nvSpPr>
          <p:spPr>
            <a:xfrm rot="20504502">
              <a:off x="7238767" y="5017013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4" name="Oval 23"/>
            <p:cNvSpPr/>
            <p:nvPr userDrawn="1"/>
          </p:nvSpPr>
          <p:spPr>
            <a:xfrm rot="20504502">
              <a:off x="3943629" y="613031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5" name="Oval 24"/>
            <p:cNvSpPr/>
            <p:nvPr userDrawn="1"/>
          </p:nvSpPr>
          <p:spPr>
            <a:xfrm rot="20504502">
              <a:off x="6479821" y="5990866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6" name="Oval 25"/>
            <p:cNvSpPr/>
            <p:nvPr userDrawn="1"/>
          </p:nvSpPr>
          <p:spPr>
            <a:xfrm rot="20504502">
              <a:off x="9327833" y="4273371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7" name="Donut 26"/>
            <p:cNvSpPr/>
            <p:nvPr userDrawn="1"/>
          </p:nvSpPr>
          <p:spPr>
            <a:xfrm rot="10604502">
              <a:off x="10421842" y="5527974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 userDrawn="1"/>
          </p:nvSpPr>
          <p:spPr>
            <a:xfrm rot="10604502">
              <a:off x="11502978" y="193534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 userDrawn="1"/>
          </p:nvSpPr>
          <p:spPr>
            <a:xfrm rot="10604502">
              <a:off x="11886320" y="1765230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0" name="Donut 29"/>
            <p:cNvSpPr/>
            <p:nvPr userDrawn="1"/>
          </p:nvSpPr>
          <p:spPr>
            <a:xfrm rot="10604502">
              <a:off x="9874667" y="3536070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 userDrawn="1"/>
          </p:nvSpPr>
          <p:spPr>
            <a:xfrm rot="10604502">
              <a:off x="10759809" y="3214182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 userDrawn="1"/>
          </p:nvSpPr>
          <p:spPr>
            <a:xfrm rot="10604502">
              <a:off x="4248675" y="623112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 userDrawn="1"/>
          </p:nvSpPr>
          <p:spPr>
            <a:xfrm rot="10604502">
              <a:off x="11516462" y="3055947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4" name="Oval 33"/>
            <p:cNvSpPr/>
            <p:nvPr userDrawn="1"/>
          </p:nvSpPr>
          <p:spPr>
            <a:xfrm rot="10604502">
              <a:off x="8086333" y="608290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5" name="Oval 34"/>
            <p:cNvSpPr/>
            <p:nvPr userDrawn="1"/>
          </p:nvSpPr>
          <p:spPr>
            <a:xfrm rot="10604502">
              <a:off x="4659440" y="5686338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276313" y="6502736"/>
            <a:ext cx="731511" cy="276999"/>
            <a:chOff x="404977" y="6383122"/>
            <a:chExt cx="731513" cy="276999"/>
          </a:xfrm>
        </p:grpSpPr>
        <p:sp>
          <p:nvSpPr>
            <p:cNvPr id="43" name="TextBox 42"/>
            <p:cNvSpPr txBox="1"/>
            <p:nvPr/>
          </p:nvSpPr>
          <p:spPr>
            <a:xfrm>
              <a:off x="512343" y="6383122"/>
              <a:ext cx="624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200" dirty="0" smtClean="0">
                  <a:solidFill>
                    <a:schemeClr val="bg1">
                      <a:lumMod val="50000"/>
                    </a:schemeClr>
                  </a:solidFill>
                  <a:latin typeface="Raleway" panose="020B0003030101060003" pitchFamily="34" charset="0"/>
                </a:rPr>
                <a:t>MOST</a:t>
              </a:r>
              <a:endParaRPr lang="id-ID" sz="1200" dirty="0">
                <a:solidFill>
                  <a:schemeClr val="bg1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4977" y="6417778"/>
              <a:ext cx="181253" cy="189215"/>
              <a:chOff x="4573232" y="2256703"/>
              <a:chExt cx="838558" cy="87539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73232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1694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697463" y="2256703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</p:grpSp>
      </p:grpSp>
      <p:grpSp>
        <p:nvGrpSpPr>
          <p:cNvPr id="55" name="Group 54"/>
          <p:cNvGrpSpPr/>
          <p:nvPr userDrawn="1"/>
        </p:nvGrpSpPr>
        <p:grpSpPr>
          <a:xfrm>
            <a:off x="11807070" y="6559227"/>
            <a:ext cx="214313" cy="220663"/>
            <a:chOff x="7015550" y="2614882"/>
            <a:chExt cx="214313" cy="220663"/>
          </a:xfrm>
          <a:solidFill>
            <a:srgbClr val="358FCB"/>
          </a:solidFill>
        </p:grpSpPr>
        <p:sp>
          <p:nvSpPr>
            <p:cNvPr id="49" name="Freeform 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7015550" y="2614882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0" name="Freeform 6">
              <a:hlinkClick r:id="" action="ppaction://hlinkshowjump?jump=nextslide"/>
            </p:cNvPr>
            <p:cNvSpPr/>
            <p:nvPr userDrawn="1"/>
          </p:nvSpPr>
          <p:spPr bwMode="auto">
            <a:xfrm>
              <a:off x="7091750" y="2657745"/>
              <a:ext cx="76200" cy="131763"/>
            </a:xfrm>
            <a:custGeom>
              <a:avLst/>
              <a:gdLst>
                <a:gd name="T0" fmla="*/ 0 w 48"/>
                <a:gd name="T1" fmla="*/ 70 h 83"/>
                <a:gd name="T2" fmla="*/ 34 w 48"/>
                <a:gd name="T3" fmla="*/ 40 h 83"/>
                <a:gd name="T4" fmla="*/ 0 w 48"/>
                <a:gd name="T5" fmla="*/ 13 h 83"/>
                <a:gd name="T6" fmla="*/ 0 w 48"/>
                <a:gd name="T7" fmla="*/ 0 h 83"/>
                <a:gd name="T8" fmla="*/ 48 w 48"/>
                <a:gd name="T9" fmla="*/ 40 h 83"/>
                <a:gd name="T10" fmla="*/ 0 w 48"/>
                <a:gd name="T11" fmla="*/ 83 h 83"/>
                <a:gd name="T12" fmla="*/ 0 w 48"/>
                <a:gd name="T13" fmla="*/ 7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3">
                  <a:moveTo>
                    <a:pt x="0" y="70"/>
                  </a:moveTo>
                  <a:lnTo>
                    <a:pt x="34" y="40"/>
                  </a:lnTo>
                  <a:lnTo>
                    <a:pt x="0" y="13"/>
                  </a:lnTo>
                  <a:lnTo>
                    <a:pt x="0" y="0"/>
                  </a:lnTo>
                  <a:lnTo>
                    <a:pt x="48" y="40"/>
                  </a:lnTo>
                  <a:lnTo>
                    <a:pt x="0" y="83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grpSp>
        <p:nvGrpSpPr>
          <p:cNvPr id="56" name="Group 55"/>
          <p:cNvGrpSpPr/>
          <p:nvPr userDrawn="1"/>
        </p:nvGrpSpPr>
        <p:grpSpPr>
          <a:xfrm>
            <a:off x="11370388" y="6559227"/>
            <a:ext cx="214313" cy="220663"/>
            <a:chOff x="7395183" y="3832633"/>
            <a:chExt cx="214313" cy="220663"/>
          </a:xfrm>
          <a:solidFill>
            <a:srgbClr val="358FCB"/>
          </a:solidFill>
        </p:grpSpPr>
        <p:sp>
          <p:nvSpPr>
            <p:cNvPr id="51" name="Freeform 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7395183" y="3832633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2" name="Freeform 8">
              <a:hlinkClick r:id="" action="ppaction://hlinkshowjump?jump=previousslide"/>
            </p:cNvPr>
            <p:cNvSpPr/>
            <p:nvPr userDrawn="1"/>
          </p:nvSpPr>
          <p:spPr bwMode="auto">
            <a:xfrm>
              <a:off x="7457096" y="3880258"/>
              <a:ext cx="76200" cy="130175"/>
            </a:xfrm>
            <a:custGeom>
              <a:avLst/>
              <a:gdLst>
                <a:gd name="T0" fmla="*/ 48 w 48"/>
                <a:gd name="T1" fmla="*/ 12 h 82"/>
                <a:gd name="T2" fmla="*/ 14 w 48"/>
                <a:gd name="T3" fmla="*/ 42 h 82"/>
                <a:gd name="T4" fmla="*/ 48 w 48"/>
                <a:gd name="T5" fmla="*/ 70 h 82"/>
                <a:gd name="T6" fmla="*/ 48 w 48"/>
                <a:gd name="T7" fmla="*/ 82 h 82"/>
                <a:gd name="T8" fmla="*/ 0 w 48"/>
                <a:gd name="T9" fmla="*/ 42 h 82"/>
                <a:gd name="T10" fmla="*/ 48 w 48"/>
                <a:gd name="T11" fmla="*/ 0 h 82"/>
                <a:gd name="T12" fmla="*/ 48 w 48"/>
                <a:gd name="T13" fmla="*/ 1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2">
                  <a:moveTo>
                    <a:pt x="48" y="12"/>
                  </a:moveTo>
                  <a:lnTo>
                    <a:pt x="14" y="42"/>
                  </a:lnTo>
                  <a:lnTo>
                    <a:pt x="48" y="70"/>
                  </a:lnTo>
                  <a:lnTo>
                    <a:pt x="48" y="82"/>
                  </a:lnTo>
                  <a:lnTo>
                    <a:pt x="0" y="42"/>
                  </a:lnTo>
                  <a:lnTo>
                    <a:pt x="48" y="0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sp>
        <p:nvSpPr>
          <p:cNvPr id="57" name="Rectangle 56"/>
          <p:cNvSpPr/>
          <p:nvPr userDrawn="1"/>
        </p:nvSpPr>
        <p:spPr>
          <a:xfrm>
            <a:off x="3102781" y="638333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© 2020 </a:t>
            </a:r>
            <a:r>
              <a:rPr 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Companyname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id-ID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PowerPoint</a:t>
            </a:r>
            <a:r>
              <a:rPr lang="id-ID" sz="900" baseline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Business 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Theme. All Rights Reserved. </a:t>
            </a:r>
            <a:endParaRPr lang="id-ID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 rot="16200000">
            <a:off x="504088" y="768356"/>
            <a:ext cx="383327" cy="67506"/>
            <a:chOff x="2013527" y="1616364"/>
            <a:chExt cx="576928" cy="101600"/>
          </a:xfrm>
        </p:grpSpPr>
        <p:sp>
          <p:nvSpPr>
            <p:cNvPr id="6" name="Oval 5"/>
            <p:cNvSpPr/>
            <p:nvPr userDrawn="1"/>
          </p:nvSpPr>
          <p:spPr>
            <a:xfrm>
              <a:off x="2013527" y="1616364"/>
              <a:ext cx="101600" cy="101600"/>
            </a:xfrm>
            <a:prstGeom prst="ellipse">
              <a:avLst/>
            </a:prstGeom>
            <a:solidFill>
              <a:srgbClr val="358F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3" name="Oval 52"/>
            <p:cNvSpPr/>
            <p:nvPr userDrawn="1"/>
          </p:nvSpPr>
          <p:spPr>
            <a:xfrm>
              <a:off x="2132359" y="1616364"/>
              <a:ext cx="101600" cy="101600"/>
            </a:xfrm>
            <a:prstGeom prst="ellipse">
              <a:avLst/>
            </a:prstGeom>
            <a:solidFill>
              <a:srgbClr val="358FC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1" name="Oval 60"/>
            <p:cNvSpPr/>
            <p:nvPr userDrawn="1"/>
          </p:nvSpPr>
          <p:spPr>
            <a:xfrm>
              <a:off x="2251191" y="1616364"/>
              <a:ext cx="101600" cy="101600"/>
            </a:xfrm>
            <a:prstGeom prst="ellipse">
              <a:avLst/>
            </a:prstGeom>
            <a:solidFill>
              <a:srgbClr val="358FC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2" name="Oval 61"/>
            <p:cNvSpPr/>
            <p:nvPr userDrawn="1"/>
          </p:nvSpPr>
          <p:spPr>
            <a:xfrm>
              <a:off x="2370023" y="1616364"/>
              <a:ext cx="101600" cy="101600"/>
            </a:xfrm>
            <a:prstGeom prst="ellipse">
              <a:avLst/>
            </a:prstGeom>
            <a:solidFill>
              <a:srgbClr val="358F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Oval 62"/>
            <p:cNvSpPr/>
            <p:nvPr userDrawn="1"/>
          </p:nvSpPr>
          <p:spPr>
            <a:xfrm>
              <a:off x="2488855" y="1616364"/>
              <a:ext cx="101600" cy="101600"/>
            </a:xfrm>
            <a:prstGeom prst="ellipse">
              <a:avLst/>
            </a:prstGeom>
            <a:solidFill>
              <a:srgbClr val="358F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4" name="Oval 53"/>
          <p:cNvSpPr/>
          <p:nvPr userDrawn="1"/>
        </p:nvSpPr>
        <p:spPr>
          <a:xfrm>
            <a:off x="11672882" y="-148007"/>
            <a:ext cx="655570" cy="655569"/>
          </a:xfrm>
          <a:prstGeom prst="ellipse">
            <a:avLst/>
          </a:prstGeom>
          <a:solidFill>
            <a:srgbClr val="358FCB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400" b="1" smtClean="0">
                <a:solidFill>
                  <a:schemeClr val="bg1"/>
                </a:solidFill>
              </a:rPr>
              <a:t>‹#›</a:t>
            </a:fld>
            <a:endParaRPr lang="id-ID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9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65259" y="6083808"/>
            <a:ext cx="1625159" cy="3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8304" y="6084592"/>
            <a:ext cx="1622114" cy="391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826" y="6280400"/>
            <a:ext cx="1699655" cy="1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1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7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chart" Target="../charts/chart1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火车票 Agent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Agent 最基础的能力，是正确理解用户的问题：该不该由火车来答、属于哪一类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意图识别优化：界定什么属于火车</a:t>
            </a:r>
          </a:p>
        </p:txBody>
      </p:sp>
      <p:sp>
        <p:nvSpPr>
          <p:cNvPr id="6" name="icon-circle"/>
          <p:cNvSpPr/>
          <p:nvPr/>
        </p:nvSpPr>
        <p:spPr>
          <a:xfrm>
            <a:off x="502920" y="2121408"/>
            <a:ext cx="502920" cy="50292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aTriangleExclamati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247138"/>
            <a:ext cx="251460" cy="251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2103120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问题：意图识别存在错误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1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意图识别是最基础的能力，分错了类就会答非所问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提示词存在不足，把不属于该类的 query 纳了进来</a:t>
            </a:r>
          </a:p>
        </p:txBody>
      </p:sp>
      <p:sp>
        <p:nvSpPr>
          <p:cNvPr id="10" name="icon-circle"/>
          <p:cNvSpPr/>
          <p:nvPr/>
        </p:nvSpPr>
        <p:spPr>
          <a:xfrm>
            <a:off x="502920" y="3218687"/>
            <a:ext cx="502920" cy="5029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MagnifyingGla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344418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" y="3200399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方案：以算法业务标签为参照，修订分类框架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47871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抽样 1,000 条线上 query，与算法业务标签逐条比对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针对“算法正确、Agent 错误”的样本，逐类修订分类标准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48132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1481328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拒答治理：界定什么不属于火车</a:t>
            </a:r>
          </a:p>
        </p:txBody>
      </p:sp>
      <p:sp>
        <p:nvSpPr>
          <p:cNvPr id="18" name="icon-circle"/>
          <p:cNvSpPr/>
          <p:nvPr/>
        </p:nvSpPr>
        <p:spPr>
          <a:xfrm>
            <a:off x="6291072" y="2121408"/>
            <a:ext cx="502920" cy="50292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aTriangleExclamati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02" y="2247138"/>
            <a:ext cx="251460" cy="2514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76872" y="2103120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问题：火车 Agent 拒答率偏高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450591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约一半问题被拒答，其中部分是被错误分发的非火车问题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这类问题在火车 Agent 内无法回答，只能从上游分发解决</a:t>
            </a:r>
          </a:p>
        </p:txBody>
      </p:sp>
      <p:sp>
        <p:nvSpPr>
          <p:cNvPr id="22" name="icon-circle"/>
          <p:cNvSpPr/>
          <p:nvPr/>
        </p:nvSpPr>
        <p:spPr>
          <a:xfrm>
            <a:off x="6291072" y="3218687"/>
            <a:ext cx="502920" cy="5029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Fil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802" y="3344418"/>
            <a:ext cx="251460" cy="2514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76872" y="3200399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方案：推进能力覆盖的同时，优先治理错误分发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547871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人工核查 1,000 多条拒答 query，整理火车问题的边界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推动问道调整分发，非火车问题交由其他 Agent 回答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434340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19672" y="4434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意图识别准确率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39" y="480060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94.6% → 98%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48737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09160" y="487375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lift +3.59%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正文完播率（对比问道兜底）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39" y="53492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57% → 60.7%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542239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709160" y="542239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lift +7.7%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4754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错误分发导致的拒答占比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5029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10.7% → 4.9%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9672" y="55595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19672" y="555955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lift −54.2%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44348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逐日占比　</a:t>
            </a:r>
            <a:r>
              <a:rPr sz="10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8.10 问道调整分发</a:t>
            </a:r>
          </a:p>
        </p:txBody>
      </p:sp>
      <p:graphicFrame>
        <p:nvGraphicFramePr>
          <p:cNvPr id="41" name="错分拒答占比逐日"/>
          <p:cNvGraphicFramePr>
            <a:graphicFrameLocks noGrp="1"/>
          </p:cNvGraphicFramePr>
          <p:nvPr/>
        </p:nvGraphicFramePr>
        <p:xfrm>
          <a:off x="8851392" y="4663440"/>
          <a:ext cx="2788920" cy="1371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780264" y="58247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8.7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0080" y="58247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8.10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62799" y="58247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8.20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8824" y="4834573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10.7%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71359" y="52017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4.9%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04400" y="4919472"/>
            <a:ext cx="0" cy="868680"/>
          </a:xfrm>
          <a:prstGeom prst="line">
            <a:avLst/>
          </a:prstGeom>
          <a:ln w="12700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214</Words>
  <Application>Microsoft Office PowerPoint</Application>
  <PresentationFormat>宽屏</PresentationFormat>
  <Paragraphs>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华文细黑</vt:lpstr>
      <vt:lpstr>微软雅黑</vt:lpstr>
      <vt:lpstr>Arial</vt:lpstr>
      <vt:lpstr>Raleway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lym刘怡鸣</dc:creator>
  <cp:lastModifiedBy>Julia Tian （田颖）</cp:lastModifiedBy>
  <cp:revision>295</cp:revision>
  <dcterms:created xsi:type="dcterms:W3CDTF">2019-08-14T08:41:25Z</dcterms:created>
  <dcterms:modified xsi:type="dcterms:W3CDTF">2022-08-09T06:50:14Z</dcterms:modified>
</cp:coreProperties>
</file>