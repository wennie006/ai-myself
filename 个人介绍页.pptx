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5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m刘怡鸣" initials="l" lastIdx="1" clrIdx="0">
    <p:extLst>
      <p:ext uri="{19B8F6BF-5375-455C-9EA6-DF929625EA0E}">
        <p15:presenceInfo xmlns:p15="http://schemas.microsoft.com/office/powerpoint/2012/main" userId="lym刘怡鸣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6A6A6"/>
    <a:srgbClr val="28CE83"/>
    <a:srgbClr val="1BB178"/>
    <a:srgbClr val="43BB8D"/>
    <a:srgbClr val="2A69A2"/>
    <a:srgbClr val="D6E1F1"/>
    <a:srgbClr val="9DC3E6"/>
    <a:srgbClr val="70AD47"/>
    <a:srgbClr val="00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1" autoAdjust="0"/>
    <p:restoredTop sz="92279" autoAdjust="0"/>
  </p:normalViewPr>
  <p:slideViewPr>
    <p:cSldViewPr snapToGrid="0">
      <p:cViewPr varScale="1">
        <p:scale>
          <a:sx n="106" d="100"/>
          <a:sy n="106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D70F8-A809-479A-B4E7-7CD7FBA21D45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A5A24-1C80-4826-8331-A30A6CC3A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7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罗蕴文，目前就读于复旦大学外国哲学专业，预计明年六月毕业。大家可能会好奇，为什么会从哲学转来做产品。对我来说，哲学训练留下的最大习惯，就是做事之前先把概念拆清楚、把问题的边界想清楚。</a:t>
            </a:r>
          </a:p>
          <a:p/>
          <a:p>
            <a:r>
              <a:t>在携程实习之前，我在小红书有一段产品实习，主要负责大模型“点点”在幽默语境下的评测和优化。我把这段工作总结为两件事：拓展模型的能力边界，限制模型的行为边界。这段实习让我对 AI 有了初步的理解，也锻炼了我使用各类 AI 平台、本地部署和调试 AI 工具的能力。</a:t>
            </a:r>
          </a:p>
          <a:p/>
          <a:p>
            <a:r>
              <a:t>今年 4 月底，我加入了携程火车票团队，工作围绕 AI 和抢票两条主线展开。这是我对 AI + 业务的一次深度尝试：从 AI native 产品的调优，转向在业务里用 AI 赋能，这是两种差异很大的思维方式。在抢票业务里，我也沉淀了一套可复用的方法论。</a:t>
            </a:r>
          </a:p>
          <a:p/>
          <a:p>
            <a:r>
              <a:t>接下来，我从这两条主线展开，介绍这段时间的工作成果和个人思考。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9900" y="555951"/>
            <a:ext cx="2010530" cy="4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48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6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11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03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7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37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6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1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3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0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34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943633" y="1565211"/>
            <a:ext cx="8733041" cy="6614959"/>
            <a:chOff x="3943629" y="1765230"/>
            <a:chExt cx="8733041" cy="6614959"/>
          </a:xfrm>
        </p:grpSpPr>
        <p:sp>
          <p:nvSpPr>
            <p:cNvPr id="8" name="Donut 7"/>
            <p:cNvSpPr/>
            <p:nvPr userDrawn="1"/>
          </p:nvSpPr>
          <p:spPr>
            <a:xfrm rot="6104502">
              <a:off x="10513894" y="4182360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9" name="Donut 8"/>
            <p:cNvSpPr/>
            <p:nvPr userDrawn="1"/>
          </p:nvSpPr>
          <p:spPr>
            <a:xfrm rot="6104502">
              <a:off x="11635129" y="323203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0" name="Donut 9"/>
            <p:cNvSpPr/>
            <p:nvPr userDrawn="1"/>
          </p:nvSpPr>
          <p:spPr>
            <a:xfrm rot="6104502">
              <a:off x="4885213" y="5754088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1" name="Donut 10"/>
            <p:cNvSpPr/>
            <p:nvPr userDrawn="1"/>
          </p:nvSpPr>
          <p:spPr>
            <a:xfrm rot="6104502">
              <a:off x="9890317" y="632831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2" name="Donut 11"/>
            <p:cNvSpPr/>
            <p:nvPr userDrawn="1"/>
          </p:nvSpPr>
          <p:spPr>
            <a:xfrm rot="6104502">
              <a:off x="11280398" y="277344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 userDrawn="1"/>
          </p:nvSpPr>
          <p:spPr>
            <a:xfrm rot="6104502">
              <a:off x="11255956" y="4096902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4" name="Oval 13"/>
            <p:cNvSpPr/>
            <p:nvPr userDrawn="1"/>
          </p:nvSpPr>
          <p:spPr>
            <a:xfrm rot="6104502">
              <a:off x="10988857" y="3411415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5" name="Donut 14"/>
            <p:cNvSpPr/>
            <p:nvPr userDrawn="1"/>
          </p:nvSpPr>
          <p:spPr>
            <a:xfrm rot="20504502">
              <a:off x="8157576" y="4967821"/>
              <a:ext cx="1778283" cy="1778283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42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6" name="Donut 15"/>
            <p:cNvSpPr/>
            <p:nvPr userDrawn="1"/>
          </p:nvSpPr>
          <p:spPr>
            <a:xfrm rot="20504502">
              <a:off x="5967631" y="5517505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 userDrawn="1"/>
          </p:nvSpPr>
          <p:spPr>
            <a:xfrm rot="20504502">
              <a:off x="7106071" y="6040256"/>
              <a:ext cx="688490" cy="688490"/>
            </a:xfrm>
            <a:prstGeom prst="ellipse">
              <a:avLst/>
            </a:prstGeom>
            <a:solidFill>
              <a:schemeClr val="bg1">
                <a:lumMod val="95000"/>
                <a:alpha val="39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8" name="Oval 17"/>
            <p:cNvSpPr/>
            <p:nvPr userDrawn="1"/>
          </p:nvSpPr>
          <p:spPr>
            <a:xfrm rot="20504502">
              <a:off x="8828367" y="4697538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9" name="Donut 18"/>
            <p:cNvSpPr/>
            <p:nvPr userDrawn="1"/>
          </p:nvSpPr>
          <p:spPr>
            <a:xfrm rot="20504502">
              <a:off x="7272388" y="5137491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0" name="Donut 19"/>
            <p:cNvSpPr/>
            <p:nvPr userDrawn="1"/>
          </p:nvSpPr>
          <p:spPr>
            <a:xfrm rot="20504502">
              <a:off x="9359434" y="559670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1" name="Donut 20"/>
            <p:cNvSpPr/>
            <p:nvPr userDrawn="1"/>
          </p:nvSpPr>
          <p:spPr>
            <a:xfrm rot="20504502">
              <a:off x="9482547" y="465955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2" name="Donut 21"/>
            <p:cNvSpPr/>
            <p:nvPr userDrawn="1"/>
          </p:nvSpPr>
          <p:spPr>
            <a:xfrm rot="20504502">
              <a:off x="11146308" y="586877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3" name="Oval 22"/>
            <p:cNvSpPr/>
            <p:nvPr userDrawn="1"/>
          </p:nvSpPr>
          <p:spPr>
            <a:xfrm rot="20504502">
              <a:off x="7238767" y="5017013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4" name="Oval 23"/>
            <p:cNvSpPr/>
            <p:nvPr userDrawn="1"/>
          </p:nvSpPr>
          <p:spPr>
            <a:xfrm rot="20504502">
              <a:off x="3943629" y="613031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5" name="Oval 24"/>
            <p:cNvSpPr/>
            <p:nvPr userDrawn="1"/>
          </p:nvSpPr>
          <p:spPr>
            <a:xfrm rot="20504502">
              <a:off x="6479821" y="5990866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6" name="Oval 25"/>
            <p:cNvSpPr/>
            <p:nvPr userDrawn="1"/>
          </p:nvSpPr>
          <p:spPr>
            <a:xfrm rot="20504502">
              <a:off x="9327833" y="4273371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7" name="Donut 26"/>
            <p:cNvSpPr/>
            <p:nvPr userDrawn="1"/>
          </p:nvSpPr>
          <p:spPr>
            <a:xfrm rot="10604502">
              <a:off x="10421842" y="5527974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8" name="Donut 27"/>
            <p:cNvSpPr/>
            <p:nvPr userDrawn="1"/>
          </p:nvSpPr>
          <p:spPr>
            <a:xfrm rot="10604502">
              <a:off x="11502978" y="193534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 userDrawn="1"/>
          </p:nvSpPr>
          <p:spPr>
            <a:xfrm rot="10604502">
              <a:off x="11886320" y="1765230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0" name="Donut 29"/>
            <p:cNvSpPr/>
            <p:nvPr userDrawn="1"/>
          </p:nvSpPr>
          <p:spPr>
            <a:xfrm rot="10604502">
              <a:off x="9874667" y="3536070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 userDrawn="1"/>
          </p:nvSpPr>
          <p:spPr>
            <a:xfrm rot="10604502">
              <a:off x="10759809" y="3214182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 userDrawn="1"/>
          </p:nvSpPr>
          <p:spPr>
            <a:xfrm rot="10604502">
              <a:off x="4248675" y="623112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 userDrawn="1"/>
          </p:nvSpPr>
          <p:spPr>
            <a:xfrm rot="10604502">
              <a:off x="11516462" y="3055947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4" name="Oval 33"/>
            <p:cNvSpPr/>
            <p:nvPr userDrawn="1"/>
          </p:nvSpPr>
          <p:spPr>
            <a:xfrm rot="10604502">
              <a:off x="8086333" y="608290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5" name="Oval 34"/>
            <p:cNvSpPr/>
            <p:nvPr userDrawn="1"/>
          </p:nvSpPr>
          <p:spPr>
            <a:xfrm rot="10604502">
              <a:off x="4659440" y="5686338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276313" y="6502736"/>
            <a:ext cx="731511" cy="276999"/>
            <a:chOff x="404977" y="6383122"/>
            <a:chExt cx="731513" cy="276999"/>
          </a:xfrm>
        </p:grpSpPr>
        <p:sp>
          <p:nvSpPr>
            <p:cNvPr id="43" name="TextBox 42"/>
            <p:cNvSpPr txBox="1"/>
            <p:nvPr/>
          </p:nvSpPr>
          <p:spPr>
            <a:xfrm>
              <a:off x="512343" y="6383122"/>
              <a:ext cx="624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200" dirty="0" smtClean="0">
                  <a:solidFill>
                    <a:schemeClr val="bg1">
                      <a:lumMod val="50000"/>
                    </a:schemeClr>
                  </a:solidFill>
                  <a:latin typeface="Raleway" panose="020B0003030101060003" pitchFamily="34" charset="0"/>
                </a:rPr>
                <a:t>MOST</a:t>
              </a:r>
              <a:endParaRPr lang="id-ID" sz="1200" dirty="0">
                <a:solidFill>
                  <a:schemeClr val="bg1">
                    <a:lumMod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404977" y="6417778"/>
              <a:ext cx="181253" cy="189215"/>
              <a:chOff x="4573232" y="2256703"/>
              <a:chExt cx="838558" cy="875393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4573232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4821694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697463" y="2256703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</p:grpSp>
      </p:grpSp>
      <p:grpSp>
        <p:nvGrpSpPr>
          <p:cNvPr id="55" name="Group 54"/>
          <p:cNvGrpSpPr/>
          <p:nvPr userDrawn="1"/>
        </p:nvGrpSpPr>
        <p:grpSpPr>
          <a:xfrm>
            <a:off x="11807070" y="6559227"/>
            <a:ext cx="214313" cy="220663"/>
            <a:chOff x="7015550" y="2614882"/>
            <a:chExt cx="214313" cy="220663"/>
          </a:xfrm>
          <a:solidFill>
            <a:srgbClr val="358FCB"/>
          </a:solidFill>
        </p:grpSpPr>
        <p:sp>
          <p:nvSpPr>
            <p:cNvPr id="49" name="Freeform 5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7015550" y="2614882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0" name="Freeform 6">
              <a:hlinkClick r:id="" action="ppaction://hlinkshowjump?jump=nextslide"/>
            </p:cNvPr>
            <p:cNvSpPr/>
            <p:nvPr userDrawn="1"/>
          </p:nvSpPr>
          <p:spPr bwMode="auto">
            <a:xfrm>
              <a:off x="7091750" y="2657745"/>
              <a:ext cx="76200" cy="131763"/>
            </a:xfrm>
            <a:custGeom>
              <a:avLst/>
              <a:gdLst>
                <a:gd name="T0" fmla="*/ 0 w 48"/>
                <a:gd name="T1" fmla="*/ 70 h 83"/>
                <a:gd name="T2" fmla="*/ 34 w 48"/>
                <a:gd name="T3" fmla="*/ 40 h 83"/>
                <a:gd name="T4" fmla="*/ 0 w 48"/>
                <a:gd name="T5" fmla="*/ 13 h 83"/>
                <a:gd name="T6" fmla="*/ 0 w 48"/>
                <a:gd name="T7" fmla="*/ 0 h 83"/>
                <a:gd name="T8" fmla="*/ 48 w 48"/>
                <a:gd name="T9" fmla="*/ 40 h 83"/>
                <a:gd name="T10" fmla="*/ 0 w 48"/>
                <a:gd name="T11" fmla="*/ 83 h 83"/>
                <a:gd name="T12" fmla="*/ 0 w 48"/>
                <a:gd name="T13" fmla="*/ 7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3">
                  <a:moveTo>
                    <a:pt x="0" y="70"/>
                  </a:moveTo>
                  <a:lnTo>
                    <a:pt x="34" y="40"/>
                  </a:lnTo>
                  <a:lnTo>
                    <a:pt x="0" y="13"/>
                  </a:lnTo>
                  <a:lnTo>
                    <a:pt x="0" y="0"/>
                  </a:lnTo>
                  <a:lnTo>
                    <a:pt x="48" y="40"/>
                  </a:lnTo>
                  <a:lnTo>
                    <a:pt x="0" y="83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grpSp>
        <p:nvGrpSpPr>
          <p:cNvPr id="56" name="Group 55"/>
          <p:cNvGrpSpPr/>
          <p:nvPr userDrawn="1"/>
        </p:nvGrpSpPr>
        <p:grpSpPr>
          <a:xfrm>
            <a:off x="11370388" y="6559227"/>
            <a:ext cx="214313" cy="220663"/>
            <a:chOff x="7395183" y="3832633"/>
            <a:chExt cx="214313" cy="220663"/>
          </a:xfrm>
          <a:solidFill>
            <a:srgbClr val="358FCB"/>
          </a:solidFill>
        </p:grpSpPr>
        <p:sp>
          <p:nvSpPr>
            <p:cNvPr id="51" name="Freeform 7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7395183" y="3832633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2" name="Freeform 8">
              <a:hlinkClick r:id="" action="ppaction://hlinkshowjump?jump=previousslide"/>
            </p:cNvPr>
            <p:cNvSpPr/>
            <p:nvPr userDrawn="1"/>
          </p:nvSpPr>
          <p:spPr bwMode="auto">
            <a:xfrm>
              <a:off x="7457096" y="3880258"/>
              <a:ext cx="76200" cy="130175"/>
            </a:xfrm>
            <a:custGeom>
              <a:avLst/>
              <a:gdLst>
                <a:gd name="T0" fmla="*/ 48 w 48"/>
                <a:gd name="T1" fmla="*/ 12 h 82"/>
                <a:gd name="T2" fmla="*/ 14 w 48"/>
                <a:gd name="T3" fmla="*/ 42 h 82"/>
                <a:gd name="T4" fmla="*/ 48 w 48"/>
                <a:gd name="T5" fmla="*/ 70 h 82"/>
                <a:gd name="T6" fmla="*/ 48 w 48"/>
                <a:gd name="T7" fmla="*/ 82 h 82"/>
                <a:gd name="T8" fmla="*/ 0 w 48"/>
                <a:gd name="T9" fmla="*/ 42 h 82"/>
                <a:gd name="T10" fmla="*/ 48 w 48"/>
                <a:gd name="T11" fmla="*/ 0 h 82"/>
                <a:gd name="T12" fmla="*/ 48 w 48"/>
                <a:gd name="T13" fmla="*/ 1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2">
                  <a:moveTo>
                    <a:pt x="48" y="12"/>
                  </a:moveTo>
                  <a:lnTo>
                    <a:pt x="14" y="42"/>
                  </a:lnTo>
                  <a:lnTo>
                    <a:pt x="48" y="70"/>
                  </a:lnTo>
                  <a:lnTo>
                    <a:pt x="48" y="82"/>
                  </a:lnTo>
                  <a:lnTo>
                    <a:pt x="0" y="42"/>
                  </a:lnTo>
                  <a:lnTo>
                    <a:pt x="48" y="0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sp>
        <p:nvSpPr>
          <p:cNvPr id="57" name="Rectangle 56"/>
          <p:cNvSpPr/>
          <p:nvPr userDrawn="1"/>
        </p:nvSpPr>
        <p:spPr>
          <a:xfrm>
            <a:off x="3102781" y="6383339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© 2020 </a:t>
            </a:r>
            <a:r>
              <a:rPr lang="en-US" sz="9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Companyname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id-ID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PowerPoint</a:t>
            </a:r>
            <a:r>
              <a:rPr lang="id-ID" sz="900" baseline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Business 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Theme. All Rights Reserved. </a:t>
            </a:r>
            <a:endParaRPr lang="id-ID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 rot="16200000">
            <a:off x="504088" y="768356"/>
            <a:ext cx="383327" cy="67506"/>
            <a:chOff x="2013527" y="1616364"/>
            <a:chExt cx="576928" cy="101600"/>
          </a:xfrm>
        </p:grpSpPr>
        <p:sp>
          <p:nvSpPr>
            <p:cNvPr id="6" name="Oval 5"/>
            <p:cNvSpPr/>
            <p:nvPr userDrawn="1"/>
          </p:nvSpPr>
          <p:spPr>
            <a:xfrm>
              <a:off x="2013527" y="1616364"/>
              <a:ext cx="101600" cy="101600"/>
            </a:xfrm>
            <a:prstGeom prst="ellipse">
              <a:avLst/>
            </a:prstGeom>
            <a:solidFill>
              <a:srgbClr val="358FC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3" name="Oval 52"/>
            <p:cNvSpPr/>
            <p:nvPr userDrawn="1"/>
          </p:nvSpPr>
          <p:spPr>
            <a:xfrm>
              <a:off x="2132359" y="1616364"/>
              <a:ext cx="101600" cy="101600"/>
            </a:xfrm>
            <a:prstGeom prst="ellipse">
              <a:avLst/>
            </a:prstGeom>
            <a:solidFill>
              <a:srgbClr val="358FC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1" name="Oval 60"/>
            <p:cNvSpPr/>
            <p:nvPr userDrawn="1"/>
          </p:nvSpPr>
          <p:spPr>
            <a:xfrm>
              <a:off x="2251191" y="1616364"/>
              <a:ext cx="101600" cy="101600"/>
            </a:xfrm>
            <a:prstGeom prst="ellipse">
              <a:avLst/>
            </a:prstGeom>
            <a:solidFill>
              <a:srgbClr val="358FC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2" name="Oval 61"/>
            <p:cNvSpPr/>
            <p:nvPr userDrawn="1"/>
          </p:nvSpPr>
          <p:spPr>
            <a:xfrm>
              <a:off x="2370023" y="1616364"/>
              <a:ext cx="101600" cy="101600"/>
            </a:xfrm>
            <a:prstGeom prst="ellipse">
              <a:avLst/>
            </a:prstGeom>
            <a:solidFill>
              <a:srgbClr val="358FC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3" name="Oval 62"/>
            <p:cNvSpPr/>
            <p:nvPr userDrawn="1"/>
          </p:nvSpPr>
          <p:spPr>
            <a:xfrm>
              <a:off x="2488855" y="1616364"/>
              <a:ext cx="101600" cy="101600"/>
            </a:xfrm>
            <a:prstGeom prst="ellipse">
              <a:avLst/>
            </a:prstGeom>
            <a:solidFill>
              <a:srgbClr val="358F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4" name="Oval 53"/>
          <p:cNvSpPr/>
          <p:nvPr userDrawn="1"/>
        </p:nvSpPr>
        <p:spPr>
          <a:xfrm>
            <a:off x="11672882" y="-148007"/>
            <a:ext cx="655570" cy="655569"/>
          </a:xfrm>
          <a:prstGeom prst="ellipse">
            <a:avLst/>
          </a:prstGeom>
          <a:solidFill>
            <a:srgbClr val="358FCB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4B5E3D8-B559-49FC-84E7-900B409E63B2}" type="slidenum">
              <a:rPr lang="id-ID" sz="1400" b="1" smtClean="0">
                <a:solidFill>
                  <a:schemeClr val="bg1"/>
                </a:solidFill>
              </a:rPr>
              <a:t>‹#›</a:t>
            </a:fld>
            <a:endParaRPr lang="id-ID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7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7" grpId="1"/>
      <p:bldP spid="57" grpId="2"/>
      <p:bldP spid="57" grpId="3"/>
      <p:bldP spid="57" grpId="4"/>
      <p:bldP spid="57" grpId="5"/>
      <p:bldP spid="57" grpId="6"/>
      <p:bldP spid="57" grpId="7"/>
      <p:bldP spid="57" grpId="8"/>
      <p:bldP spid="57" grpId="9"/>
      <p:bldP spid="57" grpId="10"/>
      <p:bldP spid="57" grpId="11"/>
      <p:bldP spid="57" grpId="12"/>
      <p:bldP spid="57" grpId="13"/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9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165259" y="6083808"/>
            <a:ext cx="1625159" cy="3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0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8304" y="6084592"/>
            <a:ext cx="1622114" cy="3916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826" y="6280400"/>
            <a:ext cx="1699655" cy="1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81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57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1、个人介绍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哲学训练留下的习惯：做事之前，先把概念拆清楚、把边界想清楚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2926080" cy="4599432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罗蕴文</a:t>
            </a:r>
          </a:p>
        </p:txBody>
      </p:sp>
      <p:pic>
        <p:nvPicPr>
          <p:cNvPr id="6" name="Picture 5" descr="FaGraduationCap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68296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2331720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复旦大学 外国哲学硕士</a:t>
            </a:r>
          </a:p>
        </p:txBody>
      </p:sp>
      <p:pic>
        <p:nvPicPr>
          <p:cNvPr id="8" name="Picture 7" descr="FaCalendar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807208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2770632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2027 年 6 月毕业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310128"/>
            <a:ext cx="2377440" cy="0"/>
          </a:xfrm>
          <a:prstGeom prst="line">
            <a:avLst/>
          </a:prstGeom>
          <a:ln w="12700">
            <a:solidFill>
              <a:srgbClr val="D3E2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42900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实习经历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7" y="3886200"/>
            <a:ext cx="0" cy="1371600"/>
          </a:xfrm>
          <a:prstGeom prst="line">
            <a:avLst/>
          </a:prstGeom>
          <a:ln w="19050">
            <a:solidFill>
              <a:srgbClr val="D3E2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68096" y="3831336"/>
            <a:ext cx="146304" cy="146304"/>
          </a:xfrm>
          <a:prstGeom prst="ellipse">
            <a:avLst/>
          </a:prstGeom>
          <a:solidFill>
            <a:srgbClr val="7A8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376732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小红书 · 产品经理实习生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416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2025.7 – 2025.9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297680"/>
            <a:ext cx="22677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大模型“点点”幽默语境评测与优化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可复用 Workflow 搭建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" y="5148072"/>
            <a:ext cx="146304" cy="146304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508406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携程 · 产品经理实习生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35838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2026.4 – 至今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561441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火车票 Agent · 抢票业务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481328"/>
            <a:ext cx="3412776" cy="384048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63440" y="1481328"/>
            <a:ext cx="3412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第一阶段：火车票 AI</a:t>
            </a:r>
          </a:p>
        </p:txBody>
      </p:sp>
      <p:sp>
        <p:nvSpPr>
          <p:cNvPr id="23" name="Pentagon 22"/>
          <p:cNvSpPr/>
          <p:nvPr/>
        </p:nvSpPr>
        <p:spPr>
          <a:xfrm>
            <a:off x="7498079" y="1481328"/>
            <a:ext cx="4251960" cy="384048"/>
          </a:xfrm>
          <a:prstGeom prst="homePlat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98079" y="148132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第二阶段：抢票业务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63440" y="2240280"/>
            <a:ext cx="7040880" cy="0"/>
          </a:xfrm>
          <a:prstGeom prst="line">
            <a:avLst/>
          </a:prstGeom>
          <a:ln w="15875">
            <a:solidFill>
              <a:srgbClr val="287D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096511" y="212140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4月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4663440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26280" y="1938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5月</a:t>
            </a:r>
          </a:p>
        </p:txBody>
      </p:sp>
      <p:sp>
        <p:nvSpPr>
          <p:cNvPr id="30" name="Oval 29"/>
          <p:cNvSpPr/>
          <p:nvPr/>
        </p:nvSpPr>
        <p:spPr>
          <a:xfrm>
            <a:off x="4800600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1" name="Connector 30"/>
          <p:cNvCxnSpPr/>
          <p:nvPr/>
        </p:nvCxnSpPr>
        <p:spPr>
          <a:xfrm>
            <a:off x="4846320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94960" y="1938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6月</a:t>
            </a:r>
          </a:p>
        </p:txBody>
      </p:sp>
      <p:sp>
        <p:nvSpPr>
          <p:cNvPr id="33" name="Oval 32"/>
          <p:cNvSpPr/>
          <p:nvPr/>
        </p:nvSpPr>
        <p:spPr>
          <a:xfrm>
            <a:off x="5669280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5715000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63640" y="1938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7月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7" name="Connector 36"/>
          <p:cNvCxnSpPr/>
          <p:nvPr/>
        </p:nvCxnSpPr>
        <p:spPr>
          <a:xfrm>
            <a:off x="6583680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78040" y="1938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8月</a:t>
            </a:r>
          </a:p>
        </p:txBody>
      </p:sp>
      <p:sp>
        <p:nvSpPr>
          <p:cNvPr id="39" name="Oval 38"/>
          <p:cNvSpPr/>
          <p:nvPr/>
        </p:nvSpPr>
        <p:spPr>
          <a:xfrm>
            <a:off x="7452359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0" name="Connector 39"/>
          <p:cNvCxnSpPr/>
          <p:nvPr/>
        </p:nvCxnSpPr>
        <p:spPr>
          <a:xfrm>
            <a:off x="7498079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58200" y="1938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9月</a:t>
            </a:r>
          </a:p>
        </p:txBody>
      </p:sp>
      <p:sp>
        <p:nvSpPr>
          <p:cNvPr id="42" name="Oval 41"/>
          <p:cNvSpPr/>
          <p:nvPr/>
        </p:nvSpPr>
        <p:spPr>
          <a:xfrm>
            <a:off x="8732519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3" name="Connector 42"/>
          <p:cNvCxnSpPr/>
          <p:nvPr/>
        </p:nvCxnSpPr>
        <p:spPr>
          <a:xfrm>
            <a:off x="8778240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738360" y="1938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10月</a:t>
            </a:r>
          </a:p>
        </p:txBody>
      </p:sp>
      <p:sp>
        <p:nvSpPr>
          <p:cNvPr id="45" name="Oval 44"/>
          <p:cNvSpPr/>
          <p:nvPr/>
        </p:nvSpPr>
        <p:spPr>
          <a:xfrm>
            <a:off x="10012680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6" name="Connector 45"/>
          <p:cNvCxnSpPr/>
          <p:nvPr/>
        </p:nvCxnSpPr>
        <p:spPr>
          <a:xfrm>
            <a:off x="10058400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155680" y="1938528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11月</a:t>
            </a:r>
          </a:p>
        </p:txBody>
      </p:sp>
      <p:sp>
        <p:nvSpPr>
          <p:cNvPr id="48" name="Oval 47"/>
          <p:cNvSpPr/>
          <p:nvPr/>
        </p:nvSpPr>
        <p:spPr>
          <a:xfrm>
            <a:off x="11430000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9" name="Connector 48"/>
          <p:cNvCxnSpPr/>
          <p:nvPr/>
        </p:nvCxnSpPr>
        <p:spPr>
          <a:xfrm>
            <a:off x="11475720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547872" y="2432304"/>
            <a:ext cx="1005840" cy="941831"/>
          </a:xfrm>
          <a:prstGeom prst="roundRect">
            <a:avLst>
              <a:gd name="adj" fmla="val 12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547872" y="2432304"/>
            <a:ext cx="1005840" cy="9418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火车票</a:t>
            </a:r>
          </a:p>
          <a:p>
            <a:pPr algn="ctr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440" y="2432304"/>
            <a:ext cx="795528" cy="265176"/>
          </a:xfrm>
          <a:prstGeom prst="roundRect">
            <a:avLst>
              <a:gd name="adj" fmla="val 30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663440" y="2432304"/>
            <a:ext cx="7955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竞品分析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0" y="2770632"/>
            <a:ext cx="1810511" cy="265176"/>
          </a:xfrm>
          <a:prstGeom prst="roundRect">
            <a:avLst>
              <a:gd name="adj" fmla="val 30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846320" y="2770632"/>
            <a:ext cx="181051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1.0 意图识别优化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0" y="3108960"/>
            <a:ext cx="2235707" cy="265176"/>
          </a:xfrm>
          <a:prstGeom prst="roundRect">
            <a:avLst>
              <a:gd name="adj" fmla="val 30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583680" y="3108960"/>
            <a:ext cx="223570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2.0 拒答治理与数据回收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47872" y="3611880"/>
            <a:ext cx="1005840" cy="2295144"/>
          </a:xfrm>
          <a:prstGeom prst="roundRect">
            <a:avLst>
              <a:gd name="adj" fmla="val 12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547872" y="3611880"/>
            <a:ext cx="1005840" cy="2295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抢票需求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026131" y="3611880"/>
            <a:ext cx="1837452" cy="265176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026131" y="3611880"/>
            <a:ext cx="18374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支付失败小场景修复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98079" y="3950208"/>
            <a:ext cx="2354579" cy="265176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98079" y="3950208"/>
            <a:ext cx="235457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智能第二程接直付与直付标记修复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04557" y="4288536"/>
            <a:ext cx="2673882" cy="265176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704557" y="4288536"/>
            <a:ext cx="267388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双节活动日历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58807" y="4626864"/>
            <a:ext cx="1856920" cy="265176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158807" y="4626864"/>
            <a:ext cx="18569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默认截止时间设置优化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62288" y="4965192"/>
            <a:ext cx="1490472" cy="265176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162288" y="4965192"/>
            <a:ext cx="14904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支付流程补足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332976" y="5303520"/>
            <a:ext cx="1362456" cy="265176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332976" y="5303520"/>
            <a:ext cx="136245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在线换座体验优化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98480" y="5641848"/>
            <a:ext cx="1014983" cy="265176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0698480" y="5641848"/>
            <a:ext cx="1014983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微信直付 V1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24346</TotalTime>
  <Words>214</Words>
  <Application>Microsoft Office PowerPoint</Application>
  <PresentationFormat>宽屏</PresentationFormat>
  <Paragraphs>33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华文细黑</vt:lpstr>
      <vt:lpstr>微软雅黑</vt:lpstr>
      <vt:lpstr>Arial</vt:lpstr>
      <vt:lpstr>Raleway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lym刘怡鸣</dc:creator>
  <cp:lastModifiedBy>Julia Tian （田颖）</cp:lastModifiedBy>
  <cp:revision>295</cp:revision>
  <dcterms:created xsi:type="dcterms:W3CDTF">2019-08-14T08:41:25Z</dcterms:created>
  <dcterms:modified xsi:type="dcterms:W3CDTF">2022-08-09T06:50:14Z</dcterms:modified>
</cp:coreProperties>
</file>