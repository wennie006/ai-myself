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358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ym刘怡鸣" initials="l" lastIdx="1" clrIdx="0">
    <p:extLst>
      <p:ext uri="{19B8F6BF-5375-455C-9EA6-DF929625EA0E}">
        <p15:presenceInfo xmlns:p15="http://schemas.microsoft.com/office/powerpoint/2012/main" userId="lym刘怡鸣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  <a:srgbClr val="A6A6A6"/>
    <a:srgbClr val="28CE83"/>
    <a:srgbClr val="1BB178"/>
    <a:srgbClr val="43BB8D"/>
    <a:srgbClr val="2A69A2"/>
    <a:srgbClr val="D6E1F1"/>
    <a:srgbClr val="9DC3E6"/>
    <a:srgbClr val="70AD47"/>
    <a:srgbClr val="00569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191" autoAdjust="0"/>
    <p:restoredTop sz="92279" autoAdjust="0"/>
  </p:normalViewPr>
  <p:slideViewPr>
    <p:cSldViewPr snapToGrid="0">
      <p:cViewPr varScale="1">
        <p:scale>
          <a:sx n="106" d="100"/>
          <a:sy n="106" d="100"/>
        </p:scale>
        <p:origin x="55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notesMaster" Target="notesMasters/notesMaster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23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5D70F8-A809-479A-B4E7-7CD7FBA21D45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A5A24-1C80-4826-8331-A30A6CC3A2C6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789798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回看这几个月，两条主线给我的收获不太一样。</a:t>
            </a:r>
          </a:p>
          <a:p>
            <a:r>
              <a:t>在火车票 Agent 上，我做的更多是模型侧的质量工作，离业务结果比较远；到了抢票业务，我开始直接对票量负责，也逐渐学会从业务指标倒推要做什么。</a:t>
            </a:r>
          </a:p>
          <a:p>
            <a:r>
              <a:t>这也让我对 AI 产品有了更具体的理解。</a:t>
            </a:r>
          </a:p>
          <a:p>
            <a:r>
              <a:t>在小红书时，模型本身就是产品，衡量的是模型表现得好不好。</a:t>
            </a:r>
          </a:p>
          <a:p>
            <a:r>
              <a:t>到了携程，AI 是服务业务的手段：边界由业务来定，形态要贴合用户的习惯，例如火车agent二期把对话改成直接操作列表页后，这种更符合用户原有行为链路的做法使得票量明显提升；最终衡量的是票量这样的业务结果。</a:t>
            </a:r>
          </a:p>
          <a:p>
            <a:r>
              <a:t>所以相比于AInative的产品，在探索AI+业务的时候，我始终应该先四骄傲业务需要它解决什么、用户习惯怎么用。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tif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tiff"/><Relationship Id="rId3" Type="http://schemas.openxmlformats.org/officeDocument/2006/relationships/image" Target="../media/image5.tif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469900" y="555951"/>
            <a:ext cx="2010530" cy="485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664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0481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3465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5823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11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80341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7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43718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6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97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92334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9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18625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4041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5"/>
          <p:cNvPicPr>
            <a:picLocks noChangeAspect="1"/>
          </p:cNvPicPr>
          <p:nvPr userDrawn="1"/>
        </p:nvPicPr>
        <p:blipFill>
          <a:blip r:embed="rId2" cstate="screen">
            <a:alphaModFix amt="40000"/>
          </a:blip>
          <a:stretch>
            <a:fillRect/>
          </a:stretch>
        </p:blipFill>
        <p:spPr>
          <a:xfrm>
            <a:off x="482601" y="6414870"/>
            <a:ext cx="1676880" cy="122400"/>
          </a:xfrm>
          <a:prstGeom prst="rect">
            <a:avLst/>
          </a:prstGeom>
        </p:spPr>
      </p:pic>
      <p:cxnSp>
        <p:nvCxnSpPr>
          <p:cNvPr id="8" name="Straight Connector 7"/>
          <p:cNvCxnSpPr>
            <a:cxnSpLocks/>
          </p:cNvCxnSpPr>
          <p:nvPr userDrawn="1"/>
        </p:nvCxnSpPr>
        <p:spPr>
          <a:xfrm>
            <a:off x="425551" y="804273"/>
            <a:ext cx="11313731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85348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Blan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 userDrawn="1"/>
        </p:nvGrpSpPr>
        <p:grpSpPr>
          <a:xfrm>
            <a:off x="3943633" y="1565211"/>
            <a:ext cx="8733041" cy="6614959"/>
            <a:chOff x="3943629" y="1765230"/>
            <a:chExt cx="8733041" cy="6614959"/>
          </a:xfrm>
        </p:grpSpPr>
        <p:sp>
          <p:nvSpPr>
            <p:cNvPr id="8" name="Donut 7"/>
            <p:cNvSpPr/>
            <p:nvPr userDrawn="1"/>
          </p:nvSpPr>
          <p:spPr>
            <a:xfrm rot="6104502">
              <a:off x="10513894" y="4182360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9" name="Donut 8"/>
            <p:cNvSpPr/>
            <p:nvPr userDrawn="1"/>
          </p:nvSpPr>
          <p:spPr>
            <a:xfrm rot="6104502">
              <a:off x="11635129" y="323203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0" name="Donut 9"/>
            <p:cNvSpPr/>
            <p:nvPr userDrawn="1"/>
          </p:nvSpPr>
          <p:spPr>
            <a:xfrm rot="6104502">
              <a:off x="4885213" y="5754088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1" name="Donut 10"/>
            <p:cNvSpPr/>
            <p:nvPr userDrawn="1"/>
          </p:nvSpPr>
          <p:spPr>
            <a:xfrm rot="6104502">
              <a:off x="9890317" y="632831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2" name="Donut 11"/>
            <p:cNvSpPr/>
            <p:nvPr userDrawn="1"/>
          </p:nvSpPr>
          <p:spPr>
            <a:xfrm rot="6104502">
              <a:off x="11280398" y="277344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3" name="Oval 12"/>
            <p:cNvSpPr/>
            <p:nvPr userDrawn="1"/>
          </p:nvSpPr>
          <p:spPr>
            <a:xfrm rot="6104502">
              <a:off x="11255956" y="4096902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4" name="Oval 13"/>
            <p:cNvSpPr/>
            <p:nvPr userDrawn="1"/>
          </p:nvSpPr>
          <p:spPr>
            <a:xfrm rot="6104502">
              <a:off x="10988857" y="3411415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5" name="Donut 14"/>
            <p:cNvSpPr/>
            <p:nvPr userDrawn="1"/>
          </p:nvSpPr>
          <p:spPr>
            <a:xfrm rot="20504502">
              <a:off x="8157576" y="4967821"/>
              <a:ext cx="1778283" cy="1778283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42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6" name="Donut 15"/>
            <p:cNvSpPr/>
            <p:nvPr userDrawn="1"/>
          </p:nvSpPr>
          <p:spPr>
            <a:xfrm rot="20504502">
              <a:off x="5967631" y="5517505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17" name="Oval 16"/>
            <p:cNvSpPr/>
            <p:nvPr userDrawn="1"/>
          </p:nvSpPr>
          <p:spPr>
            <a:xfrm rot="20504502">
              <a:off x="7106071" y="6040256"/>
              <a:ext cx="688490" cy="688490"/>
            </a:xfrm>
            <a:prstGeom prst="ellipse">
              <a:avLst/>
            </a:prstGeom>
            <a:solidFill>
              <a:schemeClr val="bg1">
                <a:lumMod val="95000"/>
                <a:alpha val="39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8" name="Oval 17"/>
            <p:cNvSpPr/>
            <p:nvPr userDrawn="1"/>
          </p:nvSpPr>
          <p:spPr>
            <a:xfrm rot="20504502">
              <a:off x="8828367" y="4697538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19" name="Donut 18"/>
            <p:cNvSpPr/>
            <p:nvPr userDrawn="1"/>
          </p:nvSpPr>
          <p:spPr>
            <a:xfrm rot="20504502">
              <a:off x="7272388" y="5137491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0" name="Donut 19"/>
            <p:cNvSpPr/>
            <p:nvPr userDrawn="1"/>
          </p:nvSpPr>
          <p:spPr>
            <a:xfrm rot="20504502">
              <a:off x="9359434" y="5596700"/>
              <a:ext cx="1074806" cy="1074806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1" name="Donut 20"/>
            <p:cNvSpPr/>
            <p:nvPr userDrawn="1"/>
          </p:nvSpPr>
          <p:spPr>
            <a:xfrm rot="20504502">
              <a:off x="9482547" y="4659556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2" name="Donut 21"/>
            <p:cNvSpPr/>
            <p:nvPr userDrawn="1"/>
          </p:nvSpPr>
          <p:spPr>
            <a:xfrm rot="20504502">
              <a:off x="11146308" y="586877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3" name="Oval 22"/>
            <p:cNvSpPr/>
            <p:nvPr userDrawn="1"/>
          </p:nvSpPr>
          <p:spPr>
            <a:xfrm rot="20504502">
              <a:off x="7238767" y="5017013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4" name="Oval 23"/>
            <p:cNvSpPr/>
            <p:nvPr userDrawn="1"/>
          </p:nvSpPr>
          <p:spPr>
            <a:xfrm rot="20504502">
              <a:off x="3943629" y="613031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5" name="Oval 24"/>
            <p:cNvSpPr/>
            <p:nvPr userDrawn="1"/>
          </p:nvSpPr>
          <p:spPr>
            <a:xfrm rot="20504502">
              <a:off x="6479821" y="5990866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6" name="Oval 25"/>
            <p:cNvSpPr/>
            <p:nvPr userDrawn="1"/>
          </p:nvSpPr>
          <p:spPr>
            <a:xfrm rot="20504502">
              <a:off x="9327833" y="4273371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27" name="Donut 26"/>
            <p:cNvSpPr/>
            <p:nvPr userDrawn="1"/>
          </p:nvSpPr>
          <p:spPr>
            <a:xfrm rot="10604502">
              <a:off x="10421842" y="5527974"/>
              <a:ext cx="1327177" cy="1327177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75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8" name="Donut 27"/>
            <p:cNvSpPr/>
            <p:nvPr userDrawn="1"/>
          </p:nvSpPr>
          <p:spPr>
            <a:xfrm rot="10604502">
              <a:off x="11502978" y="1935344"/>
              <a:ext cx="1041541" cy="104154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31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29" name="Oval 28"/>
            <p:cNvSpPr/>
            <p:nvPr userDrawn="1"/>
          </p:nvSpPr>
          <p:spPr>
            <a:xfrm rot="10604502">
              <a:off x="11886320" y="1765230"/>
              <a:ext cx="536090" cy="536090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0" name="Donut 29"/>
            <p:cNvSpPr/>
            <p:nvPr userDrawn="1"/>
          </p:nvSpPr>
          <p:spPr>
            <a:xfrm rot="10604502">
              <a:off x="9874667" y="3536070"/>
              <a:ext cx="2626101" cy="2626101"/>
            </a:xfrm>
            <a:prstGeom prst="donut">
              <a:avLst>
                <a:gd name="adj" fmla="val 15926"/>
              </a:avLst>
            </a:prstGeom>
            <a:solidFill>
              <a:schemeClr val="bg1">
                <a:lumMod val="95000"/>
                <a:alpha val="13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1" name="Donut 30"/>
            <p:cNvSpPr/>
            <p:nvPr userDrawn="1"/>
          </p:nvSpPr>
          <p:spPr>
            <a:xfrm rot="10604502">
              <a:off x="10759809" y="3214182"/>
              <a:ext cx="835345" cy="835345"/>
            </a:xfrm>
            <a:prstGeom prst="donut">
              <a:avLst>
                <a:gd name="adj" fmla="val 11712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2" name="Donut 31"/>
            <p:cNvSpPr/>
            <p:nvPr userDrawn="1"/>
          </p:nvSpPr>
          <p:spPr>
            <a:xfrm rot="10604502">
              <a:off x="4248675" y="6231127"/>
              <a:ext cx="1074806" cy="1074806"/>
            </a:xfrm>
            <a:prstGeom prst="donut">
              <a:avLst>
                <a:gd name="adj" fmla="val 24020"/>
              </a:avLst>
            </a:prstGeom>
            <a:solidFill>
              <a:schemeClr val="bg1">
                <a:lumMod val="95000"/>
                <a:alpha val="54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>
                <a:solidFill>
                  <a:schemeClr val="tx1"/>
                </a:solidFill>
              </a:endParaRPr>
            </a:p>
          </p:txBody>
        </p:sp>
        <p:sp>
          <p:nvSpPr>
            <p:cNvPr id="33" name="Oval 32"/>
            <p:cNvSpPr/>
            <p:nvPr userDrawn="1"/>
          </p:nvSpPr>
          <p:spPr>
            <a:xfrm rot="10604502">
              <a:off x="11516462" y="3055947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4" name="Oval 33"/>
            <p:cNvSpPr/>
            <p:nvPr userDrawn="1"/>
          </p:nvSpPr>
          <p:spPr>
            <a:xfrm rot="10604502">
              <a:off x="8086333" y="6082900"/>
              <a:ext cx="603202" cy="60320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  <p:sp>
          <p:nvSpPr>
            <p:cNvPr id="35" name="Oval 34"/>
            <p:cNvSpPr/>
            <p:nvPr userDrawn="1"/>
          </p:nvSpPr>
          <p:spPr>
            <a:xfrm rot="10604502">
              <a:off x="4659440" y="5686338"/>
              <a:ext cx="312832" cy="312832"/>
            </a:xfrm>
            <a:prstGeom prst="ellipse">
              <a:avLst/>
            </a:prstGeom>
            <a:solidFill>
              <a:schemeClr val="bg1">
                <a:lumMod val="95000"/>
                <a:alpha val="47000"/>
              </a:schemeClr>
            </a:solidFill>
            <a:ln>
              <a:solidFill>
                <a:schemeClr val="bg1">
                  <a:alpha val="7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sz="1800"/>
            </a:p>
          </p:txBody>
        </p:sp>
      </p:grpSp>
      <p:grpSp>
        <p:nvGrpSpPr>
          <p:cNvPr id="42" name="Group 41"/>
          <p:cNvGrpSpPr/>
          <p:nvPr userDrawn="1"/>
        </p:nvGrpSpPr>
        <p:grpSpPr>
          <a:xfrm>
            <a:off x="276313" y="6502736"/>
            <a:ext cx="731511" cy="276999"/>
            <a:chOff x="404977" y="6383122"/>
            <a:chExt cx="731513" cy="276999"/>
          </a:xfrm>
        </p:grpSpPr>
        <p:sp>
          <p:nvSpPr>
            <p:cNvPr id="43" name="TextBox 42"/>
            <p:cNvSpPr txBox="1"/>
            <p:nvPr/>
          </p:nvSpPr>
          <p:spPr>
            <a:xfrm>
              <a:off x="512343" y="6383122"/>
              <a:ext cx="624147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sz="1200" dirty="0" smtClean="0">
                  <a:solidFill>
                    <a:schemeClr val="bg1">
                      <a:lumMod val="50000"/>
                    </a:schemeClr>
                  </a:solidFill>
                  <a:latin typeface="Raleway" panose="020B0003030101060003" pitchFamily="34" charset="0"/>
                </a:rPr>
                <a:t>MOST</a:t>
              </a:r>
              <a:endParaRPr lang="id-ID" sz="1200" dirty="0">
                <a:solidFill>
                  <a:schemeClr val="bg1">
                    <a:lumMod val="50000"/>
                  </a:schemeClr>
                </a:solidFill>
                <a:latin typeface="Raleway" panose="020B0003030101060003" pitchFamily="34" charset="0"/>
              </a:endParaRPr>
            </a:p>
          </p:txBody>
        </p:sp>
        <p:grpSp>
          <p:nvGrpSpPr>
            <p:cNvPr id="44" name="Group 43"/>
            <p:cNvGrpSpPr/>
            <p:nvPr/>
          </p:nvGrpSpPr>
          <p:grpSpPr>
            <a:xfrm>
              <a:off x="404977" y="6417778"/>
              <a:ext cx="181253" cy="189215"/>
              <a:chOff x="4573232" y="2256703"/>
              <a:chExt cx="838558" cy="875393"/>
            </a:xfrm>
          </p:grpSpPr>
          <p:sp>
            <p:nvSpPr>
              <p:cNvPr id="45" name="Oval 44"/>
              <p:cNvSpPr/>
              <p:nvPr/>
            </p:nvSpPr>
            <p:spPr>
              <a:xfrm>
                <a:off x="4573232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6" name="Oval 45"/>
              <p:cNvSpPr/>
              <p:nvPr/>
            </p:nvSpPr>
            <p:spPr>
              <a:xfrm>
                <a:off x="4821694" y="2542000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  <p:sp>
            <p:nvSpPr>
              <p:cNvPr id="47" name="Oval 46"/>
              <p:cNvSpPr/>
              <p:nvPr/>
            </p:nvSpPr>
            <p:spPr>
              <a:xfrm>
                <a:off x="4697463" y="2256703"/>
                <a:ext cx="590096" cy="590096"/>
              </a:xfrm>
              <a:prstGeom prst="ellipse">
                <a:avLst/>
              </a:prstGeom>
              <a:solidFill>
                <a:srgbClr val="358FCB">
                  <a:alpha val="70000"/>
                </a:srgb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d-ID" sz="500"/>
              </a:p>
            </p:txBody>
          </p:sp>
        </p:grpSp>
      </p:grpSp>
      <p:grpSp>
        <p:nvGrpSpPr>
          <p:cNvPr id="55" name="Group 54"/>
          <p:cNvGrpSpPr/>
          <p:nvPr userDrawn="1"/>
        </p:nvGrpSpPr>
        <p:grpSpPr>
          <a:xfrm>
            <a:off x="11807070" y="6559227"/>
            <a:ext cx="214313" cy="220663"/>
            <a:chOff x="7015550" y="2614882"/>
            <a:chExt cx="214313" cy="220663"/>
          </a:xfrm>
          <a:solidFill>
            <a:srgbClr val="358FCB"/>
          </a:solidFill>
        </p:grpSpPr>
        <p:sp>
          <p:nvSpPr>
            <p:cNvPr id="49" name="Freeform 5">
              <a:hlinkClick r:id="" action="ppaction://hlinkshowjump?jump=nextslide"/>
            </p:cNvPr>
            <p:cNvSpPr>
              <a:spLocks noEditPoints="1"/>
            </p:cNvSpPr>
            <p:nvPr userDrawn="1"/>
          </p:nvSpPr>
          <p:spPr bwMode="auto">
            <a:xfrm>
              <a:off x="7015550" y="2614882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0" name="Freeform 6">
              <a:hlinkClick r:id="" action="ppaction://hlinkshowjump?jump=nextslide"/>
            </p:cNvPr>
            <p:cNvSpPr/>
            <p:nvPr userDrawn="1"/>
          </p:nvSpPr>
          <p:spPr bwMode="auto">
            <a:xfrm>
              <a:off x="7091750" y="2657745"/>
              <a:ext cx="76200" cy="131763"/>
            </a:xfrm>
            <a:custGeom>
              <a:avLst/>
              <a:gdLst>
                <a:gd name="T0" fmla="*/ 0 w 48"/>
                <a:gd name="T1" fmla="*/ 70 h 83"/>
                <a:gd name="T2" fmla="*/ 34 w 48"/>
                <a:gd name="T3" fmla="*/ 40 h 83"/>
                <a:gd name="T4" fmla="*/ 0 w 48"/>
                <a:gd name="T5" fmla="*/ 13 h 83"/>
                <a:gd name="T6" fmla="*/ 0 w 48"/>
                <a:gd name="T7" fmla="*/ 0 h 83"/>
                <a:gd name="T8" fmla="*/ 48 w 48"/>
                <a:gd name="T9" fmla="*/ 40 h 83"/>
                <a:gd name="T10" fmla="*/ 0 w 48"/>
                <a:gd name="T11" fmla="*/ 83 h 83"/>
                <a:gd name="T12" fmla="*/ 0 w 48"/>
                <a:gd name="T13" fmla="*/ 70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3">
                  <a:moveTo>
                    <a:pt x="0" y="70"/>
                  </a:moveTo>
                  <a:lnTo>
                    <a:pt x="34" y="40"/>
                  </a:lnTo>
                  <a:lnTo>
                    <a:pt x="0" y="13"/>
                  </a:lnTo>
                  <a:lnTo>
                    <a:pt x="0" y="0"/>
                  </a:lnTo>
                  <a:lnTo>
                    <a:pt x="48" y="40"/>
                  </a:lnTo>
                  <a:lnTo>
                    <a:pt x="0" y="83"/>
                  </a:lnTo>
                  <a:lnTo>
                    <a:pt x="0" y="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grpSp>
        <p:nvGrpSpPr>
          <p:cNvPr id="56" name="Group 55"/>
          <p:cNvGrpSpPr/>
          <p:nvPr userDrawn="1"/>
        </p:nvGrpSpPr>
        <p:grpSpPr>
          <a:xfrm>
            <a:off x="11370388" y="6559227"/>
            <a:ext cx="214313" cy="220663"/>
            <a:chOff x="7395183" y="3832633"/>
            <a:chExt cx="214313" cy="220663"/>
          </a:xfrm>
          <a:solidFill>
            <a:srgbClr val="358FCB"/>
          </a:solidFill>
        </p:grpSpPr>
        <p:sp>
          <p:nvSpPr>
            <p:cNvPr id="51" name="Freeform 7">
              <a:hlinkClick r:id="" action="ppaction://hlinkshowjump?jump=previousslide"/>
            </p:cNvPr>
            <p:cNvSpPr>
              <a:spLocks noEditPoints="1"/>
            </p:cNvSpPr>
            <p:nvPr userDrawn="1"/>
          </p:nvSpPr>
          <p:spPr bwMode="auto">
            <a:xfrm>
              <a:off x="7395183" y="3832633"/>
              <a:ext cx="214313" cy="220663"/>
            </a:xfrm>
            <a:custGeom>
              <a:avLst/>
              <a:gdLst>
                <a:gd name="T0" fmla="*/ 28 w 56"/>
                <a:gd name="T1" fmla="*/ 4 h 56"/>
                <a:gd name="T2" fmla="*/ 52 w 56"/>
                <a:gd name="T3" fmla="*/ 28 h 56"/>
                <a:gd name="T4" fmla="*/ 28 w 56"/>
                <a:gd name="T5" fmla="*/ 52 h 56"/>
                <a:gd name="T6" fmla="*/ 4 w 56"/>
                <a:gd name="T7" fmla="*/ 28 h 56"/>
                <a:gd name="T8" fmla="*/ 28 w 56"/>
                <a:gd name="T9" fmla="*/ 4 h 56"/>
                <a:gd name="T10" fmla="*/ 28 w 56"/>
                <a:gd name="T11" fmla="*/ 0 h 56"/>
                <a:gd name="T12" fmla="*/ 0 w 56"/>
                <a:gd name="T13" fmla="*/ 28 h 56"/>
                <a:gd name="T14" fmla="*/ 28 w 56"/>
                <a:gd name="T15" fmla="*/ 56 h 56"/>
                <a:gd name="T16" fmla="*/ 56 w 56"/>
                <a:gd name="T17" fmla="*/ 28 h 56"/>
                <a:gd name="T18" fmla="*/ 28 w 56"/>
                <a:gd name="T19" fmla="*/ 0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6" h="56">
                  <a:moveTo>
                    <a:pt x="28" y="4"/>
                  </a:moveTo>
                  <a:cubicBezTo>
                    <a:pt x="41" y="4"/>
                    <a:pt x="52" y="15"/>
                    <a:pt x="52" y="28"/>
                  </a:cubicBezTo>
                  <a:cubicBezTo>
                    <a:pt x="52" y="41"/>
                    <a:pt x="41" y="52"/>
                    <a:pt x="28" y="52"/>
                  </a:cubicBezTo>
                  <a:cubicBezTo>
                    <a:pt x="15" y="52"/>
                    <a:pt x="4" y="41"/>
                    <a:pt x="4" y="28"/>
                  </a:cubicBezTo>
                  <a:cubicBezTo>
                    <a:pt x="4" y="15"/>
                    <a:pt x="15" y="4"/>
                    <a:pt x="28" y="4"/>
                  </a:cubicBezTo>
                  <a:moveTo>
                    <a:pt x="28" y="0"/>
                  </a:moveTo>
                  <a:cubicBezTo>
                    <a:pt x="13" y="0"/>
                    <a:pt x="0" y="13"/>
                    <a:pt x="0" y="28"/>
                  </a:cubicBezTo>
                  <a:cubicBezTo>
                    <a:pt x="0" y="43"/>
                    <a:pt x="13" y="56"/>
                    <a:pt x="28" y="56"/>
                  </a:cubicBezTo>
                  <a:cubicBezTo>
                    <a:pt x="43" y="56"/>
                    <a:pt x="56" y="43"/>
                    <a:pt x="56" y="28"/>
                  </a:cubicBezTo>
                  <a:cubicBezTo>
                    <a:pt x="56" y="13"/>
                    <a:pt x="43" y="0"/>
                    <a:pt x="28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  <p:sp>
          <p:nvSpPr>
            <p:cNvPr id="52" name="Freeform 8">
              <a:hlinkClick r:id="" action="ppaction://hlinkshowjump?jump=previousslide"/>
            </p:cNvPr>
            <p:cNvSpPr/>
            <p:nvPr userDrawn="1"/>
          </p:nvSpPr>
          <p:spPr bwMode="auto">
            <a:xfrm>
              <a:off x="7457096" y="3880258"/>
              <a:ext cx="76200" cy="130175"/>
            </a:xfrm>
            <a:custGeom>
              <a:avLst/>
              <a:gdLst>
                <a:gd name="T0" fmla="*/ 48 w 48"/>
                <a:gd name="T1" fmla="*/ 12 h 82"/>
                <a:gd name="T2" fmla="*/ 14 w 48"/>
                <a:gd name="T3" fmla="*/ 42 h 82"/>
                <a:gd name="T4" fmla="*/ 48 w 48"/>
                <a:gd name="T5" fmla="*/ 70 h 82"/>
                <a:gd name="T6" fmla="*/ 48 w 48"/>
                <a:gd name="T7" fmla="*/ 82 h 82"/>
                <a:gd name="T8" fmla="*/ 0 w 48"/>
                <a:gd name="T9" fmla="*/ 42 h 82"/>
                <a:gd name="T10" fmla="*/ 48 w 48"/>
                <a:gd name="T11" fmla="*/ 0 h 82"/>
                <a:gd name="T12" fmla="*/ 48 w 48"/>
                <a:gd name="T13" fmla="*/ 1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82">
                  <a:moveTo>
                    <a:pt x="48" y="12"/>
                  </a:moveTo>
                  <a:lnTo>
                    <a:pt x="14" y="42"/>
                  </a:lnTo>
                  <a:lnTo>
                    <a:pt x="48" y="70"/>
                  </a:lnTo>
                  <a:lnTo>
                    <a:pt x="48" y="82"/>
                  </a:lnTo>
                  <a:lnTo>
                    <a:pt x="0" y="42"/>
                  </a:lnTo>
                  <a:lnTo>
                    <a:pt x="48" y="0"/>
                  </a:lnTo>
                  <a:lnTo>
                    <a:pt x="48" y="12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vert="horz" wrap="square" lIns="91440" tIns="45720" rIns="91440" bIns="45720" numCol="1" anchor="t" anchorCtr="0" compatLnSpc="1"/>
            <a:lstStyle/>
            <a:p>
              <a:endParaRPr lang="id-ID" sz="1800"/>
            </a:p>
          </p:txBody>
        </p:sp>
      </p:grpSp>
      <p:sp>
        <p:nvSpPr>
          <p:cNvPr id="57" name="Rectangle 56"/>
          <p:cNvSpPr/>
          <p:nvPr userDrawn="1"/>
        </p:nvSpPr>
        <p:spPr>
          <a:xfrm>
            <a:off x="3102781" y="6383339"/>
            <a:ext cx="6096000" cy="230832"/>
          </a:xfrm>
          <a:prstGeom prst="rect">
            <a:avLst/>
          </a:prstGeom>
        </p:spPr>
        <p:txBody>
          <a:bodyPr>
            <a:spAutoFit/>
          </a:bodyPr>
          <a:lstStyle/>
          <a:p>
            <a:pPr algn="ctr"/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© 2020 </a:t>
            </a:r>
            <a:r>
              <a:rPr lang="en-US" sz="900" dirty="0" err="1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Companyname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</a:t>
            </a:r>
            <a:r>
              <a:rPr lang="id-ID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PowerPoint</a:t>
            </a:r>
            <a:r>
              <a:rPr lang="id-ID" sz="900" baseline="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 Business </a:t>
            </a:r>
            <a:r>
              <a:rPr lang="en-US" sz="900" dirty="0" smtClean="0">
                <a:solidFill>
                  <a:schemeClr val="tx1">
                    <a:lumMod val="50000"/>
                    <a:lumOff val="50000"/>
                  </a:schemeClr>
                </a:solidFill>
              </a:rPr>
              <a:t>Theme. All Rights Reserved. </a:t>
            </a:r>
            <a:endParaRPr lang="id-ID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36" name="Group 35"/>
          <p:cNvGrpSpPr/>
          <p:nvPr userDrawn="1"/>
        </p:nvGrpSpPr>
        <p:grpSpPr>
          <a:xfrm rot="16200000">
            <a:off x="504088" y="768356"/>
            <a:ext cx="383327" cy="67506"/>
            <a:chOff x="2013527" y="1616364"/>
            <a:chExt cx="576928" cy="101600"/>
          </a:xfrm>
        </p:grpSpPr>
        <p:sp>
          <p:nvSpPr>
            <p:cNvPr id="6" name="Oval 5"/>
            <p:cNvSpPr/>
            <p:nvPr userDrawn="1"/>
          </p:nvSpPr>
          <p:spPr>
            <a:xfrm>
              <a:off x="2013527" y="1616364"/>
              <a:ext cx="101600" cy="101600"/>
            </a:xfrm>
            <a:prstGeom prst="ellipse">
              <a:avLst/>
            </a:prstGeom>
            <a:solidFill>
              <a:srgbClr val="358FCB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53" name="Oval 52"/>
            <p:cNvSpPr/>
            <p:nvPr userDrawn="1"/>
          </p:nvSpPr>
          <p:spPr>
            <a:xfrm>
              <a:off x="2132359" y="1616364"/>
              <a:ext cx="101600" cy="101600"/>
            </a:xfrm>
            <a:prstGeom prst="ellipse">
              <a:avLst/>
            </a:prstGeom>
            <a:solidFill>
              <a:srgbClr val="358FCB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1" name="Oval 60"/>
            <p:cNvSpPr/>
            <p:nvPr userDrawn="1"/>
          </p:nvSpPr>
          <p:spPr>
            <a:xfrm>
              <a:off x="2251191" y="1616364"/>
              <a:ext cx="101600" cy="101600"/>
            </a:xfrm>
            <a:prstGeom prst="ellipse">
              <a:avLst/>
            </a:prstGeom>
            <a:solidFill>
              <a:srgbClr val="358FC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2" name="Oval 61"/>
            <p:cNvSpPr/>
            <p:nvPr userDrawn="1"/>
          </p:nvSpPr>
          <p:spPr>
            <a:xfrm>
              <a:off x="2370023" y="1616364"/>
              <a:ext cx="101600" cy="101600"/>
            </a:xfrm>
            <a:prstGeom prst="ellipse">
              <a:avLst/>
            </a:prstGeom>
            <a:solidFill>
              <a:srgbClr val="358FCB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  <p:sp>
          <p:nvSpPr>
            <p:cNvPr id="63" name="Oval 62"/>
            <p:cNvSpPr/>
            <p:nvPr userDrawn="1"/>
          </p:nvSpPr>
          <p:spPr>
            <a:xfrm>
              <a:off x="2488855" y="1616364"/>
              <a:ext cx="101600" cy="101600"/>
            </a:xfrm>
            <a:prstGeom prst="ellipse">
              <a:avLst/>
            </a:prstGeom>
            <a:solidFill>
              <a:srgbClr val="358FC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/>
            </a:p>
          </p:txBody>
        </p:sp>
      </p:grpSp>
      <p:sp>
        <p:nvSpPr>
          <p:cNvPr id="54" name="Oval 53"/>
          <p:cNvSpPr/>
          <p:nvPr userDrawn="1"/>
        </p:nvSpPr>
        <p:spPr>
          <a:xfrm>
            <a:off x="11672882" y="-148007"/>
            <a:ext cx="655570" cy="655569"/>
          </a:xfrm>
          <a:prstGeom prst="ellipse">
            <a:avLst/>
          </a:prstGeom>
          <a:solidFill>
            <a:srgbClr val="358FCB"/>
          </a:solidFill>
          <a:ln w="698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44B5E3D8-B559-49FC-84E7-900B409E63B2}" type="slidenum">
              <a:rPr lang="id-ID" sz="1400" b="1" smtClean="0">
                <a:solidFill>
                  <a:schemeClr val="bg1"/>
                </a:solidFill>
              </a:rPr>
              <a:t>‹#›</a:t>
            </a:fld>
            <a:endParaRPr lang="id-ID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67723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7" grpId="0"/>
      <p:bldP spid="57" grpId="1"/>
      <p:bldP spid="57" grpId="2"/>
      <p:bldP spid="57" grpId="3"/>
      <p:bldP spid="57" grpId="4"/>
      <p:bldP spid="57" grpId="5"/>
      <p:bldP spid="57" grpId="6"/>
      <p:bldP spid="57" grpId="7"/>
      <p:bldP spid="57" grpId="8"/>
      <p:bldP spid="57" grpId="9"/>
      <p:bldP spid="57" grpId="10"/>
      <p:bldP spid="57" grpId="11"/>
      <p:bldP spid="57" grpId="12"/>
      <p:bldP spid="57" grpId="13"/>
    </p:bldLst>
  </p:timing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2" name="Rectangle 6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97159" name="Picture 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165259" y="6083808"/>
            <a:ext cx="1625159" cy="39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0053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87DFA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 cstate="screen">
            <a:alphaModFix amt="5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68304" y="6084592"/>
            <a:ext cx="1622114" cy="391616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9826" y="6280400"/>
            <a:ext cx="1699655" cy="122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418105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494E85-59A3-4CE8-BD26-2C3F65DE6B0E}" type="datetimeFigureOut">
              <a:rPr lang="zh-CN" altLang="en-US" smtClean="0"/>
              <a:t>2022/8/9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4160A2-C136-4A21-8E63-D2C2118CE13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175795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28.png"/><Relationship Id="rId8" Type="http://schemas.openxmlformats.org/officeDocument/2006/relationships/image" Target="../media/image33.png"/></Relationships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标题 1"/>
          <p:cNvSpPr txBox="1">
            <a:spLocks/>
          </p:cNvSpPr>
          <p:nvPr/>
        </p:nvSpPr>
        <p:spPr>
          <a:xfrm>
            <a:off x="457615" y="99753"/>
            <a:ext cx="11226268" cy="6899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CN" sz="3200" b="1" dirty="0" smtClean="0">
                <a:solidFill>
                  <a:srgbClr val="4472C4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3、思考与未来规划 · 从 AI native 到 AI × 业务</a:t>
            </a:r>
            <a:endParaRPr lang="zh-CN" altLang="en-US" sz="2400" b="1" dirty="0">
              <a:solidFill>
                <a:srgbClr val="4472C4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key-message"/>
          <p:cNvSpPr txBox="1"/>
          <p:nvPr/>
        </p:nvSpPr>
        <p:spPr>
          <a:xfrm>
            <a:off x="457200" y="896112"/>
            <a:ext cx="11247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从模型侧的质量工作，走到直接对业务结果负责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3383280" cy="3474720"/>
          </a:xfrm>
          <a:prstGeom prst="roundRect">
            <a:avLst>
              <a:gd name="adj" fmla="val 6000"/>
            </a:avLst>
          </a:prstGeom>
          <a:solidFill>
            <a:srgbClr val="F5F9FF"/>
          </a:solidFill>
          <a:ln w="12700">
            <a:solidFill>
              <a:srgbClr val="D3E2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icon-circle"/>
          <p:cNvSpPr/>
          <p:nvPr/>
        </p:nvSpPr>
        <p:spPr>
          <a:xfrm>
            <a:off x="731520" y="1783080"/>
            <a:ext cx="640080" cy="640080"/>
          </a:xfrm>
          <a:prstGeom prst="ellipse">
            <a:avLst/>
          </a:prstGeom>
          <a:solidFill>
            <a:srgbClr val="7A85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aRobot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1943100"/>
            <a:ext cx="320040" cy="320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78308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AI native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小红书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定位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3580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模型本身就是产品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794760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087368"/>
            <a:ext cx="2834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模型表现得好不好</a:t>
            </a:r>
          </a:p>
        </p:txBody>
      </p:sp>
      <p:sp>
        <p:nvSpPr>
          <p:cNvPr id="12" name="arrow"/>
          <p:cNvSpPr/>
          <p:nvPr/>
        </p:nvSpPr>
        <p:spPr>
          <a:xfrm>
            <a:off x="3977639" y="3063240"/>
            <a:ext cx="502920" cy="457200"/>
          </a:xfrm>
          <a:prstGeom prst="rightArrow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4617720" y="1554480"/>
            <a:ext cx="7114032" cy="3474720"/>
          </a:xfrm>
          <a:prstGeom prst="roundRect">
            <a:avLst>
              <a:gd name="adj" fmla="val 6000"/>
            </a:avLst>
          </a:prstGeom>
          <a:solidFill>
            <a:srgbClr val="EAF2FF"/>
          </a:solidFill>
          <a:ln w="12700">
            <a:solidFill>
              <a:srgbClr val="287D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icon-circle"/>
          <p:cNvSpPr/>
          <p:nvPr/>
        </p:nvSpPr>
        <p:spPr>
          <a:xfrm>
            <a:off x="4892040" y="1783080"/>
            <a:ext cx="640080" cy="640080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aTicket_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59" y="1943100"/>
            <a:ext cx="320040" cy="3200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0" y="1783080"/>
            <a:ext cx="27432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AI × 业务</a:t>
            </a:r>
          </a:p>
          <a:p>
            <a:pPr algn="l">
              <a:spcBef>
                <a:spcPts val="0"/>
              </a:spcBef>
            </a:pPr>
            <a:r>
              <a:rPr sz="1200" b="0">
                <a:solidFill>
                  <a:srgbClr val="7A8599"/>
                </a:solidFill>
                <a:latin typeface="微软雅黑"/>
                <a:ea typeface="微软雅黑"/>
                <a:cs typeface="微软雅黑"/>
              </a:rPr>
              <a:t>携程 · 火车票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17830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500" b="1">
                <a:solidFill>
                  <a:srgbClr val="15315E"/>
                </a:solidFill>
                <a:latin typeface="微软雅黑"/>
                <a:ea typeface="微软雅黑"/>
                <a:cs typeface="微软雅黑"/>
              </a:rPr>
              <a:t>定位：AI 是服务业务的手段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92040" y="2697480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icon-circle"/>
          <p:cNvSpPr/>
          <p:nvPr/>
        </p:nvSpPr>
        <p:spPr>
          <a:xfrm>
            <a:off x="5029200" y="2798064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Picture 19" descr="FaLayerGroup_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4356" y="2903220"/>
            <a:ext cx="210312" cy="2103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577840" y="2697480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697480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由业务来定：什么属于火车、什么不属于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92040" y="3447288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icon-circle"/>
          <p:cNvSpPr/>
          <p:nvPr/>
        </p:nvSpPr>
        <p:spPr>
          <a:xfrm>
            <a:off x="5029200" y="3547872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Picture 24" descr="FaHandshake_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4356" y="3653028"/>
            <a:ext cx="210312" cy="21031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7840" y="3447288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形态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447288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贴合用户习惯：对话 → 直接操作列表页，票量明显提升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892040" y="4197096"/>
            <a:ext cx="6583680" cy="621792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icon-circle"/>
          <p:cNvSpPr/>
          <p:nvPr/>
        </p:nvSpPr>
        <p:spPr>
          <a:xfrm>
            <a:off x="5029200" y="4297680"/>
            <a:ext cx="420624" cy="420624"/>
          </a:xfrm>
          <a:prstGeom prst="ellipse">
            <a:avLst/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Picture 29" descr="FaChartLine_w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4356" y="440283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77840" y="4197096"/>
            <a:ext cx="7315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87DFA"/>
                </a:solidFill>
                <a:latin typeface="微软雅黑"/>
                <a:ea typeface="微软雅黑"/>
                <a:cs typeface="微软雅黑"/>
              </a:rPr>
              <a:t>衡量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197096"/>
            <a:ext cx="507492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3D4757"/>
                </a:solidFill>
                <a:latin typeface="微软雅黑"/>
                <a:ea typeface="微软雅黑"/>
                <a:cs typeface="微软雅黑"/>
              </a:rPr>
              <a:t>票量这样的业务结果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257800"/>
            <a:ext cx="11274552" cy="822960"/>
          </a:xfrm>
          <a:prstGeom prst="roundRect">
            <a:avLst>
              <a:gd name="adj" fmla="val 6000"/>
            </a:avLst>
          </a:prstGeom>
          <a:solidFill>
            <a:srgbClr val="287D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4" name="Picture 33" descr="FaLightbulb_w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58968"/>
            <a:ext cx="420624" cy="42062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417320" y="5257800"/>
            <a:ext cx="1014984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D6E6FF"/>
                </a:solidFill>
                <a:latin typeface="微软雅黑"/>
                <a:ea typeface="微软雅黑"/>
                <a:cs typeface="微软雅黑"/>
              </a:rPr>
              <a:t>探索 AI + 业务时，先想清楚：</a:t>
            </a:r>
            <a:r>
              <a:rPr sz="18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业务需要它解决什么？用户习惯怎么用？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24346</TotalTime>
  <Words>214</Words>
  <Application>Microsoft Office PowerPoint</Application>
  <PresentationFormat>宽屏</PresentationFormat>
  <Paragraphs>33</Paragraphs>
  <Slides>8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5" baseType="lpstr">
      <vt:lpstr>等线</vt:lpstr>
      <vt:lpstr>等线 Light</vt:lpstr>
      <vt:lpstr>华文细黑</vt:lpstr>
      <vt:lpstr>微软雅黑</vt:lpstr>
      <vt:lpstr>Arial</vt:lpstr>
      <vt:lpstr>Raleway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lym刘怡鸣</dc:creator>
  <cp:lastModifiedBy>Julia Tian （田颖）</cp:lastModifiedBy>
  <cp:revision>295</cp:revision>
  <dcterms:created xsi:type="dcterms:W3CDTF">2019-08-14T08:41:25Z</dcterms:created>
  <dcterms:modified xsi:type="dcterms:W3CDTF">2022-08-09T06:50:14Z</dcterms:modified>
</cp:coreProperties>
</file>