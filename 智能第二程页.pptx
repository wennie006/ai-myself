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m刘怡鸣" initials="l" lastIdx="1" clrIdx="0">
    <p:extLst>
      <p:ext uri="{19B8F6BF-5375-455C-9EA6-DF929625EA0E}">
        <p15:presenceInfo xmlns:p15="http://schemas.microsoft.com/office/powerpoint/2012/main" userId="lym刘怡鸣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6A6A6"/>
    <a:srgbClr val="28CE83"/>
    <a:srgbClr val="1BB178"/>
    <a:srgbClr val="43BB8D"/>
    <a:srgbClr val="2A69A2"/>
    <a:srgbClr val="D6E1F1"/>
    <a:srgbClr val="9DC3E6"/>
    <a:srgbClr val="70AD47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2279" autoAdjust="0"/>
  </p:normalViewPr>
  <p:slideViewPr>
    <p:cSldViewPr snapToGrid="0">
      <p:cViewPr varScale="1">
        <p:scale>
          <a:sx n="106" d="100"/>
          <a:sy n="106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9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智能第二程出票率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出票率</c:v>
                </c:pt>
              </c:strCache>
            </c:strRef>
          </c:tx>
          <c:dPt>
            <c:idx val="0"/>
            <c:spPr>
              <a:solidFill>
                <a:srgbClr val="7A8599"/>
              </a:solidFill>
            </c:spPr>
          </c:dPt>
          <c:dPt>
            <c:idx val="1"/>
            <c:spPr>
              <a:solidFill>
                <a:srgbClr val="287DFA"/>
              </a:solidFill>
            </c:spPr>
          </c:dPt>
          <c:cat>
            <c:strRef>
              <c:f>Sheet1!$A$2:$A$3</c:f>
              <c:strCache>
                <c:ptCount val="2"/>
                <c:pt idx="0">
                  <c:v>改直付前</c:v>
                </c:pt>
                <c:pt idx="1">
                  <c:v>改直付后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72.8</c:v>
                </c:pt>
                <c:pt idx="1">
                  <c:v>94.0</c:v>
                </c:pt>
              </c:numCache>
            </c:numRef>
          </c:val>
        </c:ser>
        <c:dLbls>
          <c:numFmt formatCode="General&quot;%&quot;" sourceLinked="0"/>
          <c:txPr>
            <a:bodyPr/>
            <a:lstStyle/>
            <a:p>
              <a:pPr>
                <a:defRPr sz="1400" b="1">
                  <a:solidFill>
                    <a:srgbClr val="15315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E2FB"/>
            </a:solidFill>
          </a:ln>
        </c:spPr>
        <c:txPr>
          <a:bodyPr/>
          <a:lstStyle/>
          <a:p>
            <a:pPr>
              <a:defRPr sz="1200">
                <a:solidFill>
                  <a:srgbClr val="3D475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D70F8-A809-479A-B4E7-7CD7FBA21D45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5A24-1C80-4826-8331-A30A6CC3A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7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我的第二条主线是抢票业务，聚焦的是票量。这里分享两个需求，它们有一个共同点：都是我们主动给了用户“可以出票”的承诺，用户也做出了行动，最后却没能出票。</a:t>
            </a:r>
          </a:p>
          <a:p/>
          <a:p>
            <a:r>
              <a:t>第一个是智能第二程。用户只抢到第一程时，系统会自动帮他生成第二程的捡漏单并完成扣位，再通过外呼或消息通知他确认出票。按 KANO 模型看，这是一个兴奋型需求，做到了是惊喜，做不到用户也不会抱怨；但一旦我们通知了用户、用户也付了款，他就会默认一定能出票。而受风控限制，付款环节容易失败，这个场景的出票率只有 72.8%。我们把这一步的付款统一改为直付，付款成功就能出票，出票率提升到 94%，预估年化票量增加 7 万张。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9900" y="555951"/>
            <a:ext cx="2010530" cy="4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8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11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7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37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6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4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943633" y="1565211"/>
            <a:ext cx="8733041" cy="6614959"/>
            <a:chOff x="3943629" y="1765230"/>
            <a:chExt cx="8733041" cy="6614959"/>
          </a:xfrm>
        </p:grpSpPr>
        <p:sp>
          <p:nvSpPr>
            <p:cNvPr id="8" name="Donut 7"/>
            <p:cNvSpPr/>
            <p:nvPr userDrawn="1"/>
          </p:nvSpPr>
          <p:spPr>
            <a:xfrm rot="6104502">
              <a:off x="10513894" y="4182360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 userDrawn="1"/>
          </p:nvSpPr>
          <p:spPr>
            <a:xfrm rot="6104502">
              <a:off x="11635129" y="323203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 userDrawn="1"/>
          </p:nvSpPr>
          <p:spPr>
            <a:xfrm rot="6104502">
              <a:off x="4885213" y="5754088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1" name="Donut 10"/>
            <p:cNvSpPr/>
            <p:nvPr userDrawn="1"/>
          </p:nvSpPr>
          <p:spPr>
            <a:xfrm rot="6104502">
              <a:off x="9890317" y="632831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2" name="Donut 11"/>
            <p:cNvSpPr/>
            <p:nvPr userDrawn="1"/>
          </p:nvSpPr>
          <p:spPr>
            <a:xfrm rot="6104502">
              <a:off x="11280398" y="277344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>
            <a:xfrm rot="6104502">
              <a:off x="11255956" y="4096902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4" name="Oval 13"/>
            <p:cNvSpPr/>
            <p:nvPr userDrawn="1"/>
          </p:nvSpPr>
          <p:spPr>
            <a:xfrm rot="6104502">
              <a:off x="10988857" y="3411415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5" name="Donut 14"/>
            <p:cNvSpPr/>
            <p:nvPr userDrawn="1"/>
          </p:nvSpPr>
          <p:spPr>
            <a:xfrm rot="20504502">
              <a:off x="8157576" y="4967821"/>
              <a:ext cx="1778283" cy="1778283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42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6" name="Donut 15"/>
            <p:cNvSpPr/>
            <p:nvPr userDrawn="1"/>
          </p:nvSpPr>
          <p:spPr>
            <a:xfrm rot="20504502">
              <a:off x="5967631" y="5517505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>
            <a:xfrm rot="20504502">
              <a:off x="7106071" y="6040256"/>
              <a:ext cx="688490" cy="688490"/>
            </a:xfrm>
            <a:prstGeom prst="ellipse">
              <a:avLst/>
            </a:prstGeom>
            <a:solidFill>
              <a:schemeClr val="bg1">
                <a:lumMod val="95000"/>
                <a:alpha val="39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8" name="Oval 17"/>
            <p:cNvSpPr/>
            <p:nvPr userDrawn="1"/>
          </p:nvSpPr>
          <p:spPr>
            <a:xfrm rot="20504502">
              <a:off x="8828367" y="4697538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9" name="Donut 18"/>
            <p:cNvSpPr/>
            <p:nvPr userDrawn="1"/>
          </p:nvSpPr>
          <p:spPr>
            <a:xfrm rot="20504502">
              <a:off x="7272388" y="5137491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0" name="Donut 19"/>
            <p:cNvSpPr/>
            <p:nvPr userDrawn="1"/>
          </p:nvSpPr>
          <p:spPr>
            <a:xfrm rot="20504502">
              <a:off x="9359434" y="559670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 userDrawn="1"/>
          </p:nvSpPr>
          <p:spPr>
            <a:xfrm rot="20504502">
              <a:off x="9482547" y="465955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2" name="Donut 21"/>
            <p:cNvSpPr/>
            <p:nvPr userDrawn="1"/>
          </p:nvSpPr>
          <p:spPr>
            <a:xfrm rot="20504502">
              <a:off x="11146308" y="586877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 userDrawn="1"/>
          </p:nvSpPr>
          <p:spPr>
            <a:xfrm rot="20504502">
              <a:off x="7238767" y="5017013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4" name="Oval 23"/>
            <p:cNvSpPr/>
            <p:nvPr userDrawn="1"/>
          </p:nvSpPr>
          <p:spPr>
            <a:xfrm rot="20504502">
              <a:off x="3943629" y="613031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5" name="Oval 24"/>
            <p:cNvSpPr/>
            <p:nvPr userDrawn="1"/>
          </p:nvSpPr>
          <p:spPr>
            <a:xfrm rot="20504502">
              <a:off x="6479821" y="5990866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6" name="Oval 25"/>
            <p:cNvSpPr/>
            <p:nvPr userDrawn="1"/>
          </p:nvSpPr>
          <p:spPr>
            <a:xfrm rot="20504502">
              <a:off x="9327833" y="4273371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7" name="Donut 26"/>
            <p:cNvSpPr/>
            <p:nvPr userDrawn="1"/>
          </p:nvSpPr>
          <p:spPr>
            <a:xfrm rot="10604502">
              <a:off x="10421842" y="5527974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 userDrawn="1"/>
          </p:nvSpPr>
          <p:spPr>
            <a:xfrm rot="10604502">
              <a:off x="11502978" y="193534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 userDrawn="1"/>
          </p:nvSpPr>
          <p:spPr>
            <a:xfrm rot="10604502">
              <a:off x="11886320" y="1765230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0" name="Donut 29"/>
            <p:cNvSpPr/>
            <p:nvPr userDrawn="1"/>
          </p:nvSpPr>
          <p:spPr>
            <a:xfrm rot="10604502">
              <a:off x="9874667" y="3536070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 userDrawn="1"/>
          </p:nvSpPr>
          <p:spPr>
            <a:xfrm rot="10604502">
              <a:off x="10759809" y="3214182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 userDrawn="1"/>
          </p:nvSpPr>
          <p:spPr>
            <a:xfrm rot="10604502">
              <a:off x="4248675" y="623112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 userDrawn="1"/>
          </p:nvSpPr>
          <p:spPr>
            <a:xfrm rot="10604502">
              <a:off x="11516462" y="3055947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4" name="Oval 33"/>
            <p:cNvSpPr/>
            <p:nvPr userDrawn="1"/>
          </p:nvSpPr>
          <p:spPr>
            <a:xfrm rot="10604502">
              <a:off x="8086333" y="608290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5" name="Oval 34"/>
            <p:cNvSpPr/>
            <p:nvPr userDrawn="1"/>
          </p:nvSpPr>
          <p:spPr>
            <a:xfrm rot="10604502">
              <a:off x="4659440" y="5686338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276313" y="6502736"/>
            <a:ext cx="731511" cy="276999"/>
            <a:chOff x="404977" y="6383122"/>
            <a:chExt cx="731513" cy="276999"/>
          </a:xfrm>
        </p:grpSpPr>
        <p:sp>
          <p:nvSpPr>
            <p:cNvPr id="43" name="TextBox 42"/>
            <p:cNvSpPr txBox="1"/>
            <p:nvPr/>
          </p:nvSpPr>
          <p:spPr>
            <a:xfrm>
              <a:off x="512343" y="6383122"/>
              <a:ext cx="624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200" dirty="0" smtClean="0">
                  <a:solidFill>
                    <a:schemeClr val="bg1">
                      <a:lumMod val="50000"/>
                    </a:schemeClr>
                  </a:solidFill>
                  <a:latin typeface="Raleway" panose="020B0003030101060003" pitchFamily="34" charset="0"/>
                </a:rPr>
                <a:t>MOST</a:t>
              </a:r>
              <a:endParaRPr lang="id-ID" sz="1200" dirty="0">
                <a:solidFill>
                  <a:schemeClr val="bg1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4977" y="6417778"/>
              <a:ext cx="181253" cy="189215"/>
              <a:chOff x="4573232" y="2256703"/>
              <a:chExt cx="838558" cy="87539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73232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1694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697463" y="2256703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</p:grpSp>
      </p:grpSp>
      <p:grpSp>
        <p:nvGrpSpPr>
          <p:cNvPr id="55" name="Group 54"/>
          <p:cNvGrpSpPr/>
          <p:nvPr userDrawn="1"/>
        </p:nvGrpSpPr>
        <p:grpSpPr>
          <a:xfrm>
            <a:off x="11807070" y="6559227"/>
            <a:ext cx="214313" cy="220663"/>
            <a:chOff x="7015550" y="2614882"/>
            <a:chExt cx="214313" cy="220663"/>
          </a:xfrm>
          <a:solidFill>
            <a:srgbClr val="358FCB"/>
          </a:solidFill>
        </p:grpSpPr>
        <p:sp>
          <p:nvSpPr>
            <p:cNvPr id="49" name="Freeform 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7015550" y="2614882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0" name="Freeform 6">
              <a:hlinkClick r:id="" action="ppaction://hlinkshowjump?jump=nextslide"/>
            </p:cNvPr>
            <p:cNvSpPr/>
            <p:nvPr userDrawn="1"/>
          </p:nvSpPr>
          <p:spPr bwMode="auto">
            <a:xfrm>
              <a:off x="7091750" y="2657745"/>
              <a:ext cx="76200" cy="131763"/>
            </a:xfrm>
            <a:custGeom>
              <a:avLst/>
              <a:gdLst>
                <a:gd name="T0" fmla="*/ 0 w 48"/>
                <a:gd name="T1" fmla="*/ 70 h 83"/>
                <a:gd name="T2" fmla="*/ 34 w 48"/>
                <a:gd name="T3" fmla="*/ 40 h 83"/>
                <a:gd name="T4" fmla="*/ 0 w 48"/>
                <a:gd name="T5" fmla="*/ 13 h 83"/>
                <a:gd name="T6" fmla="*/ 0 w 48"/>
                <a:gd name="T7" fmla="*/ 0 h 83"/>
                <a:gd name="T8" fmla="*/ 48 w 48"/>
                <a:gd name="T9" fmla="*/ 40 h 83"/>
                <a:gd name="T10" fmla="*/ 0 w 48"/>
                <a:gd name="T11" fmla="*/ 83 h 83"/>
                <a:gd name="T12" fmla="*/ 0 w 48"/>
                <a:gd name="T13" fmla="*/ 7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3">
                  <a:moveTo>
                    <a:pt x="0" y="70"/>
                  </a:moveTo>
                  <a:lnTo>
                    <a:pt x="34" y="40"/>
                  </a:lnTo>
                  <a:lnTo>
                    <a:pt x="0" y="13"/>
                  </a:lnTo>
                  <a:lnTo>
                    <a:pt x="0" y="0"/>
                  </a:lnTo>
                  <a:lnTo>
                    <a:pt x="48" y="40"/>
                  </a:lnTo>
                  <a:lnTo>
                    <a:pt x="0" y="83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grpSp>
        <p:nvGrpSpPr>
          <p:cNvPr id="56" name="Group 55"/>
          <p:cNvGrpSpPr/>
          <p:nvPr userDrawn="1"/>
        </p:nvGrpSpPr>
        <p:grpSpPr>
          <a:xfrm>
            <a:off x="11370388" y="6559227"/>
            <a:ext cx="214313" cy="220663"/>
            <a:chOff x="7395183" y="3832633"/>
            <a:chExt cx="214313" cy="220663"/>
          </a:xfrm>
          <a:solidFill>
            <a:srgbClr val="358FCB"/>
          </a:solidFill>
        </p:grpSpPr>
        <p:sp>
          <p:nvSpPr>
            <p:cNvPr id="51" name="Freeform 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7395183" y="3832633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2" name="Freeform 8">
              <a:hlinkClick r:id="" action="ppaction://hlinkshowjump?jump=previousslide"/>
            </p:cNvPr>
            <p:cNvSpPr/>
            <p:nvPr userDrawn="1"/>
          </p:nvSpPr>
          <p:spPr bwMode="auto">
            <a:xfrm>
              <a:off x="7457096" y="3880258"/>
              <a:ext cx="76200" cy="130175"/>
            </a:xfrm>
            <a:custGeom>
              <a:avLst/>
              <a:gdLst>
                <a:gd name="T0" fmla="*/ 48 w 48"/>
                <a:gd name="T1" fmla="*/ 12 h 82"/>
                <a:gd name="T2" fmla="*/ 14 w 48"/>
                <a:gd name="T3" fmla="*/ 42 h 82"/>
                <a:gd name="T4" fmla="*/ 48 w 48"/>
                <a:gd name="T5" fmla="*/ 70 h 82"/>
                <a:gd name="T6" fmla="*/ 48 w 48"/>
                <a:gd name="T7" fmla="*/ 82 h 82"/>
                <a:gd name="T8" fmla="*/ 0 w 48"/>
                <a:gd name="T9" fmla="*/ 42 h 82"/>
                <a:gd name="T10" fmla="*/ 48 w 48"/>
                <a:gd name="T11" fmla="*/ 0 h 82"/>
                <a:gd name="T12" fmla="*/ 48 w 48"/>
                <a:gd name="T13" fmla="*/ 1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2">
                  <a:moveTo>
                    <a:pt x="48" y="12"/>
                  </a:moveTo>
                  <a:lnTo>
                    <a:pt x="14" y="42"/>
                  </a:lnTo>
                  <a:lnTo>
                    <a:pt x="48" y="70"/>
                  </a:lnTo>
                  <a:lnTo>
                    <a:pt x="48" y="82"/>
                  </a:lnTo>
                  <a:lnTo>
                    <a:pt x="0" y="42"/>
                  </a:lnTo>
                  <a:lnTo>
                    <a:pt x="48" y="0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sp>
        <p:nvSpPr>
          <p:cNvPr id="57" name="Rectangle 56"/>
          <p:cNvSpPr/>
          <p:nvPr userDrawn="1"/>
        </p:nvSpPr>
        <p:spPr>
          <a:xfrm>
            <a:off x="3102781" y="638333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© 2020 </a:t>
            </a:r>
            <a:r>
              <a:rPr 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Companyname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id-ID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PowerPoint</a:t>
            </a:r>
            <a:r>
              <a:rPr lang="id-ID" sz="900" baseline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Business 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Theme. All Rights Reserved. </a:t>
            </a:r>
            <a:endParaRPr lang="id-ID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 rot="16200000">
            <a:off x="504088" y="768356"/>
            <a:ext cx="383327" cy="67506"/>
            <a:chOff x="2013527" y="1616364"/>
            <a:chExt cx="576928" cy="101600"/>
          </a:xfrm>
        </p:grpSpPr>
        <p:sp>
          <p:nvSpPr>
            <p:cNvPr id="6" name="Oval 5"/>
            <p:cNvSpPr/>
            <p:nvPr userDrawn="1"/>
          </p:nvSpPr>
          <p:spPr>
            <a:xfrm>
              <a:off x="2013527" y="1616364"/>
              <a:ext cx="101600" cy="101600"/>
            </a:xfrm>
            <a:prstGeom prst="ellipse">
              <a:avLst/>
            </a:prstGeom>
            <a:solidFill>
              <a:srgbClr val="358F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3" name="Oval 52"/>
            <p:cNvSpPr/>
            <p:nvPr userDrawn="1"/>
          </p:nvSpPr>
          <p:spPr>
            <a:xfrm>
              <a:off x="2132359" y="1616364"/>
              <a:ext cx="101600" cy="101600"/>
            </a:xfrm>
            <a:prstGeom prst="ellipse">
              <a:avLst/>
            </a:prstGeom>
            <a:solidFill>
              <a:srgbClr val="358FC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1" name="Oval 60"/>
            <p:cNvSpPr/>
            <p:nvPr userDrawn="1"/>
          </p:nvSpPr>
          <p:spPr>
            <a:xfrm>
              <a:off x="2251191" y="1616364"/>
              <a:ext cx="101600" cy="101600"/>
            </a:xfrm>
            <a:prstGeom prst="ellipse">
              <a:avLst/>
            </a:prstGeom>
            <a:solidFill>
              <a:srgbClr val="358FC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2" name="Oval 61"/>
            <p:cNvSpPr/>
            <p:nvPr userDrawn="1"/>
          </p:nvSpPr>
          <p:spPr>
            <a:xfrm>
              <a:off x="2370023" y="1616364"/>
              <a:ext cx="101600" cy="101600"/>
            </a:xfrm>
            <a:prstGeom prst="ellipse">
              <a:avLst/>
            </a:prstGeom>
            <a:solidFill>
              <a:srgbClr val="358F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Oval 62"/>
            <p:cNvSpPr/>
            <p:nvPr userDrawn="1"/>
          </p:nvSpPr>
          <p:spPr>
            <a:xfrm>
              <a:off x="2488855" y="1616364"/>
              <a:ext cx="101600" cy="101600"/>
            </a:xfrm>
            <a:prstGeom prst="ellipse">
              <a:avLst/>
            </a:prstGeom>
            <a:solidFill>
              <a:srgbClr val="358F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4" name="Oval 53"/>
          <p:cNvSpPr/>
          <p:nvPr userDrawn="1"/>
        </p:nvSpPr>
        <p:spPr>
          <a:xfrm>
            <a:off x="11672882" y="-148007"/>
            <a:ext cx="655570" cy="655569"/>
          </a:xfrm>
          <a:prstGeom prst="ellipse">
            <a:avLst/>
          </a:prstGeom>
          <a:solidFill>
            <a:srgbClr val="358FCB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400" b="1" smtClean="0">
                <a:solidFill>
                  <a:schemeClr val="bg1"/>
                </a:solidFill>
              </a:rPr>
              <a:t>‹#›</a:t>
            </a:fld>
            <a:endParaRPr lang="id-ID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9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65259" y="6083808"/>
            <a:ext cx="1625159" cy="3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8304" y="6084592"/>
            <a:ext cx="1622114" cy="391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826" y="6280400"/>
            <a:ext cx="1699655" cy="1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1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7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chart" Target="../charts/chart1.xml"/><Relationship Id="rId9" Type="http://schemas.openxmlformats.org/officeDocument/2006/relationships/image" Target="../media/image18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抢票：智能第二程接直付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智能第二程——兴奋型需求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1129284" y="1700784"/>
            <a:ext cx="621792" cy="621792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WandMagicSparkl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1" y="1856232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4231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生成第二程捡漏单</a:t>
            </a:r>
          </a:p>
          <a:p>
            <a:pPr algn="ctr">
              <a:spcBef>
                <a:spcPts val="0"/>
              </a:spcBef>
            </a:pPr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并完成扣位</a:t>
            </a:r>
          </a:p>
        </p:txBody>
      </p:sp>
      <p:sp>
        <p:nvSpPr>
          <p:cNvPr id="8" name="arrow"/>
          <p:cNvSpPr/>
          <p:nvPr/>
        </p:nvSpPr>
        <p:spPr>
          <a:xfrm>
            <a:off x="2459736" y="2130552"/>
            <a:ext cx="228600" cy="274320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724912" y="155448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con-circle"/>
          <p:cNvSpPr/>
          <p:nvPr/>
        </p:nvSpPr>
        <p:spPr>
          <a:xfrm>
            <a:off x="3396996" y="1700784"/>
            <a:ext cx="621792" cy="621792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PhoneVolum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856232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16352" y="24231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外呼 / 消息通知</a:t>
            </a:r>
          </a:p>
          <a:p>
            <a:pPr algn="ctr">
              <a:spcBef>
                <a:spcPts val="0"/>
              </a:spcBef>
            </a:pPr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用户确认出票</a:t>
            </a:r>
          </a:p>
        </p:txBody>
      </p:sp>
      <p:sp>
        <p:nvSpPr>
          <p:cNvPr id="13" name="arrow"/>
          <p:cNvSpPr/>
          <p:nvPr/>
        </p:nvSpPr>
        <p:spPr>
          <a:xfrm>
            <a:off x="4727448" y="2130552"/>
            <a:ext cx="228600" cy="274320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992624" y="155448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icon-circle"/>
          <p:cNvSpPr/>
          <p:nvPr/>
        </p:nvSpPr>
        <p:spPr>
          <a:xfrm>
            <a:off x="5664708" y="1700784"/>
            <a:ext cx="621792" cy="621792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aCreditC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156" y="1856232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84064" y="24231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用户确认并付款</a:t>
            </a:r>
          </a:p>
        </p:txBody>
      </p:sp>
      <p:sp>
        <p:nvSpPr>
          <p:cNvPr id="18" name="arrow"/>
          <p:cNvSpPr/>
          <p:nvPr/>
        </p:nvSpPr>
        <p:spPr>
          <a:xfrm>
            <a:off x="6995159" y="2130552"/>
            <a:ext cx="228600" cy="274320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260336" y="155448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con-circle"/>
          <p:cNvSpPr/>
          <p:nvPr/>
        </p:nvSpPr>
        <p:spPr>
          <a:xfrm>
            <a:off x="7932419" y="1700784"/>
            <a:ext cx="621792" cy="621792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Fa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7867" y="1856232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51775" y="242316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出票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01184" y="1463040"/>
            <a:ext cx="4416552" cy="1645920"/>
          </a:xfrm>
          <a:prstGeom prst="rect">
            <a:avLst/>
          </a:prstGeom>
          <a:noFill/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901184" y="315468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受风控限制，付款到出票环节容易失败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57600"/>
            <a:ext cx="4480560" cy="2423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FaLightbulb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858768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70432" y="38587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KANO：兴奋型需求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70832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做到了是惊喜，做不到用户也不会抱怨；但一旦通知了用户、用户也付了款，他就默认一定能出票。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49240"/>
            <a:ext cx="4069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解决方案　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确认出票的付款统一改为直付，付款成功即可出票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120640" y="3657600"/>
          <a:ext cx="2377440" cy="242316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7680960" y="3657600"/>
            <a:ext cx="1691640" cy="242316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26679" y="4343400"/>
            <a:ext cx="1600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预估年化票量</a:t>
            </a:r>
          </a:p>
          <a:p>
            <a:pPr algn="ctr">
              <a:spcBef>
                <a:spcPts val="600"/>
              </a:spcBef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+7 万张</a:t>
            </a:r>
          </a:p>
        </p:txBody>
      </p:sp>
      <p:pic>
        <p:nvPicPr>
          <p:cNvPr id="33" name="真实截图-车票待确认" descr="second_leg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0689" y="1463040"/>
            <a:ext cx="2101062" cy="4617720"/>
          </a:xfrm>
          <a:prstGeom prst="roundRect">
            <a:avLst>
              <a:gd name="adj" fmla="val 6000"/>
            </a:avLst>
          </a:prstGeom>
          <a:ln w="25400">
            <a:solidFill>
              <a:srgbClr val="00000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214</Words>
  <Application>Microsoft Office PowerPoint</Application>
  <PresentationFormat>宽屏</PresentationFormat>
  <Paragraphs>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华文细黑</vt:lpstr>
      <vt:lpstr>微软雅黑</vt:lpstr>
      <vt:lpstr>Arial</vt:lpstr>
      <vt:lpstr>Raleway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lym刘怡鸣</dc:creator>
  <cp:lastModifiedBy>Julia Tian （田颖）</cp:lastModifiedBy>
  <cp:revision>295</cp:revision>
  <dcterms:created xsi:type="dcterms:W3CDTF">2019-08-14T08:41:25Z</dcterms:created>
  <dcterms:modified xsi:type="dcterms:W3CDTF">2022-08-09T06:50:14Z</dcterms:modified>
</cp:coreProperties>
</file>