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54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9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出票率</c:v>
                </c:pt>
              </c:strCache>
            </c:strRef>
          </c:tx>
          <c:dPt>
            <c:idx val="0"/>
            <c:spPr>
              <a:solidFill>
                <a:srgbClr val="7A8599"/>
              </a:solidFill>
            </c:spPr>
          </c:dPt>
          <c:dPt>
            <c:idx val="1"/>
            <c:spPr>
              <a:solidFill>
                <a:srgbClr val="287DFA"/>
              </a:solidFill>
            </c:spPr>
          </c:dPt>
          <c:cat>
            <c:strRef>
              <c:f>Sheet1!$A$2:$A$3</c:f>
              <c:strCache>
                <c:ptCount val="2"/>
                <c:pt idx="0">
                  <c:v>改直付前</c:v>
                </c:pt>
                <c:pt idx="1">
                  <c:v>改直付后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94.0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sz="1400" b="1">
                  <a:solidFill>
                    <a:srgbClr val="15315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E2FB"/>
            </a:solidFill>
          </a:ln>
        </c:spPr>
        <c:txPr>
          <a:bodyPr/>
          <a:lstStyle/>
          <a:p>
            <a:pPr>
              <a:defRPr sz="1200">
                <a:solidFill>
                  <a:srgbClr val="3D47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我的第二条主线是抢票业务，聚焦的是票量。这里分享两个需求，它们有一个共同点：都是我们主动给了用户“可以出票”的承诺，用户也做出了行动，最后却没能出票。</a:t>
            </a:r>
          </a:p>
          <a:p/>
          <a:p>
            <a:r>
              <a:t>第一个是智能第二程。用户只抢到第一程时，系统会自动帮他生成第二程的捡漏单并完成扣位，再通过外呼或消息通知他确认出票。按 KANO 模型看，这是一个兴奋型需求，做到了是惊喜，做不到用户也不会抱怨；但一旦我们通知了用户、用户也付了款，他就会默认一定能出票。而受风控限制，付款环节容易失败，这个场景的出票率只有 72.8%。我们把这一步的付款统一改为直付，付款成功就能出票，出票率提升到 94%，预估年化票量增加 7 万张。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chart" Target="../charts/chart1.xml"/><Relationship Id="rId9" Type="http://schemas.openxmlformats.org/officeDocument/2006/relationships/image" Target="../media/image18.jp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抢票：智能第二程接直付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智能第二程——兴奋型需求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129284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WandMagicSparkl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31" y="1856232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生成第二程捡漏单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并完成扣位</a:t>
            </a:r>
          </a:p>
        </p:txBody>
      </p:sp>
      <p:sp>
        <p:nvSpPr>
          <p:cNvPr id="8" name="arrow"/>
          <p:cNvSpPr/>
          <p:nvPr/>
        </p:nvSpPr>
        <p:spPr>
          <a:xfrm>
            <a:off x="2459736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724912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3396996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PhoneVolum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444" y="185623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16352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外呼 / 消息通知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用户确认出票</a:t>
            </a:r>
          </a:p>
        </p:txBody>
      </p:sp>
      <p:sp>
        <p:nvSpPr>
          <p:cNvPr id="13" name="arrow"/>
          <p:cNvSpPr/>
          <p:nvPr/>
        </p:nvSpPr>
        <p:spPr>
          <a:xfrm>
            <a:off x="4727448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992624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5664708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Credit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156" y="1856232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84064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用户确认并付款</a:t>
            </a:r>
          </a:p>
        </p:txBody>
      </p:sp>
      <p:sp>
        <p:nvSpPr>
          <p:cNvPr id="18" name="arrow"/>
          <p:cNvSpPr/>
          <p:nvPr/>
        </p:nvSpPr>
        <p:spPr>
          <a:xfrm>
            <a:off x="6995159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7260336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7932419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7867" y="1856232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51775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01184" y="1463040"/>
            <a:ext cx="4416552" cy="1645920"/>
          </a:xfrm>
          <a:prstGeom prst="rect">
            <a:avLst/>
          </a:prstGeom>
          <a:noFill/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01184" y="315468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受风控限制，付款到出票环节容易失败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57600"/>
            <a:ext cx="4480560" cy="24231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Lightbulb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58768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70432" y="385876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KANO：兴奋型需求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89120"/>
            <a:ext cx="4069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通知 + 付款后，用户默认一定能出票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出票失败，体验比没有这个功能更差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303520"/>
            <a:ext cx="4023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30352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解决方案　</a:t>
            </a:r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确认出票统一改为直付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120640" y="3657600"/>
          <a:ext cx="2377440" cy="2423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7680960" y="3657600"/>
            <a:ext cx="1691640" cy="24231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26679" y="43434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预估年化票量</a:t>
            </a:r>
          </a:p>
          <a:p>
            <a:pPr algn="ctr">
              <a:spcBef>
                <a:spcPts val="600"/>
              </a:spcBef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pic>
        <p:nvPicPr>
          <p:cNvPr id="34" name="真实截图-车票待确认" descr="second_le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0689" y="1463040"/>
            <a:ext cx="2101062" cy="461772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