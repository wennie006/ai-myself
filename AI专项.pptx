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I 专项" id="{37cc0a7c-8e68-f783-b2ec-2672a972a991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lift</c:v>
                </c:pt>
              </c:strCache>
            </c:strRef>
          </c:tx>
          <c:spPr>
            <a:solidFill>
              <a:srgbClr val="287DFA"/>
            </a:solidFill>
            <a:effectLst/>
          </c:spPr>
          <c:invertIfNegative val="0"/>
          <c:dLbls>
            <c:numFmt formatCode="&quot;+&quot;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5315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正文完播率</c:v>
                  </c:pt>
                  <c:pt idx="1">
                    <c:v>总导流模块用户点击率</c:v>
                  </c:pt>
                  <c:pt idx="2">
                    <c:v>当天出票收益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7.7</c:v>
                </c:pt>
                <c:pt idx="1">
                  <c:v>12.2</c:v>
                </c:pt>
                <c:pt idx="2">
                  <c:v>14.4</c:v>
                </c:pt>
              </c:numCache>
            </c:numRef>
          </c:val>
        </c:ser>
        <c:dLbls>
          <c:numFmt formatCode="&quot;+&quot;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5315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D47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非火车问题占比</c:v>
                </c:pt>
              </c:strCache>
            </c:strRef>
          </c:tx>
          <c:spPr>
            <a:solidFill>
              <a:srgbClr val="287DFA"/>
            </a:solidFill>
            <a:ln w="25400" cap="flat">
              <a:solidFill>
                <a:srgbClr val="287DF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87DFA"/>
              </a:solidFill>
              <a:ln w="9525" cap="flat">
                <a:solidFill>
                  <a:srgbClr val="287D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8.6</c:v>
                  </c:pt>
                  <c:pt idx="1">
                    <c:v>8.7</c:v>
                  </c:pt>
                  <c:pt idx="2">
                    <c:v>8.8</c:v>
                  </c:pt>
                  <c:pt idx="3">
                    <c:v>8.9</c:v>
                  </c:pt>
                  <c:pt idx="4">
                    <c:v>8.11</c:v>
                  </c:pt>
                  <c:pt idx="5">
                    <c:v>8.12</c:v>
                  </c:pt>
                  <c:pt idx="6">
                    <c:v>8.13</c:v>
                  </c:pt>
                  <c:pt idx="7">
                    <c:v>8.15</c:v>
                  </c:pt>
                  <c:pt idx="8">
                    <c:v>8.16</c:v>
                  </c:pt>
                  <c:pt idx="9">
                    <c:v>8.17</c:v>
                  </c:pt>
                  <c:pt idx="10">
                    <c:v>8.18</c:v>
                  </c:pt>
                  <c:pt idx="11">
                    <c:v>8.19</c:v>
                  </c:pt>
                  <c:pt idx="12">
                    <c:v>8.20</c:v>
                  </c:pt>
                  <c:pt idx="13">
                    <c:v>8.21</c:v>
                  </c:pt>
                  <c:pt idx="14">
                    <c:v>8.22</c:v>
                  </c:pt>
                  <c:pt idx="15">
                    <c:v>8.23</c:v>
                  </c:pt>
                  <c:pt idx="16">
                    <c:v>8.24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10.2</c:v>
                </c:pt>
                <c:pt idx="1">
                  <c:v>10.1</c:v>
                </c:pt>
                <c:pt idx="2">
                  <c:v>10.2</c:v>
                </c:pt>
                <c:pt idx="3">
                  <c:v>9.5</c:v>
                </c:pt>
                <c:pt idx="4">
                  <c:v>6.6</c:v>
                </c:pt>
                <c:pt idx="5">
                  <c:v>6.7</c:v>
                </c:pt>
                <c:pt idx="6">
                  <c:v>6.2</c:v>
                </c:pt>
                <c:pt idx="7">
                  <c:v>5.5</c:v>
                </c:pt>
                <c:pt idx="8">
                  <c:v>5.4</c:v>
                </c:pt>
                <c:pt idx="9">
                  <c:v>5.6</c:v>
                </c:pt>
                <c:pt idx="10">
                  <c:v>5</c:v>
                </c:pt>
                <c:pt idx="11">
                  <c:v>5</c:v>
                </c:pt>
                <c:pt idx="12">
                  <c:v>4.5</c:v>
                </c:pt>
                <c:pt idx="13">
                  <c:v>4</c:v>
                </c:pt>
                <c:pt idx="14">
                  <c:v>4</c:v>
                </c:pt>
                <c:pt idx="15">
                  <c:v>4.5</c:v>
                </c:pt>
                <c:pt idx="16">
                  <c:v>4.2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D47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D9DEE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D475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先讲AI专项，这是我们从3月开始和集团问道对接的项目。一条问题依次经过四层：问道将被判定为火车的问题分发给火车agent、火车 Agent 对这个问题进行第二次的意图识别，根据意图识别标准判断它属于具体的哪一类场景，并调用对应的能力承接，无法承接的问题会被 Agent 拒答，并且退回给问道做兜底回答。
火车 Agent 的目标呈现为提升承接率和促进出票转化，也就是让问道分过来的问题能尽可能被回答，并且用贴合业务形态的方式促进出票转化；长期来看，能够让用户愿意持续使用，以火车agent为起点，让AI功能作为用户留存和转化的钩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负责的是"承接"这一环：即问题有没有正确分给火车，分到之后有没有被正确识别。在一期上线前，对比1000余条agent和算法的分类结果，补齐业务标准明确、但判定规则没覆盖的地方，修订意图识别框架，在一期上线前将火车agent的意图识别准确率从94.6%提升到98%；意图识别是承接的基础，上线后，实验组正文完播率 +7.7%，总导流模块用户点击率+12.2%，当天出票收益 +14.4%，也从用户行为侧面印证了意图识别工作的有效性。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火车agent上线后拒答率较高，一期上线时拒答率50.3%。原因有两类：一部分问题被错误识别成了当前不支持的类型，另一部分是问道错误分发过来的非火车问题。因此拒答治理也分两个思路。
一是继续细化火车的意图识别分类，我核查了火车票agent上线首日的600余条拒答情况，排查其中出现的意图识别错误的场景，推动由于意图识别分类错误导致的拒答从约5.1%下降到不到1%；
二是优化问道的分发策略。重点是既减少非火车问题的分发，又要避免误伤那些当前尚未支持，但后续计划支持的问题类型，造成火车问题的流量损失以及更长期的票量和收益损失。我复核了7.22-8.5的1000余条拒答原因为属于非火车问题的场景，逐条判断归属，整理出火车问题的边界标准，问道据此调整分发策略之后非火车问题占比从10%降到4.6%，剩余的拒答场景集中于agent能力缺口，可以直接作为下一步能力建设的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11274552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</a:rPr>
              <a:t>© Trip.com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2、主要项目 · AI 专项：火车 Agent 接入问道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我负责“承接”这一环：问题有没有正确分给火车，分到之后有没有被正确识别</a:t>
            </a:r>
            <a:endParaRPr lang="en-US" sz="1700" dirty="0"/>
          </a:p>
        </p:txBody>
      </p:sp>
      <p:sp>
        <p:nvSpPr>
          <p:cNvPr id="4" name="chain-label"/>
          <p:cNvSpPr txBox="1"/>
          <p:nvPr/>
        </p:nvSpPr>
        <p:spPr>
          <a:xfrm>
            <a:off x="4572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7DFA"/>
                </a:solidFill>
              </a:rPr>
              <a:t>项目链路</a:t>
            </a:r>
            <a:endParaRPr lang="en-US" sz="1600" dirty="0"/>
          </a:p>
        </p:txBody>
      </p:sp>
      <p:sp>
        <p:nvSpPr>
          <p:cNvPr id="5" name="chain-node-0"/>
          <p:cNvSpPr/>
          <p:nvPr/>
        </p:nvSpPr>
        <p:spPr>
          <a:xfrm>
            <a:off x="457200" y="196596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6" name="chain-text-0"/>
          <p:cNvSpPr txBox="1"/>
          <p:nvPr/>
        </p:nvSpPr>
        <p:spPr>
          <a:xfrm>
            <a:off x="502920" y="196596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用户在问道提问</a:t>
            </a:r>
            <a:endParaRPr lang="en-US" sz="1300" dirty="0"/>
          </a:p>
        </p:txBody>
      </p:sp>
      <p:sp>
        <p:nvSpPr>
          <p:cNvPr id="7" name="chain-arrow-0"/>
          <p:cNvSpPr/>
          <p:nvPr/>
        </p:nvSpPr>
        <p:spPr>
          <a:xfrm>
            <a:off x="1993392" y="2299716"/>
            <a:ext cx="219456" cy="201168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8" name="chain-node-1"/>
          <p:cNvSpPr/>
          <p:nvPr/>
        </p:nvSpPr>
        <p:spPr>
          <a:xfrm>
            <a:off x="2267712" y="196596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FFF1E6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9" name="chain-text-1"/>
          <p:cNvSpPr txBox="1"/>
          <p:nvPr/>
        </p:nvSpPr>
        <p:spPr>
          <a:xfrm>
            <a:off x="2313432" y="196596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1A"/>
                </a:solidFill>
              </a:rPr>
              <a:t>问道分发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7A1A"/>
                </a:solidFill>
              </a:rPr>
              <a:t>判断是否属于火车</a:t>
            </a:r>
            <a:endParaRPr lang="en-US" sz="1300" dirty="0"/>
          </a:p>
        </p:txBody>
      </p:sp>
      <p:sp>
        <p:nvSpPr>
          <p:cNvPr id="10" name="chain-arrow-1"/>
          <p:cNvSpPr/>
          <p:nvPr/>
        </p:nvSpPr>
        <p:spPr>
          <a:xfrm>
            <a:off x="3803904" y="2299716"/>
            <a:ext cx="219456" cy="201168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1" name="chain-node-2"/>
          <p:cNvSpPr/>
          <p:nvPr/>
        </p:nvSpPr>
        <p:spPr>
          <a:xfrm>
            <a:off x="4078224" y="196596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FFF1E6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2" name="chain-text-2"/>
          <p:cNvSpPr txBox="1"/>
          <p:nvPr/>
        </p:nvSpPr>
        <p:spPr>
          <a:xfrm>
            <a:off x="4123944" y="196596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1A"/>
                </a:solidFill>
              </a:rPr>
              <a:t>火车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7A1A"/>
                </a:solidFill>
              </a:rPr>
              <a:t>意图识别</a:t>
            </a:r>
            <a:endParaRPr lang="en-US" sz="1300" dirty="0"/>
          </a:p>
        </p:txBody>
      </p:sp>
      <p:sp>
        <p:nvSpPr>
          <p:cNvPr id="13" name="chain-arrow-2"/>
          <p:cNvSpPr/>
          <p:nvPr/>
        </p:nvSpPr>
        <p:spPr>
          <a:xfrm>
            <a:off x="5614416" y="2299716"/>
            <a:ext cx="219456" cy="201168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4" name="chain-node-3"/>
          <p:cNvSpPr/>
          <p:nvPr/>
        </p:nvSpPr>
        <p:spPr>
          <a:xfrm>
            <a:off x="5888736" y="196596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5" name="chain-text-3"/>
          <p:cNvSpPr txBox="1"/>
          <p:nvPr/>
        </p:nvSpPr>
        <p:spPr>
          <a:xfrm>
            <a:off x="5934456" y="196596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调用能力承接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LUI 商卡 / GUI</a:t>
            </a:r>
            <a:endParaRPr lang="en-US" sz="1300" dirty="0"/>
          </a:p>
        </p:txBody>
      </p:sp>
      <p:sp>
        <p:nvSpPr>
          <p:cNvPr id="16" name="mine-label"/>
          <p:cNvSpPr txBox="1"/>
          <p:nvPr/>
        </p:nvSpPr>
        <p:spPr>
          <a:xfrm>
            <a:off x="2267712" y="1655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A1A"/>
                </a:solidFill>
              </a:rPr>
              <a:t>我负责</a:t>
            </a:r>
            <a:endParaRPr lang="en-US" sz="1200" dirty="0"/>
          </a:p>
        </p:txBody>
      </p:sp>
      <p:sp>
        <p:nvSpPr>
          <p:cNvPr id="17" name="refuse-arrow"/>
          <p:cNvSpPr/>
          <p:nvPr/>
        </p:nvSpPr>
        <p:spPr>
          <a:xfrm>
            <a:off x="4718304" y="2889504"/>
            <a:ext cx="201168" cy="274320"/>
          </a:xfrm>
          <a:prstGeom prst="down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8" name="refuse-box"/>
          <p:cNvSpPr/>
          <p:nvPr/>
        </p:nvSpPr>
        <p:spPr>
          <a:xfrm>
            <a:off x="3575304" y="3218688"/>
            <a:ext cx="248716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refuse-text"/>
          <p:cNvSpPr txBox="1"/>
          <p:nvPr/>
        </p:nvSpPr>
        <p:spPr>
          <a:xfrm>
            <a:off x="3575304" y="32186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无法承接 → 拒答，退回问道兜底</a:t>
            </a:r>
            <a:endParaRPr lang="en-US" sz="1200" dirty="0"/>
          </a:p>
        </p:txBody>
      </p:sp>
      <p:sp>
        <p:nvSpPr>
          <p:cNvPr id="20" name="goal-label"/>
          <p:cNvSpPr txBox="1"/>
          <p:nvPr/>
        </p:nvSpPr>
        <p:spPr>
          <a:xfrm>
            <a:off x="786384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7DFA"/>
                </a:solidFill>
              </a:rPr>
              <a:t>项目目标与团队做法</a:t>
            </a:r>
            <a:endParaRPr lang="en-US" sz="1600" dirty="0"/>
          </a:p>
        </p:txBody>
      </p:sp>
      <p:graphicFrame>
        <p:nvGraphicFramePr>
          <p:cNvPr id="2" name="goa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920240"/>
          <a:ext cx="386791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633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目标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团队做法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D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315E"/>
                          </a:solidFill>
                        </a:rPr>
                        <a:t>提升承接率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</a:rPr>
                        <a:t>细化意图识别；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</a:rPr>
                        <a:t>扩充可回答范围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315E"/>
                          </a:solidFill>
                        </a:rPr>
                        <a:t>促进出票转化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</a:rPr>
                        <a:t>LUI 车次商卡；GUI 直接操作列表页；首页和列表页语音悬浮球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  <p:sp>
        <p:nvSpPr>
          <p:cNvPr id="22" name="tl-label"/>
          <p:cNvSpPr txBox="1"/>
          <p:nvPr/>
        </p:nvSpPr>
        <p:spPr>
          <a:xfrm>
            <a:off x="45720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7DFA"/>
                </a:solidFill>
              </a:rPr>
              <a:t>专项进展</a:t>
            </a:r>
            <a:endParaRPr lang="en-US" sz="1600" dirty="0"/>
          </a:p>
        </p:txBody>
      </p:sp>
      <p:sp>
        <p:nvSpPr>
          <p:cNvPr id="23" name="tl-axis"/>
          <p:cNvSpPr/>
          <p:nvPr/>
        </p:nvSpPr>
        <p:spPr>
          <a:xfrm>
            <a:off x="822960" y="5074920"/>
            <a:ext cx="10515600" cy="0"/>
          </a:xfrm>
          <a:prstGeom prst="line">
            <a:avLst/>
          </a:prstGeom>
          <a:noFill/>
          <a:ln w="25400">
            <a:solidFill>
              <a:srgbClr val="8FB8F5"/>
            </a:solidFill>
            <a:prstDash val="solid"/>
            <a:tailEnd type="triangle"/>
          </a:ln>
        </p:spPr>
      </p:sp>
      <p:sp>
        <p:nvSpPr>
          <p:cNvPr id="24" name="tl-dot-0"/>
          <p:cNvSpPr/>
          <p:nvPr/>
        </p:nvSpPr>
        <p:spPr>
          <a:xfrm>
            <a:off x="877824" y="4992624"/>
            <a:ext cx="164592" cy="164592"/>
          </a:xfrm>
          <a:prstGeom prst="ellipse">
            <a:avLst/>
          </a:prstGeom>
          <a:solidFill>
            <a:srgbClr val="287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l-date-0"/>
          <p:cNvSpPr txBox="1"/>
          <p:nvPr/>
        </p:nvSpPr>
        <p:spPr>
          <a:xfrm>
            <a:off x="137160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3 月</a:t>
            </a:r>
            <a:endParaRPr lang="en-US" sz="1300" dirty="0"/>
          </a:p>
        </p:txBody>
      </p:sp>
      <p:sp>
        <p:nvSpPr>
          <p:cNvPr id="26" name="tl-text-0"/>
          <p:cNvSpPr txBox="1"/>
          <p:nvPr/>
        </p:nvSpPr>
        <p:spPr>
          <a:xfrm>
            <a:off x="91440" y="5239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与问道对接，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项目启动</a:t>
            </a:r>
            <a:endParaRPr lang="en-US" sz="1100" dirty="0"/>
          </a:p>
        </p:txBody>
      </p:sp>
      <p:sp>
        <p:nvSpPr>
          <p:cNvPr id="27" name="tl-dot-1"/>
          <p:cNvSpPr/>
          <p:nvPr/>
        </p:nvSpPr>
        <p:spPr>
          <a:xfrm>
            <a:off x="2871216" y="4992624"/>
            <a:ext cx="164592" cy="164592"/>
          </a:xfrm>
          <a:prstGeom prst="ellipse">
            <a:avLst/>
          </a:prstGeom>
          <a:solidFill>
            <a:srgbClr val="287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l-date-1"/>
          <p:cNvSpPr txBox="1"/>
          <p:nvPr/>
        </p:nvSpPr>
        <p:spPr>
          <a:xfrm>
            <a:off x="2130552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6.8</a:t>
            </a:r>
            <a:endParaRPr lang="en-US" sz="1300" dirty="0"/>
          </a:p>
        </p:txBody>
      </p:sp>
      <p:sp>
        <p:nvSpPr>
          <p:cNvPr id="29" name="tl-text-1"/>
          <p:cNvSpPr txBox="1"/>
          <p:nvPr/>
        </p:nvSpPr>
        <p:spPr>
          <a:xfrm>
            <a:off x="2084832" y="5239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一期接入问道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订前线路查询</a:t>
            </a:r>
            <a:endParaRPr lang="en-US" sz="1100" dirty="0"/>
          </a:p>
        </p:txBody>
      </p:sp>
      <p:sp>
        <p:nvSpPr>
          <p:cNvPr id="30" name="tl-dot-2"/>
          <p:cNvSpPr/>
          <p:nvPr/>
        </p:nvSpPr>
        <p:spPr>
          <a:xfrm>
            <a:off x="4864608" y="4992624"/>
            <a:ext cx="164592" cy="164592"/>
          </a:xfrm>
          <a:prstGeom prst="ellipse">
            <a:avLst/>
          </a:prstGeom>
          <a:solidFill>
            <a:srgbClr val="287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l-date-2"/>
          <p:cNvSpPr txBox="1"/>
          <p:nvPr/>
        </p:nvSpPr>
        <p:spPr>
          <a:xfrm>
            <a:off x="4123944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7.15</a:t>
            </a:r>
            <a:endParaRPr lang="en-US" sz="1300" dirty="0"/>
          </a:p>
        </p:txBody>
      </p:sp>
      <p:sp>
        <p:nvSpPr>
          <p:cNvPr id="32" name="tl-text-2"/>
          <p:cNvSpPr txBox="1"/>
          <p:nvPr/>
        </p:nvSpPr>
        <p:spPr>
          <a:xfrm>
            <a:off x="4078224" y="5239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一期全量</a:t>
            </a:r>
            <a:endParaRPr lang="en-US" sz="1100" dirty="0"/>
          </a:p>
        </p:txBody>
      </p:sp>
      <p:sp>
        <p:nvSpPr>
          <p:cNvPr id="33" name="tl-dot-3"/>
          <p:cNvSpPr/>
          <p:nvPr/>
        </p:nvSpPr>
        <p:spPr>
          <a:xfrm>
            <a:off x="6858000" y="4992624"/>
            <a:ext cx="164592" cy="164592"/>
          </a:xfrm>
          <a:prstGeom prst="ellipse">
            <a:avLst/>
          </a:prstGeom>
          <a:solidFill>
            <a:srgbClr val="287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l-date-3"/>
          <p:cNvSpPr txBox="1"/>
          <p:nvPr/>
        </p:nvSpPr>
        <p:spPr>
          <a:xfrm>
            <a:off x="6117336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7.16</a:t>
            </a:r>
            <a:endParaRPr lang="en-US" sz="1300" dirty="0"/>
          </a:p>
        </p:txBody>
      </p:sp>
      <p:sp>
        <p:nvSpPr>
          <p:cNvPr id="35" name="tl-text-3"/>
          <p:cNvSpPr txBox="1"/>
          <p:nvPr/>
        </p:nvSpPr>
        <p:spPr>
          <a:xfrm>
            <a:off x="6071616" y="5239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二期接入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语音助手 + GUI</a:t>
            </a:r>
            <a:endParaRPr lang="en-US" sz="1100" dirty="0"/>
          </a:p>
        </p:txBody>
      </p:sp>
      <p:sp>
        <p:nvSpPr>
          <p:cNvPr id="36" name="tl-dot-4"/>
          <p:cNvSpPr/>
          <p:nvPr/>
        </p:nvSpPr>
        <p:spPr>
          <a:xfrm>
            <a:off x="8851392" y="4992624"/>
            <a:ext cx="164592" cy="164592"/>
          </a:xfrm>
          <a:prstGeom prst="ellipse">
            <a:avLst/>
          </a:prstGeom>
          <a:solidFill>
            <a:srgbClr val="287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l-date-4"/>
          <p:cNvSpPr txBox="1"/>
          <p:nvPr/>
        </p:nvSpPr>
        <p:spPr>
          <a:xfrm>
            <a:off x="8110728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8.10</a:t>
            </a:r>
            <a:endParaRPr lang="en-US" sz="1300" dirty="0"/>
          </a:p>
        </p:txBody>
      </p:sp>
      <p:sp>
        <p:nvSpPr>
          <p:cNvPr id="38" name="tl-text-4"/>
          <p:cNvSpPr txBox="1"/>
          <p:nvPr/>
        </p:nvSpPr>
        <p:spPr>
          <a:xfrm>
            <a:off x="8065008" y="5239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问道调整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分发策略</a:t>
            </a:r>
            <a:endParaRPr lang="en-US" sz="1100" dirty="0"/>
          </a:p>
        </p:txBody>
      </p:sp>
      <p:sp>
        <p:nvSpPr>
          <p:cNvPr id="39" name="tl-dot-5"/>
          <p:cNvSpPr/>
          <p:nvPr/>
        </p:nvSpPr>
        <p:spPr>
          <a:xfrm>
            <a:off x="10844784" y="4992624"/>
            <a:ext cx="164592" cy="164592"/>
          </a:xfrm>
          <a:prstGeom prst="ellipse">
            <a:avLst/>
          </a:prstGeom>
          <a:solidFill>
            <a:srgbClr val="287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l-date-5"/>
          <p:cNvSpPr txBox="1"/>
          <p:nvPr/>
        </p:nvSpPr>
        <p:spPr>
          <a:xfrm>
            <a:off x="10104120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8 月中</a:t>
            </a:r>
            <a:endParaRPr lang="en-US" sz="1300" dirty="0"/>
          </a:p>
        </p:txBody>
      </p:sp>
      <p:sp>
        <p:nvSpPr>
          <p:cNvPr id="41" name="tl-text-5"/>
          <p:cNvSpPr txBox="1"/>
          <p:nvPr/>
        </p:nvSpPr>
        <p:spPr>
          <a:xfrm>
            <a:off x="10058400" y="5239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完成交接</a:t>
            </a:r>
            <a:endParaRPr lang="en-US" sz="1100" dirty="0"/>
          </a:p>
        </p:txBody>
      </p:sp>
      <p:sp>
        <p:nvSpPr>
          <p:cNvPr id="42" name="mine-box-0"/>
          <p:cNvSpPr/>
          <p:nvPr/>
        </p:nvSpPr>
        <p:spPr>
          <a:xfrm>
            <a:off x="1042416" y="5833872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1E6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3" name="mine-text-0"/>
          <p:cNvSpPr txBox="1"/>
          <p:nvPr/>
        </p:nvSpPr>
        <p:spPr>
          <a:xfrm>
            <a:off x="1042416" y="5833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A1A"/>
                </a:solidFill>
              </a:rPr>
              <a:t>上线前：意图识别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7A1A"/>
                </a:solidFill>
              </a:rPr>
              <a:t>交叉验证与框架修订</a:t>
            </a:r>
            <a:endParaRPr lang="en-US" sz="1050" dirty="0"/>
          </a:p>
        </p:txBody>
      </p:sp>
      <p:sp>
        <p:nvSpPr>
          <p:cNvPr id="44" name="mine-box-1"/>
          <p:cNvSpPr/>
          <p:nvPr/>
        </p:nvSpPr>
        <p:spPr>
          <a:xfrm>
            <a:off x="3035808" y="5833872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1E6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5" name="mine-text-1"/>
          <p:cNvSpPr txBox="1"/>
          <p:nvPr/>
        </p:nvSpPr>
        <p:spPr>
          <a:xfrm>
            <a:off x="3035808" y="5833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A1A"/>
                </a:solidFill>
              </a:rPr>
              <a:t>上线首日：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7A1A"/>
                </a:solidFill>
              </a:rPr>
              <a:t>拒答核查</a:t>
            </a:r>
            <a:endParaRPr lang="en-US" sz="1050" dirty="0"/>
          </a:p>
        </p:txBody>
      </p:sp>
      <p:sp>
        <p:nvSpPr>
          <p:cNvPr id="46" name="mine-box-2"/>
          <p:cNvSpPr/>
          <p:nvPr/>
        </p:nvSpPr>
        <p:spPr>
          <a:xfrm>
            <a:off x="7022592" y="5833872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1E6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7" name="mine-text-2"/>
          <p:cNvSpPr txBox="1"/>
          <p:nvPr/>
        </p:nvSpPr>
        <p:spPr>
          <a:xfrm>
            <a:off x="7022592" y="5833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A1A"/>
                </a:solidFill>
              </a:rPr>
              <a:t>7.22–8.5：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7A1A"/>
                </a:solidFill>
              </a:rPr>
              <a:t>非火车类拒答复核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2、主要项目 · AI 专项：意图识别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意图识别是承接的基础：分类准，问题才能调用合适的能力回答</a:t>
            </a:r>
            <a:endParaRPr lang="en-US" sz="1700" dirty="0"/>
          </a:p>
        </p:txBody>
      </p:sp>
      <p:sp>
        <p:nvSpPr>
          <p:cNvPr id="4" name="left-card"/>
          <p:cNvSpPr/>
          <p:nvPr/>
        </p:nvSpPr>
        <p:spPr>
          <a:xfrm>
            <a:off x="457200" y="155448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left-head"/>
          <p:cNvSpPr txBox="1"/>
          <p:nvPr/>
        </p:nvSpPr>
        <p:spPr>
          <a:xfrm>
            <a:off x="7315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7DFA"/>
                </a:solidFill>
              </a:rPr>
              <a:t>我做了什么（一期上线前）</a:t>
            </a:r>
            <a:endParaRPr lang="en-US" sz="1600" dirty="0"/>
          </a:p>
        </p:txBody>
      </p:sp>
      <p:sp>
        <p:nvSpPr>
          <p:cNvPr id="6" name="step-dot-0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7" name="step-num-0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tep-head-0"/>
          <p:cNvSpPr txBox="1"/>
          <p:nvPr/>
        </p:nvSpPr>
        <p:spPr>
          <a:xfrm>
            <a:off x="1371600" y="22219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交叉对比</a:t>
            </a:r>
            <a:endParaRPr lang="en-US" sz="1400" dirty="0"/>
          </a:p>
        </p:txBody>
      </p:sp>
      <p:sp>
        <p:nvSpPr>
          <p:cNvPr id="9" name="step-body-0"/>
          <p:cNvSpPr txBox="1"/>
          <p:nvPr/>
        </p:nvSpPr>
        <p:spPr>
          <a:xfrm>
            <a:off x="1371600" y="24963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对比 1000 余条线上 query 中 Agent 与算法的分类结果</a:t>
            </a:r>
            <a:endParaRPr lang="en-US" sz="1200" dirty="0"/>
          </a:p>
        </p:txBody>
      </p:sp>
      <p:sp>
        <p:nvSpPr>
          <p:cNvPr id="10" name="step-dot-1"/>
          <p:cNvSpPr/>
          <p:nvPr/>
        </p:nvSpPr>
        <p:spPr>
          <a:xfrm>
            <a:off x="731520" y="2990088"/>
            <a:ext cx="457200" cy="457200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1" name="step-num-1"/>
          <p:cNvSpPr txBox="1"/>
          <p:nvPr/>
        </p:nvSpPr>
        <p:spPr>
          <a:xfrm>
            <a:off x="73152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-head-1"/>
          <p:cNvSpPr txBox="1"/>
          <p:nvPr/>
        </p:nvSpPr>
        <p:spPr>
          <a:xfrm>
            <a:off x="137160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定位缺口</a:t>
            </a:r>
            <a:endParaRPr lang="en-US" sz="1400" dirty="0"/>
          </a:p>
        </p:txBody>
      </p:sp>
      <p:sp>
        <p:nvSpPr>
          <p:cNvPr id="13" name="step-body-1"/>
          <p:cNvSpPr txBox="1"/>
          <p:nvPr/>
        </p:nvSpPr>
        <p:spPr>
          <a:xfrm>
            <a:off x="1371600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找出业务标准明确、但判定规则没有覆盖的场景</a:t>
            </a:r>
            <a:endParaRPr lang="en-US" sz="1200" dirty="0"/>
          </a:p>
        </p:txBody>
      </p:sp>
      <p:sp>
        <p:nvSpPr>
          <p:cNvPr id="14" name="step-dot-2"/>
          <p:cNvSpPr/>
          <p:nvPr/>
        </p:nvSpPr>
        <p:spPr>
          <a:xfrm>
            <a:off x="731520" y="3739896"/>
            <a:ext cx="457200" cy="457200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5" name="step-num-2"/>
          <p:cNvSpPr txBox="1"/>
          <p:nvPr/>
        </p:nvSpPr>
        <p:spPr>
          <a:xfrm>
            <a:off x="73152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tep-head-2"/>
          <p:cNvSpPr txBox="1"/>
          <p:nvPr/>
        </p:nvSpPr>
        <p:spPr>
          <a:xfrm>
            <a:off x="1371600" y="37216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修订框架</a:t>
            </a:r>
            <a:endParaRPr lang="en-US" sz="1400" dirty="0"/>
          </a:p>
        </p:txBody>
      </p:sp>
      <p:sp>
        <p:nvSpPr>
          <p:cNvPr id="17" name="step-body-2"/>
          <p:cNvSpPr txBox="1"/>
          <p:nvPr/>
        </p:nvSpPr>
        <p:spPr>
          <a:xfrm>
            <a:off x="1371600" y="39959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补齐判定规则，修订意图识别框架并多轮验证</a:t>
            </a:r>
            <a:endParaRPr lang="en-US" sz="1200" dirty="0"/>
          </a:p>
        </p:txBody>
      </p:sp>
      <p:sp>
        <p:nvSpPr>
          <p:cNvPr id="18" name="kpi-card"/>
          <p:cNvSpPr/>
          <p:nvPr/>
        </p:nvSpPr>
        <p:spPr>
          <a:xfrm>
            <a:off x="731520" y="461772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kpi-label"/>
          <p:cNvSpPr txBox="1"/>
          <p:nvPr/>
        </p:nvSpPr>
        <p:spPr>
          <a:xfrm>
            <a:off x="96012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意图识别准确率</a:t>
            </a:r>
            <a:endParaRPr lang="en-US" sz="1300" dirty="0"/>
          </a:p>
        </p:txBody>
      </p:sp>
      <p:sp>
        <p:nvSpPr>
          <p:cNvPr id="20" name="kpi-value"/>
          <p:cNvSpPr txBox="1"/>
          <p:nvPr/>
        </p:nvSpPr>
        <p:spPr>
          <a:xfrm>
            <a:off x="960120" y="5074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87DFA"/>
                </a:solidFill>
              </a:rPr>
              <a:t>94.6%  →  98%</a:t>
            </a:r>
            <a:endParaRPr lang="en-US" sz="4000" dirty="0"/>
          </a:p>
        </p:txBody>
      </p:sp>
      <p:sp>
        <p:nvSpPr>
          <p:cNvPr id="21" name="right-head"/>
          <p:cNvSpPr txBox="1"/>
          <p:nvPr/>
        </p:nvSpPr>
        <p:spPr>
          <a:xfrm>
            <a:off x="630936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7DFA"/>
                </a:solidFill>
              </a:rPr>
              <a:t>上线后：一期实验组 vs 问道 Agent</a:t>
            </a:r>
            <a:endParaRPr lang="en-US" sz="1600" dirty="0"/>
          </a:p>
        </p:txBody>
      </p:sp>
      <p:sp>
        <p:nvSpPr>
          <p:cNvPr id="22" name="right-cap"/>
          <p:cNvSpPr txBox="1"/>
          <p:nvPr/>
        </p:nvSpPr>
        <p:spPr>
          <a:xfrm>
            <a:off x="6309360" y="20848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</a:rPr>
              <a:t>实验周期 6.11–7.7，各指标 lift</a:t>
            </a:r>
            <a:endParaRPr lang="en-US" sz="1100" dirty="0"/>
          </a:p>
        </p:txBody>
      </p:sp>
      <p:graphicFrame>
        <p:nvGraphicFramePr>
          <p:cNvPr id="23" name="lift-chart" descr=""/>
          <p:cNvGraphicFramePr/>
          <p:nvPr/>
        </p:nvGraphicFramePr>
        <p:xfrm>
          <a:off x="6217920" y="237744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concl-card"/>
          <p:cNvSpPr/>
          <p:nvPr/>
        </p:nvSpPr>
        <p:spPr>
          <a:xfrm>
            <a:off x="6309360" y="566928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5" name="concl-text"/>
          <p:cNvSpPr txBox="1"/>
          <p:nvPr/>
        </p:nvSpPr>
        <p:spPr>
          <a:xfrm>
            <a:off x="6492240" y="5669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从用户行为侧面印证了意图识别工作的有效性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2、主要项目 · AI 专项：拒答治理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一期上线时拒答率 </a:t>
            </a:r>
            <a:pPr algn="l" indent="0" marL="0">
              <a:buNone/>
            </a:pPr>
            <a:r>
              <a:rPr lang="en-US" sz="1700" b="1" dirty="0">
                <a:solidFill>
                  <a:srgbClr val="FF7A1A"/>
                </a:solidFill>
              </a:rPr>
              <a:t>50.3%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：一部分问题被错误识别为当前不支持的类型，一部分是问道错误分发的非火车问题</a:t>
            </a:r>
            <a:endParaRPr lang="en-US" sz="1700" dirty="0"/>
          </a:p>
        </p:txBody>
      </p:sp>
      <p:sp>
        <p:nvSpPr>
          <p:cNvPr id="4" name="col-head-bg-0"/>
          <p:cNvSpPr/>
          <p:nvPr/>
        </p:nvSpPr>
        <p:spPr>
          <a:xfrm>
            <a:off x="457200" y="1508760"/>
            <a:ext cx="5486400" cy="502920"/>
          </a:xfrm>
          <a:prstGeom prst="rect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5" name="col-head-0"/>
          <p:cNvSpPr txBox="1"/>
          <p:nvPr/>
        </p:nvSpPr>
        <p:spPr>
          <a:xfrm>
            <a:off x="457200" y="1508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思路一：细化火车的意图识别分类</a:t>
            </a:r>
            <a:endParaRPr lang="en-US" sz="1700" dirty="0"/>
          </a:p>
        </p:txBody>
      </p:sp>
      <p:sp>
        <p:nvSpPr>
          <p:cNvPr id="6" name="col-head-bg-1"/>
          <p:cNvSpPr/>
          <p:nvPr/>
        </p:nvSpPr>
        <p:spPr>
          <a:xfrm>
            <a:off x="6245352" y="1508760"/>
            <a:ext cx="5486400" cy="502920"/>
          </a:xfrm>
          <a:prstGeom prst="rect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7" name="col-head-1"/>
          <p:cNvSpPr txBox="1"/>
          <p:nvPr/>
        </p:nvSpPr>
        <p:spPr>
          <a:xfrm>
            <a:off x="6245352" y="1508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思路二：优化问道的分发策略</a:t>
            </a:r>
            <a:endParaRPr lang="en-US" sz="1700" dirty="0"/>
          </a:p>
        </p:txBody>
      </p:sp>
      <p:sp>
        <p:nvSpPr>
          <p:cNvPr id="8" name="c1-do-h"/>
          <p:cNvSpPr txBox="1"/>
          <p:nvPr/>
        </p:nvSpPr>
        <p:spPr>
          <a:xfrm>
            <a:off x="54864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做法</a:t>
            </a:r>
            <a:endParaRPr lang="en-US" sz="1400" dirty="0"/>
          </a:p>
        </p:txBody>
      </p:sp>
      <p:sp>
        <p:nvSpPr>
          <p:cNvPr id="9" name="c1-do"/>
          <p:cNvSpPr txBox="1"/>
          <p:nvPr/>
        </p:nvSpPr>
        <p:spPr>
          <a:xfrm>
            <a:off x="548640" y="25146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4757"/>
                </a:solidFill>
              </a:rPr>
              <a:t>核查火车票 Agent 上线首日 600 余条拒答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4757"/>
                </a:solidFill>
              </a:rPr>
              <a:t>排查其中出现意图识别错误的场景，修订分类规则</a:t>
            </a:r>
            <a:endParaRPr lang="en-US" sz="1300" dirty="0"/>
          </a:p>
        </p:txBody>
      </p:sp>
      <p:sp>
        <p:nvSpPr>
          <p:cNvPr id="10" name="c1-res-card"/>
          <p:cNvSpPr/>
          <p:nvPr/>
        </p:nvSpPr>
        <p:spPr>
          <a:xfrm>
            <a:off x="457200" y="352044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1" name="c1-res-h"/>
          <p:cNvSpPr txBox="1"/>
          <p:nvPr/>
        </p:nvSpPr>
        <p:spPr>
          <a:xfrm>
            <a:off x="73152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7DFA"/>
                </a:solidFill>
              </a:rPr>
              <a:t>结果</a:t>
            </a:r>
            <a:endParaRPr lang="en-US" sz="1400" dirty="0"/>
          </a:p>
        </p:txBody>
      </p:sp>
      <p:sp>
        <p:nvSpPr>
          <p:cNvPr id="12" name="c1-kpi-label"/>
          <p:cNvSpPr txBox="1"/>
          <p:nvPr/>
        </p:nvSpPr>
        <p:spPr>
          <a:xfrm>
            <a:off x="73152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由于意图识别分类错误导致的拒答</a:t>
            </a:r>
            <a:endParaRPr lang="en-US" sz="1300" dirty="0"/>
          </a:p>
        </p:txBody>
      </p:sp>
      <p:sp>
        <p:nvSpPr>
          <p:cNvPr id="13" name="c1-kpi"/>
          <p:cNvSpPr txBox="1"/>
          <p:nvPr/>
        </p:nvSpPr>
        <p:spPr>
          <a:xfrm>
            <a:off x="731520" y="44805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87DFA"/>
                </a:solidFill>
              </a:rPr>
              <a:t>约 5.1%  →  &lt;1%</a:t>
            </a:r>
            <a:endParaRPr lang="en-US" sz="4000" dirty="0"/>
          </a:p>
        </p:txBody>
      </p:sp>
      <p:sp>
        <p:nvSpPr>
          <p:cNvPr id="14" name="c2-do-h"/>
          <p:cNvSpPr txBox="1"/>
          <p:nvPr/>
        </p:nvSpPr>
        <p:spPr>
          <a:xfrm>
            <a:off x="6336792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做法</a:t>
            </a:r>
            <a:endParaRPr lang="en-US" sz="1400" dirty="0"/>
          </a:p>
        </p:txBody>
      </p:sp>
      <p:sp>
        <p:nvSpPr>
          <p:cNvPr id="15" name="c2-do"/>
          <p:cNvSpPr txBox="1"/>
          <p:nvPr/>
        </p:nvSpPr>
        <p:spPr>
          <a:xfrm>
            <a:off x="6336792" y="25146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4757"/>
                </a:solidFill>
              </a:rPr>
              <a:t>目标：减少非火车问题的分发，同时避免误伤当前尚未支持、后续计划支持的火车问题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4757"/>
                </a:solidFill>
              </a:rPr>
              <a:t>复核 7.22–8.5 的 1000 余条非火车类拒答，逐条判断归属，整理火车问题的边界标准</a:t>
            </a:r>
            <a:endParaRPr lang="en-US" sz="1300" dirty="0"/>
          </a:p>
        </p:txBody>
      </p:sp>
      <p:sp>
        <p:nvSpPr>
          <p:cNvPr id="16" name="c2-res-card"/>
          <p:cNvSpPr/>
          <p:nvPr/>
        </p:nvSpPr>
        <p:spPr>
          <a:xfrm>
            <a:off x="6245352" y="352044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7" name="c2-res-h"/>
          <p:cNvSpPr txBox="1"/>
          <p:nvPr/>
        </p:nvSpPr>
        <p:spPr>
          <a:xfrm>
            <a:off x="6519672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7DFA"/>
                </a:solidFill>
              </a:rPr>
              <a:t>结果</a:t>
            </a:r>
            <a:endParaRPr lang="en-US" sz="1400" dirty="0"/>
          </a:p>
        </p:txBody>
      </p:sp>
      <p:sp>
        <p:nvSpPr>
          <p:cNvPr id="18" name="c2-kpi-label"/>
          <p:cNvSpPr txBox="1"/>
          <p:nvPr/>
        </p:nvSpPr>
        <p:spPr>
          <a:xfrm>
            <a:off x="6519672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分给火车的问题中，非火车问题占比</a:t>
            </a:r>
            <a:endParaRPr lang="en-US" sz="1300" dirty="0"/>
          </a:p>
        </p:txBody>
      </p:sp>
      <p:sp>
        <p:nvSpPr>
          <p:cNvPr id="19" name="c2-kpi"/>
          <p:cNvSpPr txBox="1"/>
          <p:nvPr/>
        </p:nvSpPr>
        <p:spPr>
          <a:xfrm>
            <a:off x="6519672" y="4663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87DFA"/>
                </a:solidFill>
              </a:rPr>
              <a:t>10% → 4.6%</a:t>
            </a:r>
            <a:endParaRPr lang="en-US" sz="2800" dirty="0"/>
          </a:p>
        </p:txBody>
      </p:sp>
      <p:sp>
        <p:nvSpPr>
          <p:cNvPr id="20" name="c2-note"/>
          <p:cNvSpPr txBox="1"/>
          <p:nvPr/>
        </p:nvSpPr>
        <p:spPr>
          <a:xfrm>
            <a:off x="6519672" y="5349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</a:rPr>
              <a:t>剩余拒答集中于 Agent 能力缺口，可直接作为下一步能力建设的依据</a:t>
            </a:r>
            <a:endParaRPr lang="en-US" sz="1100" dirty="0"/>
          </a:p>
        </p:txBody>
      </p:sp>
      <p:sp>
        <p:nvSpPr>
          <p:cNvPr id="21" name="c2-chart-cap"/>
          <p:cNvSpPr txBox="1"/>
          <p:nvPr/>
        </p:nvSpPr>
        <p:spPr>
          <a:xfrm>
            <a:off x="923544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757"/>
                </a:solidFill>
              </a:rPr>
              <a:t>逐日非火车问题占比   </a:t>
            </a:r>
            <a:pPr indent="0" marL="0">
              <a:buNone/>
            </a:pPr>
            <a:r>
              <a:rPr lang="en-US" sz="1000" b="1" dirty="0">
                <a:solidFill>
                  <a:srgbClr val="FF7A1A"/>
                </a:solidFill>
              </a:rPr>
              <a:t>8.10 问道调整分发</a:t>
            </a:r>
            <a:endParaRPr lang="en-US" sz="1000" dirty="0"/>
          </a:p>
        </p:txBody>
      </p:sp>
      <p:graphicFrame>
        <p:nvGraphicFramePr>
          <p:cNvPr id="22" name="c2-chart" descr=""/>
          <p:cNvGraphicFramePr/>
          <p:nvPr/>
        </p:nvGraphicFramePr>
        <p:xfrm>
          <a:off x="9098280" y="3977640"/>
          <a:ext cx="25603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rip Defense">
  <a:themeElements>
    <a:clrScheme name="Trip Defense">
      <a:dk1>
        <a:srgbClr val="15315E"/>
      </a:dk1>
      <a:lt1>
        <a:srgbClr val="FFFFFF"/>
      </a:lt1>
      <a:dk2>
        <a:srgbClr val="3D4757"/>
      </a:dk2>
      <a:lt2>
        <a:srgbClr val="EEF4FF"/>
      </a:lt2>
      <a:accent1>
        <a:srgbClr val="287DFA"/>
      </a:accent1>
      <a:accent2>
        <a:srgbClr val="FF7A1A"/>
      </a:accent2>
      <a:accent3>
        <a:srgbClr val="15315E"/>
      </a:accent3>
      <a:accent4>
        <a:srgbClr val="8FB8F5"/>
      </a:accent4>
      <a:accent5>
        <a:srgbClr val="D9DEE7"/>
      </a:accent5>
      <a:accent6>
        <a:srgbClr val="5B6B80"/>
      </a:accent6>
      <a:hlink>
        <a:srgbClr val="287DFA"/>
      </a:hlink>
      <a:folHlink>
        <a:srgbClr val="15315E"/>
      </a:folHlink>
    </a:clrScheme>
    <a:fontScheme name="Trip Defens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2026-10-29T21:35:32Z</dcterms:created>
  <dcterms:modified xsi:type="dcterms:W3CDTF">2026-10-29T21:35:32Z</dcterms:modified>
</cp:coreProperties>
</file>