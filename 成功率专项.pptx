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成功率专项" id="{8af09096-e206-d370-e0d2-78c74c231cf4}">
          <p14:sldIdLst>
            <p14:sldId id="256"/>
            <p14:sldId id="257"/>
            <p14:sldId id="258"/>
            <p14:sldId id="2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平峰期成功率</c:v>
                </c:pt>
              </c:strCache>
            </c:strRef>
          </c:tx>
          <c:spPr>
            <a:solidFill>
              <a:srgbClr val="8FB8F5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600" u="none">
                    <a:solidFill>
                      <a:srgbClr val="15315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B8F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87DFA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放开前</c:v>
                  </c:pt>
                  <c:pt idx="1">
                    <c:v>放开后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54.9</c:v>
                </c:pt>
                <c:pt idx="1">
                  <c:v>65.2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1600" u="none">
                  <a:solidFill>
                    <a:srgbClr val="15315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3D475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背景】成功率专项关注已下单的订单能不能出票，支付挽回的核心目标是挽回由风控导致的票量损失。除转线下票之外，抢票出票都需要都要经过扣位成功后向12306支付的环节，但由于风控影响，只有带有支付宝标记的订单才能够通过代付成功出票；而召回用户重新直付的过程存在流失漏斗，这也是携程成功率优势收窄的原因之一。
【目标】所以支付挽回主要是沿着两条路径，一是引导支付宝，在扣位之前让更多订单具备代付条件，二是提供直付兜底，让代付不了的订单，尤其是在四月直付改造之后遗留的一些长尾场景，在扣位之后仍有机会出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在引导支付宝上，我们做了第二期的用低价产品引导用户使用支付宝支付。之前我们做过在抢票中用低价产品吸引用户使用支付宝的策略，但转换率较低，为了进一步降低非支付宝订单数，提高大盘抢票成功率，我们扩大了补贴范围，需求上线后，日均目标订单数约 10,916 单，转化订单数约 232 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月抢票的主流程直付改造之后，还有一些长尾场景需要覆盖。直付的成本和主要的痛点就在于召回用户的过程中存在的流失漏斗，于是在引导直付这一链路上，我们倾向于在那些原本就需要用户确认的节点接直付。8 月份，我们先后对智能第二程、非支付宝以及支付宝黑名单订单行程冲突、票款不足补款等场景进行直付改造，合计年化挽回票量约 11.6 万张。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另外针对票量方面，并且对出票方式进行拓展，由于支付风控原因关闭抢转买后，用户在改单选择有票方案时只能通过捡漏出票，平峰期成功率约54.9%，8月我们放开了能够正常代付出票的支付宝（非黑名单）订单在该场景下的抢转买，上线后平峰期成功率从54.9%上升到65.2%，预期年化票增量约40万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822960"/>
            <a:ext cx="11274552" cy="0"/>
          </a:xfrm>
          <a:prstGeom prst="line">
            <a:avLst/>
          </a:prstGeom>
          <a:noFill/>
          <a:ln w="9525">
            <a:solidFill>
              <a:srgbClr val="D9DEE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0"/>
                </a:solidFill>
              </a:rPr>
              <a:t>© Trip.com All rights reserved.</a:t>
            </a:r>
            <a:endParaRPr lang="en-US" sz="9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5" name="Text 2"/>
          <p:cNvSpPr/>
          <p:nvPr>
            <p:ph idx="103" type="body" hasCustomPrompt="1"/>
          </p:nvPr>
        </p:nvSpPr>
        <p:spPr>
          <a:xfrm>
            <a:off x="457200" y="914400"/>
            <a:ext cx="1124712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4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3、主要项目 · 成功率专项：支付挽回</a:t>
            </a:r>
            <a:endParaRPr lang="en-US" sz="3000" dirty="0"/>
          </a:p>
        </p:txBody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457200" y="91440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核心目标：挽回由支付风控导致的票量损失</a:t>
            </a:r>
            <a:endParaRPr lang="en-US" sz="1700" dirty="0"/>
          </a:p>
        </p:txBody>
      </p:sp>
      <p:sp>
        <p:nvSpPr>
          <p:cNvPr id="4" name="bg-chip"/>
          <p:cNvSpPr/>
          <p:nvPr/>
        </p:nvSpPr>
        <p:spPr>
          <a:xfrm>
            <a:off x="457200" y="1508760"/>
            <a:ext cx="713232" cy="329184"/>
          </a:xfrm>
          <a:prstGeom prst="roundRect">
            <a:avLst>
              <a:gd name="adj" fmla="val 16667"/>
            </a:avLst>
          </a:prstGeom>
          <a:solidFill>
            <a:srgbClr val="287DFA"/>
          </a:solidFill>
          <a:ln w="12700">
            <a:solidFill>
              <a:srgbClr val="287DFA"/>
            </a:solidFill>
            <a:prstDash val="solid"/>
          </a:ln>
        </p:spPr>
      </p:sp>
      <p:sp>
        <p:nvSpPr>
          <p:cNvPr id="5" name="bg-chip-t"/>
          <p:cNvSpPr txBox="1"/>
          <p:nvPr/>
        </p:nvSpPr>
        <p:spPr>
          <a:xfrm>
            <a:off x="457200" y="1508760"/>
            <a:ext cx="713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背景</a:t>
            </a:r>
            <a:endParaRPr lang="en-US" sz="1300" dirty="0"/>
          </a:p>
        </p:txBody>
      </p:sp>
      <p:sp>
        <p:nvSpPr>
          <p:cNvPr id="6" name="bg-text"/>
          <p:cNvSpPr txBox="1"/>
          <p:nvPr/>
        </p:nvSpPr>
        <p:spPr>
          <a:xfrm>
            <a:off x="1325880" y="150876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4757"/>
                </a:solidFill>
              </a:rPr>
              <a:t>抢票出票都要经过扣位成功后向 12306 支付；风控后只有支付宝订单能代付，其余订单需召回用户直付</a:t>
            </a:r>
            <a:endParaRPr lang="en-US" sz="1300" dirty="0"/>
          </a:p>
        </p:txBody>
      </p:sp>
      <p:sp>
        <p:nvSpPr>
          <p:cNvPr id="7" name="node-0"/>
          <p:cNvSpPr/>
          <p:nvPr/>
        </p:nvSpPr>
        <p:spPr>
          <a:xfrm>
            <a:off x="457200" y="2148840"/>
            <a:ext cx="1463040" cy="731520"/>
          </a:xfrm>
          <a:prstGeom prst="roundRect">
            <a:avLst>
              <a:gd name="adj" fmla="val 10000"/>
            </a:avLst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8" name="node-t-0"/>
          <p:cNvSpPr txBox="1"/>
          <p:nvPr/>
        </p:nvSpPr>
        <p:spPr>
          <a:xfrm>
            <a:off x="457200" y="214884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315E"/>
                </a:solidFill>
              </a:rPr>
              <a:t>用户下单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5315E"/>
                </a:solidFill>
              </a:rPr>
              <a:t>预付 / 授权</a:t>
            </a:r>
            <a:endParaRPr lang="en-US" sz="1300" dirty="0"/>
          </a:p>
        </p:txBody>
      </p:sp>
      <p:sp>
        <p:nvSpPr>
          <p:cNvPr id="9" name="arrow-0"/>
          <p:cNvSpPr/>
          <p:nvPr/>
        </p:nvSpPr>
        <p:spPr>
          <a:xfrm>
            <a:off x="1984248" y="2414016"/>
            <a:ext cx="219456" cy="201168"/>
          </a:xfrm>
          <a:prstGeom prst="rightArrow">
            <a:avLst/>
          </a:prstGeom>
          <a:solidFill>
            <a:srgbClr val="8FB8F5"/>
          </a:solidFill>
          <a:ln w="12700">
            <a:solidFill>
              <a:srgbClr val="8FB8F5"/>
            </a:solidFill>
            <a:prstDash val="solid"/>
          </a:ln>
        </p:spPr>
      </p:sp>
      <p:sp>
        <p:nvSpPr>
          <p:cNvPr id="10" name="node-1"/>
          <p:cNvSpPr/>
          <p:nvPr/>
        </p:nvSpPr>
        <p:spPr>
          <a:xfrm>
            <a:off x="2267712" y="2148840"/>
            <a:ext cx="1463040" cy="731520"/>
          </a:xfrm>
          <a:prstGeom prst="roundRect">
            <a:avLst>
              <a:gd name="adj" fmla="val 10000"/>
            </a:avLst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11" name="node-t-1"/>
          <p:cNvSpPr txBox="1"/>
          <p:nvPr/>
        </p:nvSpPr>
        <p:spPr>
          <a:xfrm>
            <a:off x="2267712" y="214884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315E"/>
                </a:solidFill>
              </a:rPr>
              <a:t>扣位成功</a:t>
            </a:r>
            <a:endParaRPr lang="en-US" sz="1300" dirty="0"/>
          </a:p>
        </p:txBody>
      </p:sp>
      <p:sp>
        <p:nvSpPr>
          <p:cNvPr id="12" name="arrow-1"/>
          <p:cNvSpPr/>
          <p:nvPr/>
        </p:nvSpPr>
        <p:spPr>
          <a:xfrm>
            <a:off x="3794760" y="2414016"/>
            <a:ext cx="219456" cy="201168"/>
          </a:xfrm>
          <a:prstGeom prst="rightArrow">
            <a:avLst/>
          </a:prstGeom>
          <a:solidFill>
            <a:srgbClr val="8FB8F5"/>
          </a:solidFill>
          <a:ln w="12700">
            <a:solidFill>
              <a:srgbClr val="8FB8F5"/>
            </a:solidFill>
            <a:prstDash val="solid"/>
          </a:ln>
        </p:spPr>
      </p:sp>
      <p:sp>
        <p:nvSpPr>
          <p:cNvPr id="13" name="node-2"/>
          <p:cNvSpPr/>
          <p:nvPr/>
        </p:nvSpPr>
        <p:spPr>
          <a:xfrm>
            <a:off x="4078224" y="2148840"/>
            <a:ext cx="1463040" cy="731520"/>
          </a:xfrm>
          <a:prstGeom prst="roundRect">
            <a:avLst>
              <a:gd name="adj" fmla="val 10000"/>
            </a:avLst>
          </a:prstGeom>
          <a:solidFill>
            <a:srgbClr val="FFF1E6"/>
          </a:solidFill>
          <a:ln w="19050">
            <a:solidFill>
              <a:srgbClr val="FF7A1A"/>
            </a:solidFill>
            <a:prstDash val="solid"/>
          </a:ln>
        </p:spPr>
      </p:sp>
      <p:sp>
        <p:nvSpPr>
          <p:cNvPr id="14" name="node-t-2"/>
          <p:cNvSpPr txBox="1"/>
          <p:nvPr/>
        </p:nvSpPr>
        <p:spPr>
          <a:xfrm>
            <a:off x="4078224" y="214884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7A1A"/>
                </a:solidFill>
              </a:rPr>
              <a:t>向 12306 支付</a:t>
            </a:r>
            <a:endParaRPr lang="en-US" sz="1300" dirty="0"/>
          </a:p>
        </p:txBody>
      </p:sp>
      <p:sp>
        <p:nvSpPr>
          <p:cNvPr id="15" name="arrow-2"/>
          <p:cNvSpPr/>
          <p:nvPr/>
        </p:nvSpPr>
        <p:spPr>
          <a:xfrm>
            <a:off x="5605272" y="2414016"/>
            <a:ext cx="219456" cy="201168"/>
          </a:xfrm>
          <a:prstGeom prst="rightArrow">
            <a:avLst/>
          </a:prstGeom>
          <a:solidFill>
            <a:srgbClr val="8FB8F5"/>
          </a:solidFill>
          <a:ln w="12700">
            <a:solidFill>
              <a:srgbClr val="8FB8F5"/>
            </a:solidFill>
            <a:prstDash val="solid"/>
          </a:ln>
        </p:spPr>
      </p:sp>
      <p:sp>
        <p:nvSpPr>
          <p:cNvPr id="16" name="node-3"/>
          <p:cNvSpPr/>
          <p:nvPr/>
        </p:nvSpPr>
        <p:spPr>
          <a:xfrm>
            <a:off x="5888736" y="2148840"/>
            <a:ext cx="1463040" cy="731520"/>
          </a:xfrm>
          <a:prstGeom prst="roundRect">
            <a:avLst>
              <a:gd name="adj" fmla="val 10000"/>
            </a:avLst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17" name="node-t-3"/>
          <p:cNvSpPr txBox="1"/>
          <p:nvPr/>
        </p:nvSpPr>
        <p:spPr>
          <a:xfrm>
            <a:off x="5888736" y="214884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315E"/>
                </a:solidFill>
              </a:rPr>
              <a:t>出票</a:t>
            </a:r>
            <a:endParaRPr lang="en-US" sz="1300" dirty="0"/>
          </a:p>
        </p:txBody>
      </p:sp>
      <p:sp>
        <p:nvSpPr>
          <p:cNvPr id="18" name="split-stem"/>
          <p:cNvSpPr/>
          <p:nvPr/>
        </p:nvSpPr>
        <p:spPr>
          <a:xfrm>
            <a:off x="4809744" y="2880360"/>
            <a:ext cx="0" cy="228600"/>
          </a:xfrm>
          <a:prstGeom prst="line">
            <a:avLst/>
          </a:prstGeom>
          <a:noFill/>
          <a:ln w="19050">
            <a:solidFill>
              <a:srgbClr val="8FB8F5"/>
            </a:solidFill>
            <a:prstDash val="solid"/>
          </a:ln>
        </p:spPr>
      </p:sp>
      <p:sp>
        <p:nvSpPr>
          <p:cNvPr id="19" name="split-bar"/>
          <p:cNvSpPr/>
          <p:nvPr/>
        </p:nvSpPr>
        <p:spPr>
          <a:xfrm>
            <a:off x="2103120" y="3108960"/>
            <a:ext cx="3566160" cy="0"/>
          </a:xfrm>
          <a:prstGeom prst="line">
            <a:avLst/>
          </a:prstGeom>
          <a:noFill/>
          <a:ln w="19050">
            <a:solidFill>
              <a:srgbClr val="8FB8F5"/>
            </a:solidFill>
            <a:prstDash val="solid"/>
          </a:ln>
        </p:spPr>
      </p:sp>
      <p:sp>
        <p:nvSpPr>
          <p:cNvPr id="20" name="split-l"/>
          <p:cNvSpPr/>
          <p:nvPr/>
        </p:nvSpPr>
        <p:spPr>
          <a:xfrm>
            <a:off x="2103120" y="3108960"/>
            <a:ext cx="0" cy="201168"/>
          </a:xfrm>
          <a:prstGeom prst="line">
            <a:avLst/>
          </a:prstGeom>
          <a:noFill/>
          <a:ln w="19050">
            <a:solidFill>
              <a:srgbClr val="8FB8F5"/>
            </a:solidFill>
            <a:prstDash val="solid"/>
          </a:ln>
        </p:spPr>
      </p:sp>
      <p:sp>
        <p:nvSpPr>
          <p:cNvPr id="21" name="split-r"/>
          <p:cNvSpPr/>
          <p:nvPr/>
        </p:nvSpPr>
        <p:spPr>
          <a:xfrm>
            <a:off x="5669280" y="3108960"/>
            <a:ext cx="0" cy="201168"/>
          </a:xfrm>
          <a:prstGeom prst="line">
            <a:avLst/>
          </a:prstGeom>
          <a:noFill/>
          <a:ln w="19050">
            <a:solidFill>
              <a:srgbClr val="8FB8F5"/>
            </a:solidFill>
            <a:prstDash val="solid"/>
          </a:ln>
        </p:spPr>
      </p:sp>
      <p:sp>
        <p:nvSpPr>
          <p:cNvPr id="22" name="ok-box"/>
          <p:cNvSpPr/>
          <p:nvPr/>
        </p:nvSpPr>
        <p:spPr>
          <a:xfrm>
            <a:off x="457200" y="3310128"/>
            <a:ext cx="32918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287DFA"/>
            </a:solidFill>
            <a:prstDash val="solid"/>
          </a:ln>
        </p:spPr>
      </p:sp>
      <p:sp>
        <p:nvSpPr>
          <p:cNvPr id="23" name="ok-text"/>
          <p:cNvSpPr txBox="1"/>
          <p:nvPr/>
        </p:nvSpPr>
        <p:spPr>
          <a:xfrm>
            <a:off x="594360" y="3310128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87DFA"/>
                </a:solidFill>
              </a:rPr>
              <a:t>支付宝（非黑名单）订单 → 代付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D4757"/>
                </a:solidFill>
              </a:rPr>
              <a:t>携程直接付款，无需用户在场</a:t>
            </a:r>
            <a:endParaRPr lang="en-US" sz="1300" dirty="0"/>
          </a:p>
        </p:txBody>
      </p:sp>
      <p:sp>
        <p:nvSpPr>
          <p:cNvPr id="24" name="bad-box"/>
          <p:cNvSpPr/>
          <p:nvPr/>
        </p:nvSpPr>
        <p:spPr>
          <a:xfrm>
            <a:off x="4023360" y="3310128"/>
            <a:ext cx="3291840" cy="868680"/>
          </a:xfrm>
          <a:prstGeom prst="roundRect">
            <a:avLst>
              <a:gd name="adj" fmla="val 8421"/>
            </a:avLst>
          </a:prstGeom>
          <a:solidFill>
            <a:srgbClr val="FFF1E6"/>
          </a:solidFill>
          <a:ln w="12700">
            <a:solidFill>
              <a:srgbClr val="FF7A1A"/>
            </a:solidFill>
            <a:prstDash val="solid"/>
          </a:ln>
        </p:spPr>
      </p:sp>
      <p:sp>
        <p:nvSpPr>
          <p:cNvPr id="25" name="bad-text"/>
          <p:cNvSpPr txBox="1"/>
          <p:nvPr/>
        </p:nvSpPr>
        <p:spPr>
          <a:xfrm>
            <a:off x="4160520" y="3310128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7A1A"/>
                </a:solidFill>
              </a:rPr>
              <a:t>其他订单 → 代付失败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D4757"/>
                </a:solidFill>
              </a:rPr>
              <a:t>召回用户直付，存在流失漏斗</a:t>
            </a:r>
            <a:endParaRPr lang="en-US" sz="1300" dirty="0"/>
          </a:p>
        </p:txBody>
      </p:sp>
      <p:sp>
        <p:nvSpPr>
          <p:cNvPr id="26" name="trend-frame"/>
          <p:cNvSpPr/>
          <p:nvPr/>
        </p:nvSpPr>
        <p:spPr>
          <a:xfrm>
            <a:off x="7772400" y="1508760"/>
            <a:ext cx="3959352" cy="2697480"/>
          </a:xfrm>
          <a:prstGeom prst="rect">
            <a:avLst/>
          </a:prstGeom>
          <a:solidFill>
            <a:srgbClr val="FAFBFD"/>
          </a:solidFill>
          <a:ln w="15875">
            <a:solidFill>
              <a:srgbClr val="A9B4C2"/>
            </a:solidFill>
            <a:prstDash val="dash"/>
          </a:ln>
        </p:spPr>
      </p:sp>
      <p:sp>
        <p:nvSpPr>
          <p:cNvPr id="27" name="trend-label"/>
          <p:cNvSpPr txBox="1"/>
          <p:nvPr/>
        </p:nvSpPr>
        <p:spPr>
          <a:xfrm>
            <a:off x="7909560" y="1508760"/>
            <a:ext cx="3685032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80"/>
                </a:solidFill>
              </a:rPr>
              <a:t>待补充：风控前后抢票成功率走势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B80"/>
                </a:solidFill>
              </a:rPr>
              <a:t>（标注支付风控时间点、携程成功率优势收窄）</a:t>
            </a:r>
            <a:endParaRPr lang="en-US" sz="1200" dirty="0"/>
          </a:p>
        </p:txBody>
      </p:sp>
      <p:sp>
        <p:nvSpPr>
          <p:cNvPr id="28" name="st-chip"/>
          <p:cNvSpPr/>
          <p:nvPr/>
        </p:nvSpPr>
        <p:spPr>
          <a:xfrm>
            <a:off x="457200" y="4434840"/>
            <a:ext cx="713232" cy="329184"/>
          </a:xfrm>
          <a:prstGeom prst="roundRect">
            <a:avLst>
              <a:gd name="adj" fmla="val 16667"/>
            </a:avLst>
          </a:prstGeom>
          <a:solidFill>
            <a:srgbClr val="287DFA"/>
          </a:solidFill>
          <a:ln w="12700">
            <a:solidFill>
              <a:srgbClr val="287DFA"/>
            </a:solidFill>
            <a:prstDash val="solid"/>
          </a:ln>
        </p:spPr>
      </p:sp>
      <p:sp>
        <p:nvSpPr>
          <p:cNvPr id="29" name="st-chip-t"/>
          <p:cNvSpPr txBox="1"/>
          <p:nvPr/>
        </p:nvSpPr>
        <p:spPr>
          <a:xfrm>
            <a:off x="457200" y="4434840"/>
            <a:ext cx="713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策略</a:t>
            </a:r>
            <a:endParaRPr lang="en-US" sz="1300" dirty="0"/>
          </a:p>
        </p:txBody>
      </p:sp>
      <p:sp>
        <p:nvSpPr>
          <p:cNvPr id="30" name="st-text"/>
          <p:cNvSpPr txBox="1"/>
          <p:nvPr/>
        </p:nvSpPr>
        <p:spPr>
          <a:xfrm>
            <a:off x="1325880" y="443484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4757"/>
                </a:solidFill>
              </a:rPr>
              <a:t>沿两条路径挽回</a:t>
            </a:r>
            <a:endParaRPr lang="en-US" sz="1300" dirty="0"/>
          </a:p>
        </p:txBody>
      </p:sp>
      <p:sp>
        <p:nvSpPr>
          <p:cNvPr id="31" name="path-card-0"/>
          <p:cNvSpPr/>
          <p:nvPr/>
        </p:nvSpPr>
        <p:spPr>
          <a:xfrm>
            <a:off x="457200" y="4892040"/>
            <a:ext cx="5486400" cy="1325880"/>
          </a:xfrm>
          <a:prstGeom prst="roundRect">
            <a:avLst>
              <a:gd name="adj" fmla="val 5517"/>
            </a:avLst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32" name="path-dot-0"/>
          <p:cNvSpPr/>
          <p:nvPr/>
        </p:nvSpPr>
        <p:spPr>
          <a:xfrm>
            <a:off x="731520" y="5074920"/>
            <a:ext cx="457200" cy="457200"/>
          </a:xfrm>
          <a:prstGeom prst="ellipse">
            <a:avLst/>
          </a:prstGeom>
          <a:solidFill>
            <a:srgbClr val="287DFA"/>
          </a:solidFill>
          <a:ln w="12700">
            <a:solidFill>
              <a:srgbClr val="287DFA"/>
            </a:solidFill>
            <a:prstDash val="solid"/>
          </a:ln>
        </p:spPr>
      </p:sp>
      <p:sp>
        <p:nvSpPr>
          <p:cNvPr id="33" name="path-num-0"/>
          <p:cNvSpPr txBox="1"/>
          <p:nvPr/>
        </p:nvSpPr>
        <p:spPr>
          <a:xfrm>
            <a:off x="731520" y="5074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34" name="path-h-0"/>
          <p:cNvSpPr txBox="1"/>
          <p:nvPr/>
        </p:nvSpPr>
        <p:spPr>
          <a:xfrm>
            <a:off x="1371600" y="50749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315E"/>
                </a:solidFill>
              </a:rPr>
              <a:t>引导支付宝（扣位之前）</a:t>
            </a:r>
            <a:endParaRPr lang="en-US" sz="1600" dirty="0"/>
          </a:p>
        </p:txBody>
      </p:sp>
      <p:sp>
        <p:nvSpPr>
          <p:cNvPr id="35" name="path-b-0"/>
          <p:cNvSpPr txBox="1"/>
          <p:nvPr/>
        </p:nvSpPr>
        <p:spPr>
          <a:xfrm>
            <a:off x="1371600" y="5486400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D4757"/>
                </a:solidFill>
              </a:rPr>
              <a:t>让更多订单在扣位前具备代付条件</a:t>
            </a:r>
            <a:endParaRPr lang="en-US" sz="1300" dirty="0"/>
          </a:p>
        </p:txBody>
      </p:sp>
      <p:sp>
        <p:nvSpPr>
          <p:cNvPr id="36" name="path-card-1"/>
          <p:cNvSpPr/>
          <p:nvPr/>
        </p:nvSpPr>
        <p:spPr>
          <a:xfrm>
            <a:off x="6245352" y="4892040"/>
            <a:ext cx="5486400" cy="1325880"/>
          </a:xfrm>
          <a:prstGeom prst="roundRect">
            <a:avLst>
              <a:gd name="adj" fmla="val 5517"/>
            </a:avLst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37" name="path-dot-1"/>
          <p:cNvSpPr/>
          <p:nvPr/>
        </p:nvSpPr>
        <p:spPr>
          <a:xfrm>
            <a:off x="6519672" y="5074920"/>
            <a:ext cx="457200" cy="457200"/>
          </a:xfrm>
          <a:prstGeom prst="ellipse">
            <a:avLst/>
          </a:prstGeom>
          <a:solidFill>
            <a:srgbClr val="287DFA"/>
          </a:solidFill>
          <a:ln w="12700">
            <a:solidFill>
              <a:srgbClr val="287DFA"/>
            </a:solidFill>
            <a:prstDash val="solid"/>
          </a:ln>
        </p:spPr>
      </p:sp>
      <p:sp>
        <p:nvSpPr>
          <p:cNvPr id="38" name="path-num-1"/>
          <p:cNvSpPr txBox="1"/>
          <p:nvPr/>
        </p:nvSpPr>
        <p:spPr>
          <a:xfrm>
            <a:off x="6519672" y="5074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39" name="path-h-1"/>
          <p:cNvSpPr txBox="1"/>
          <p:nvPr/>
        </p:nvSpPr>
        <p:spPr>
          <a:xfrm>
            <a:off x="7159752" y="50749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315E"/>
                </a:solidFill>
              </a:rPr>
              <a:t>直付兜底（扣位之后）</a:t>
            </a:r>
            <a:endParaRPr lang="en-US" sz="1600" dirty="0"/>
          </a:p>
        </p:txBody>
      </p:sp>
      <p:sp>
        <p:nvSpPr>
          <p:cNvPr id="40" name="path-b-1"/>
          <p:cNvSpPr txBox="1"/>
          <p:nvPr/>
        </p:nvSpPr>
        <p:spPr>
          <a:xfrm>
            <a:off x="7159752" y="5486400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D4757"/>
                </a:solidFill>
              </a:rPr>
              <a:t>让代付不了的订单，尤其是 4 月直付改造后遗留的长尾场景，在扣位之后仍有机会出票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3、主要项目 · 成功率专项：引导支付宝</a:t>
            </a:r>
            <a:endParaRPr lang="en-US" sz="3000" dirty="0"/>
          </a:p>
        </p:txBody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457200" y="91440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低价产品引导支付宝 · 二期：在扣位之前让更多订单具备代付条件</a:t>
            </a:r>
            <a:endParaRPr lang="en-US" sz="1700" dirty="0"/>
          </a:p>
        </p:txBody>
      </p:sp>
      <p:sp>
        <p:nvSpPr>
          <p:cNvPr id="4" name="bg-chip"/>
          <p:cNvSpPr/>
          <p:nvPr/>
        </p:nvSpPr>
        <p:spPr>
          <a:xfrm>
            <a:off x="457200" y="1554480"/>
            <a:ext cx="713232" cy="329184"/>
          </a:xfrm>
          <a:prstGeom prst="roundRect">
            <a:avLst>
              <a:gd name="adj" fmla="val 16667"/>
            </a:avLst>
          </a:prstGeom>
          <a:solidFill>
            <a:srgbClr val="287DFA"/>
          </a:solidFill>
          <a:ln w="12700">
            <a:solidFill>
              <a:srgbClr val="287DFA"/>
            </a:solidFill>
            <a:prstDash val="solid"/>
          </a:ln>
        </p:spPr>
      </p:sp>
      <p:sp>
        <p:nvSpPr>
          <p:cNvPr id="5" name="bg-chip-t"/>
          <p:cNvSpPr txBox="1"/>
          <p:nvPr/>
        </p:nvSpPr>
        <p:spPr>
          <a:xfrm>
            <a:off x="457200" y="1554480"/>
            <a:ext cx="713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背景</a:t>
            </a:r>
            <a:endParaRPr lang="en-US" sz="1300" dirty="0"/>
          </a:p>
        </p:txBody>
      </p:sp>
      <p:sp>
        <p:nvSpPr>
          <p:cNvPr id="6" name="bg-text"/>
          <p:cNvSpPr txBox="1"/>
          <p:nvPr/>
        </p:nvSpPr>
        <p:spPr>
          <a:xfrm>
            <a:off x="457200" y="196596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D4757"/>
                </a:solidFill>
              </a:rPr>
              <a:t>一期在抢票中用低价产品吸引用户使用支付宝，但转化率较低；需要进一步降低非支付宝订单数，提高大盘抢票成功率</a:t>
            </a:r>
            <a:endParaRPr lang="en-US" sz="1300" dirty="0"/>
          </a:p>
        </p:txBody>
      </p:sp>
      <p:sp>
        <p:nvSpPr>
          <p:cNvPr id="7" name="st-chip"/>
          <p:cNvSpPr/>
          <p:nvPr/>
        </p:nvSpPr>
        <p:spPr>
          <a:xfrm>
            <a:off x="457200" y="2880360"/>
            <a:ext cx="713232" cy="329184"/>
          </a:xfrm>
          <a:prstGeom prst="roundRect">
            <a:avLst>
              <a:gd name="adj" fmla="val 16667"/>
            </a:avLst>
          </a:prstGeom>
          <a:solidFill>
            <a:srgbClr val="287DFA"/>
          </a:solidFill>
          <a:ln w="12700">
            <a:solidFill>
              <a:srgbClr val="287DFA"/>
            </a:solidFill>
            <a:prstDash val="solid"/>
          </a:ln>
        </p:spPr>
      </p:sp>
      <p:sp>
        <p:nvSpPr>
          <p:cNvPr id="8" name="st-chip-t"/>
          <p:cNvSpPr txBox="1"/>
          <p:nvPr/>
        </p:nvSpPr>
        <p:spPr>
          <a:xfrm>
            <a:off x="457200" y="2880360"/>
            <a:ext cx="713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策略</a:t>
            </a:r>
            <a:endParaRPr lang="en-US" sz="1300" dirty="0"/>
          </a:p>
        </p:txBody>
      </p:sp>
      <p:sp>
        <p:nvSpPr>
          <p:cNvPr id="9" name="st-text"/>
          <p:cNvSpPr txBox="1"/>
          <p:nvPr/>
        </p:nvSpPr>
        <p:spPr>
          <a:xfrm>
            <a:off x="457200" y="3291840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D4757"/>
                </a:solidFill>
              </a:rPr>
              <a:t>扩大补贴范围：非支付宝订单可特惠升级托管，仅支持支付宝支付（见右侧截图）</a:t>
            </a:r>
            <a:endParaRPr lang="en-US" sz="1300" dirty="0"/>
          </a:p>
        </p:txBody>
      </p:sp>
      <p:sp>
        <p:nvSpPr>
          <p:cNvPr id="10" name="ef-chip"/>
          <p:cNvSpPr/>
          <p:nvPr/>
        </p:nvSpPr>
        <p:spPr>
          <a:xfrm>
            <a:off x="457200" y="4023360"/>
            <a:ext cx="713232" cy="329184"/>
          </a:xfrm>
          <a:prstGeom prst="roundRect">
            <a:avLst>
              <a:gd name="adj" fmla="val 16667"/>
            </a:avLst>
          </a:prstGeom>
          <a:solidFill>
            <a:srgbClr val="287DFA"/>
          </a:solidFill>
          <a:ln w="12700">
            <a:solidFill>
              <a:srgbClr val="287DFA"/>
            </a:solidFill>
            <a:prstDash val="solid"/>
          </a:ln>
        </p:spPr>
      </p:sp>
      <p:sp>
        <p:nvSpPr>
          <p:cNvPr id="11" name="ef-chip-t"/>
          <p:cNvSpPr txBox="1"/>
          <p:nvPr/>
        </p:nvSpPr>
        <p:spPr>
          <a:xfrm>
            <a:off x="457200" y="4023360"/>
            <a:ext cx="713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效果</a:t>
            </a:r>
            <a:endParaRPr lang="en-US" sz="1300" dirty="0"/>
          </a:p>
        </p:txBody>
      </p:sp>
      <p:sp>
        <p:nvSpPr>
          <p:cNvPr id="12" name="ef-card"/>
          <p:cNvSpPr/>
          <p:nvPr/>
        </p:nvSpPr>
        <p:spPr>
          <a:xfrm>
            <a:off x="457200" y="4434840"/>
            <a:ext cx="4937760" cy="1783080"/>
          </a:xfrm>
          <a:prstGeom prst="roundRect">
            <a:avLst>
              <a:gd name="adj" fmla="val 4103"/>
            </a:avLst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13" name="kpi-t-l"/>
          <p:cNvSpPr txBox="1"/>
          <p:nvPr/>
        </p:nvSpPr>
        <p:spPr>
          <a:xfrm>
            <a:off x="731520" y="45720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4757"/>
                </a:solidFill>
              </a:rPr>
              <a:t>日均目标订单数</a:t>
            </a:r>
            <a:endParaRPr lang="en-US" sz="1400" dirty="0"/>
          </a:p>
        </p:txBody>
      </p:sp>
      <p:sp>
        <p:nvSpPr>
          <p:cNvPr id="14" name="kpi-t-v"/>
          <p:cNvSpPr txBox="1"/>
          <p:nvPr/>
        </p:nvSpPr>
        <p:spPr>
          <a:xfrm>
            <a:off x="2468880" y="45720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5315E"/>
                </a:solidFill>
              </a:rPr>
              <a:t>约 10,916 单</a:t>
            </a:r>
            <a:endParaRPr lang="en-US" sz="2800" dirty="0"/>
          </a:p>
        </p:txBody>
      </p:sp>
      <p:sp>
        <p:nvSpPr>
          <p:cNvPr id="15" name="kpi-c-l"/>
          <p:cNvSpPr txBox="1"/>
          <p:nvPr/>
        </p:nvSpPr>
        <p:spPr>
          <a:xfrm>
            <a:off x="731520" y="539496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4757"/>
                </a:solidFill>
              </a:rPr>
              <a:t>日均转化订单数</a:t>
            </a:r>
            <a:endParaRPr lang="en-US" sz="1400" dirty="0"/>
          </a:p>
        </p:txBody>
      </p:sp>
      <p:sp>
        <p:nvSpPr>
          <p:cNvPr id="16" name="kpi-c-v"/>
          <p:cNvSpPr txBox="1"/>
          <p:nvPr/>
        </p:nvSpPr>
        <p:spPr>
          <a:xfrm>
            <a:off x="2468880" y="539496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87DFA"/>
                </a:solidFill>
              </a:rPr>
              <a:t>约 232 单</a:t>
            </a:r>
            <a:endParaRPr lang="en-US" sz="2800" dirty="0"/>
          </a:p>
        </p:txBody>
      </p:sp>
      <p:pic>
        <p:nvPicPr>
          <p:cNvPr id="17" name="shot-0" descr="① 特惠浮窗：非支付宝订单特惠升级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1554480"/>
            <a:ext cx="1691640" cy="3718475"/>
          </a:xfrm>
          <a:prstGeom prst="rect">
            <a:avLst/>
          </a:prstGeom>
        </p:spPr>
      </p:pic>
      <p:sp>
        <p:nvSpPr>
          <p:cNvPr id="18" name="shot-frame-0"/>
          <p:cNvSpPr/>
          <p:nvPr/>
        </p:nvSpPr>
        <p:spPr>
          <a:xfrm>
            <a:off x="5760720" y="1554480"/>
            <a:ext cx="1691640" cy="3718475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9DEE7"/>
            </a:solidFill>
            <a:prstDash val="solid"/>
          </a:ln>
        </p:spPr>
      </p:sp>
      <p:sp>
        <p:nvSpPr>
          <p:cNvPr id="19" name="shot-cap-0"/>
          <p:cNvSpPr txBox="1"/>
          <p:nvPr/>
        </p:nvSpPr>
        <p:spPr>
          <a:xfrm>
            <a:off x="5623560" y="5364395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315E"/>
                </a:solidFill>
              </a:rPr>
              <a:t>① 特惠浮窗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4757"/>
                </a:solidFill>
              </a:rPr>
              <a:t>非支付宝订单特惠升级</a:t>
            </a:r>
            <a:endParaRPr lang="en-US" sz="1200" dirty="0"/>
          </a:p>
        </p:txBody>
      </p:sp>
      <p:pic>
        <p:nvPicPr>
          <p:cNvPr id="20" name="shot-1" descr="② 托管等级页：展示限时特惠价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554480"/>
            <a:ext cx="1691640" cy="3718475"/>
          </a:xfrm>
          <a:prstGeom prst="rect">
            <a:avLst/>
          </a:prstGeom>
        </p:spPr>
      </p:pic>
      <p:sp>
        <p:nvSpPr>
          <p:cNvPr id="21" name="shot-frame-1"/>
          <p:cNvSpPr/>
          <p:nvPr/>
        </p:nvSpPr>
        <p:spPr>
          <a:xfrm>
            <a:off x="7772400" y="1554480"/>
            <a:ext cx="1691640" cy="3718475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9DEE7"/>
            </a:solidFill>
            <a:prstDash val="solid"/>
          </a:ln>
        </p:spPr>
      </p:sp>
      <p:sp>
        <p:nvSpPr>
          <p:cNvPr id="22" name="shot-cap-1"/>
          <p:cNvSpPr txBox="1"/>
          <p:nvPr/>
        </p:nvSpPr>
        <p:spPr>
          <a:xfrm>
            <a:off x="7635240" y="5364395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315E"/>
                </a:solidFill>
              </a:rPr>
              <a:t>② 托管等级页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4757"/>
                </a:solidFill>
              </a:rPr>
              <a:t>展示限时特惠价</a:t>
            </a:r>
            <a:endParaRPr lang="en-US" sz="1200" dirty="0"/>
          </a:p>
        </p:txBody>
      </p:sp>
      <p:pic>
        <p:nvPicPr>
          <p:cNvPr id="23" name="shot-2" descr="③ 收银台：仅保留支付宝支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80" y="1554480"/>
            <a:ext cx="1691640" cy="3718475"/>
          </a:xfrm>
          <a:prstGeom prst="rect">
            <a:avLst/>
          </a:prstGeom>
        </p:spPr>
      </p:pic>
      <p:sp>
        <p:nvSpPr>
          <p:cNvPr id="24" name="shot-frame-2"/>
          <p:cNvSpPr/>
          <p:nvPr/>
        </p:nvSpPr>
        <p:spPr>
          <a:xfrm>
            <a:off x="9784080" y="1554480"/>
            <a:ext cx="1691640" cy="3718475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9DEE7"/>
            </a:solidFill>
            <a:prstDash val="solid"/>
          </a:ln>
        </p:spPr>
      </p:sp>
      <p:sp>
        <p:nvSpPr>
          <p:cNvPr id="25" name="shot-cap-2"/>
          <p:cNvSpPr txBox="1"/>
          <p:nvPr/>
        </p:nvSpPr>
        <p:spPr>
          <a:xfrm>
            <a:off x="9646920" y="5364395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315E"/>
                </a:solidFill>
              </a:rPr>
              <a:t>③ 收银台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4757"/>
                </a:solidFill>
              </a:rPr>
              <a:t>仅保留支付宝支付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3、主要项目 · 成功率专项：直付兜底</a:t>
            </a:r>
            <a:endParaRPr lang="en-US" sz="3000" dirty="0"/>
          </a:p>
        </p:txBody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457200" y="91440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覆盖 4 月主流程直付改造后遗留的长尾场景</a:t>
            </a:r>
            <a:endParaRPr lang="en-US" sz="1700" dirty="0"/>
          </a:p>
        </p:txBody>
      </p:sp>
      <p:sp>
        <p:nvSpPr>
          <p:cNvPr id="4" name="bg-chip"/>
          <p:cNvSpPr/>
          <p:nvPr/>
        </p:nvSpPr>
        <p:spPr>
          <a:xfrm>
            <a:off x="457200" y="1554480"/>
            <a:ext cx="713232" cy="329184"/>
          </a:xfrm>
          <a:prstGeom prst="roundRect">
            <a:avLst>
              <a:gd name="adj" fmla="val 16667"/>
            </a:avLst>
          </a:prstGeom>
          <a:solidFill>
            <a:srgbClr val="287DFA"/>
          </a:solidFill>
          <a:ln w="12700">
            <a:solidFill>
              <a:srgbClr val="287DFA"/>
            </a:solidFill>
            <a:prstDash val="solid"/>
          </a:ln>
        </p:spPr>
      </p:sp>
      <p:sp>
        <p:nvSpPr>
          <p:cNvPr id="5" name="bg-chip-t"/>
          <p:cNvSpPr txBox="1"/>
          <p:nvPr/>
        </p:nvSpPr>
        <p:spPr>
          <a:xfrm>
            <a:off x="457200" y="1554480"/>
            <a:ext cx="713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背景</a:t>
            </a:r>
            <a:endParaRPr lang="en-US" sz="1300" dirty="0"/>
          </a:p>
        </p:txBody>
      </p:sp>
      <p:sp>
        <p:nvSpPr>
          <p:cNvPr id="6" name="bg-text"/>
          <p:cNvSpPr txBox="1"/>
          <p:nvPr/>
        </p:nvSpPr>
        <p:spPr>
          <a:xfrm>
            <a:off x="457200" y="1965960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D4757"/>
                </a:solidFill>
              </a:rPr>
              <a:t>4 月主流程直付改造后，仍有长尾场景无法出票；直付的成本和主要痛点在于召回用户过程中的流失漏斗</a:t>
            </a:r>
            <a:endParaRPr lang="en-US" sz="1300" dirty="0"/>
          </a:p>
        </p:txBody>
      </p:sp>
      <p:sp>
        <p:nvSpPr>
          <p:cNvPr id="7" name="st-chip"/>
          <p:cNvSpPr/>
          <p:nvPr/>
        </p:nvSpPr>
        <p:spPr>
          <a:xfrm>
            <a:off x="457200" y="2788920"/>
            <a:ext cx="713232" cy="329184"/>
          </a:xfrm>
          <a:prstGeom prst="roundRect">
            <a:avLst>
              <a:gd name="adj" fmla="val 16667"/>
            </a:avLst>
          </a:prstGeom>
          <a:solidFill>
            <a:srgbClr val="287DFA"/>
          </a:solidFill>
          <a:ln w="12700">
            <a:solidFill>
              <a:srgbClr val="287DFA"/>
            </a:solidFill>
            <a:prstDash val="solid"/>
          </a:ln>
        </p:spPr>
      </p:sp>
      <p:sp>
        <p:nvSpPr>
          <p:cNvPr id="8" name="st-chip-t"/>
          <p:cNvSpPr txBox="1"/>
          <p:nvPr/>
        </p:nvSpPr>
        <p:spPr>
          <a:xfrm>
            <a:off x="457200" y="2788920"/>
            <a:ext cx="713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策略</a:t>
            </a:r>
            <a:endParaRPr lang="en-US" sz="1300" dirty="0"/>
          </a:p>
        </p:txBody>
      </p:sp>
      <p:sp>
        <p:nvSpPr>
          <p:cNvPr id="9" name="st-text"/>
          <p:cNvSpPr txBox="1"/>
          <p:nvPr/>
        </p:nvSpPr>
        <p:spPr>
          <a:xfrm>
            <a:off x="457200" y="3200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D4757"/>
                </a:solidFill>
              </a:rPr>
              <a:t>在原本就需要用户确认的节点接直付，8 月完成以下场景改造：</a:t>
            </a:r>
            <a:endParaRPr lang="en-US" sz="1300" dirty="0"/>
          </a:p>
        </p:txBody>
      </p:sp>
      <p:sp>
        <p:nvSpPr>
          <p:cNvPr id="10" name="scn-dot-0"/>
          <p:cNvSpPr/>
          <p:nvPr/>
        </p:nvSpPr>
        <p:spPr>
          <a:xfrm>
            <a:off x="502920" y="3712464"/>
            <a:ext cx="365760" cy="365760"/>
          </a:xfrm>
          <a:prstGeom prst="ellipse">
            <a:avLst/>
          </a:prstGeom>
          <a:solidFill>
            <a:srgbClr val="8FB8F5"/>
          </a:solidFill>
          <a:ln w="12700">
            <a:solidFill>
              <a:srgbClr val="8FB8F5"/>
            </a:solidFill>
            <a:prstDash val="solid"/>
          </a:ln>
        </p:spPr>
      </p:sp>
      <p:sp>
        <p:nvSpPr>
          <p:cNvPr id="11" name="scn-num-0"/>
          <p:cNvSpPr txBox="1"/>
          <p:nvPr/>
        </p:nvSpPr>
        <p:spPr>
          <a:xfrm>
            <a:off x="502920" y="37124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2" name="scn-k-0"/>
          <p:cNvSpPr txBox="1"/>
          <p:nvPr/>
        </p:nvSpPr>
        <p:spPr>
          <a:xfrm>
            <a:off x="1005840" y="3657600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315E"/>
                </a:solidFill>
              </a:rPr>
              <a:t>智能第二程</a:t>
            </a:r>
            <a:endParaRPr lang="en-US" sz="1400" dirty="0"/>
          </a:p>
        </p:txBody>
      </p:sp>
      <p:sp>
        <p:nvSpPr>
          <p:cNvPr id="13" name="scn-v-0"/>
          <p:cNvSpPr txBox="1"/>
          <p:nvPr/>
        </p:nvSpPr>
        <p:spPr>
          <a:xfrm>
            <a:off x="2468880" y="3657600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4757"/>
                </a:solidFill>
              </a:rPr>
              <a:t>用户确认第二程方案后，由代付改为直付</a:t>
            </a:r>
            <a:endParaRPr lang="en-US" sz="1250" dirty="0"/>
          </a:p>
        </p:txBody>
      </p:sp>
      <p:sp>
        <p:nvSpPr>
          <p:cNvPr id="14" name="scn-dot-1"/>
          <p:cNvSpPr/>
          <p:nvPr/>
        </p:nvSpPr>
        <p:spPr>
          <a:xfrm>
            <a:off x="502920" y="4261104"/>
            <a:ext cx="365760" cy="365760"/>
          </a:xfrm>
          <a:prstGeom prst="ellipse">
            <a:avLst/>
          </a:prstGeom>
          <a:solidFill>
            <a:srgbClr val="8FB8F5"/>
          </a:solidFill>
          <a:ln w="12700">
            <a:solidFill>
              <a:srgbClr val="8FB8F5"/>
            </a:solidFill>
            <a:prstDash val="solid"/>
          </a:ln>
        </p:spPr>
      </p:sp>
      <p:sp>
        <p:nvSpPr>
          <p:cNvPr id="15" name="scn-num-1"/>
          <p:cNvSpPr txBox="1"/>
          <p:nvPr/>
        </p:nvSpPr>
        <p:spPr>
          <a:xfrm>
            <a:off x="502920" y="4261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cn-k-1"/>
          <p:cNvSpPr txBox="1"/>
          <p:nvPr/>
        </p:nvSpPr>
        <p:spPr>
          <a:xfrm>
            <a:off x="1005840" y="4206240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315E"/>
                </a:solidFill>
              </a:rPr>
              <a:t>行程冲突</a:t>
            </a:r>
            <a:endParaRPr lang="en-US" sz="1400" dirty="0"/>
          </a:p>
        </p:txBody>
      </p:sp>
      <p:sp>
        <p:nvSpPr>
          <p:cNvPr id="17" name="scn-v-1"/>
          <p:cNvSpPr txBox="1"/>
          <p:nvPr/>
        </p:nvSpPr>
        <p:spPr>
          <a:xfrm>
            <a:off x="2468880" y="4206240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4757"/>
                </a:solidFill>
              </a:rPr>
              <a:t>非支付宝及支付宝黑名单订单，确认出票时走直付</a:t>
            </a:r>
            <a:endParaRPr lang="en-US" sz="1250" dirty="0"/>
          </a:p>
        </p:txBody>
      </p:sp>
      <p:sp>
        <p:nvSpPr>
          <p:cNvPr id="18" name="scn-dot-2"/>
          <p:cNvSpPr/>
          <p:nvPr/>
        </p:nvSpPr>
        <p:spPr>
          <a:xfrm>
            <a:off x="502920" y="4809744"/>
            <a:ext cx="365760" cy="365760"/>
          </a:xfrm>
          <a:prstGeom prst="ellipse">
            <a:avLst/>
          </a:prstGeom>
          <a:solidFill>
            <a:srgbClr val="8FB8F5"/>
          </a:solidFill>
          <a:ln w="12700">
            <a:solidFill>
              <a:srgbClr val="8FB8F5"/>
            </a:solidFill>
            <a:prstDash val="solid"/>
          </a:ln>
        </p:spPr>
      </p:sp>
      <p:sp>
        <p:nvSpPr>
          <p:cNvPr id="19" name="scn-num-2"/>
          <p:cNvSpPr txBox="1"/>
          <p:nvPr/>
        </p:nvSpPr>
        <p:spPr>
          <a:xfrm>
            <a:off x="502920" y="48097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20" name="scn-k-2"/>
          <p:cNvSpPr txBox="1"/>
          <p:nvPr/>
        </p:nvSpPr>
        <p:spPr>
          <a:xfrm>
            <a:off x="1005840" y="4754880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315E"/>
                </a:solidFill>
              </a:rPr>
              <a:t>票款不足补款</a:t>
            </a:r>
            <a:endParaRPr lang="en-US" sz="1400" dirty="0"/>
          </a:p>
        </p:txBody>
      </p:sp>
      <p:sp>
        <p:nvSpPr>
          <p:cNvPr id="21" name="scn-v-2"/>
          <p:cNvSpPr txBox="1"/>
          <p:nvPr/>
        </p:nvSpPr>
        <p:spPr>
          <a:xfrm>
            <a:off x="2468880" y="4754880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4757"/>
                </a:solidFill>
              </a:rPr>
              <a:t>非支付宝及支付宝黑名单订单，补款时走直付</a:t>
            </a:r>
            <a:endParaRPr lang="en-US" sz="1250" dirty="0"/>
          </a:p>
        </p:txBody>
      </p:sp>
      <p:sp>
        <p:nvSpPr>
          <p:cNvPr id="22" name="ef-chip"/>
          <p:cNvSpPr/>
          <p:nvPr/>
        </p:nvSpPr>
        <p:spPr>
          <a:xfrm>
            <a:off x="457200" y="5440680"/>
            <a:ext cx="713232" cy="329184"/>
          </a:xfrm>
          <a:prstGeom prst="roundRect">
            <a:avLst>
              <a:gd name="adj" fmla="val 16667"/>
            </a:avLst>
          </a:prstGeom>
          <a:solidFill>
            <a:srgbClr val="287DFA"/>
          </a:solidFill>
          <a:ln w="12700">
            <a:solidFill>
              <a:srgbClr val="287DFA"/>
            </a:solidFill>
            <a:prstDash val="solid"/>
          </a:ln>
        </p:spPr>
      </p:sp>
      <p:sp>
        <p:nvSpPr>
          <p:cNvPr id="23" name="ef-chip-t"/>
          <p:cNvSpPr txBox="1"/>
          <p:nvPr/>
        </p:nvSpPr>
        <p:spPr>
          <a:xfrm>
            <a:off x="457200" y="5440680"/>
            <a:ext cx="713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效果</a:t>
            </a:r>
            <a:endParaRPr lang="en-US" sz="1300" dirty="0"/>
          </a:p>
        </p:txBody>
      </p:sp>
      <p:sp>
        <p:nvSpPr>
          <p:cNvPr id="24" name="ef-text"/>
          <p:cNvSpPr txBox="1"/>
          <p:nvPr/>
        </p:nvSpPr>
        <p:spPr>
          <a:xfrm>
            <a:off x="1325880" y="530352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4757"/>
                </a:solidFill>
              </a:rPr>
              <a:t>合计年化挽回票量  </a:t>
            </a:r>
            <a:pPr indent="0" marL="0">
              <a:buNone/>
            </a:pPr>
            <a:r>
              <a:rPr lang="en-US" sz="2800" b="1" dirty="0">
                <a:solidFill>
                  <a:srgbClr val="287DFA"/>
                </a:solidFill>
              </a:rPr>
              <a:t>约 11.6 万张</a:t>
            </a:r>
            <a:endParaRPr lang="en-US" sz="1400" dirty="0"/>
          </a:p>
        </p:txBody>
      </p:sp>
      <p:pic>
        <p:nvPicPr>
          <p:cNvPr id="25" name="flow-shot-0" descr="智能第二程：车票待确认页，用户确认出票后走直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554480"/>
            <a:ext cx="1788742" cy="3931920"/>
          </a:xfrm>
          <a:prstGeom prst="rect">
            <a:avLst/>
          </a:prstGeom>
        </p:spPr>
      </p:pic>
      <p:sp>
        <p:nvSpPr>
          <p:cNvPr id="26" name="flow-frame-0"/>
          <p:cNvSpPr/>
          <p:nvPr/>
        </p:nvSpPr>
        <p:spPr>
          <a:xfrm>
            <a:off x="6400800" y="1554480"/>
            <a:ext cx="1788742" cy="39319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9DEE7"/>
            </a:solidFill>
            <a:prstDash val="solid"/>
          </a:ln>
        </p:spPr>
      </p:sp>
      <p:sp>
        <p:nvSpPr>
          <p:cNvPr id="27" name="flow-cap-0"/>
          <p:cNvSpPr txBox="1"/>
          <p:nvPr/>
        </p:nvSpPr>
        <p:spPr>
          <a:xfrm>
            <a:off x="6126480" y="5577840"/>
            <a:ext cx="233738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315E"/>
                </a:solidFill>
              </a:rPr>
              <a:t>智能第二程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4757"/>
                </a:solidFill>
              </a:rPr>
              <a:t>车票待确认页，用户确认出票后走直付</a:t>
            </a:r>
            <a:endParaRPr lang="en-US" sz="1200" dirty="0"/>
          </a:p>
        </p:txBody>
      </p:sp>
      <p:pic>
        <p:nvPicPr>
          <p:cNvPr id="28" name="flow-shot-1" descr="行程冲突：提示行程冲突，用户确认出票后走直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1554480"/>
            <a:ext cx="1788742" cy="3931920"/>
          </a:xfrm>
          <a:prstGeom prst="rect">
            <a:avLst/>
          </a:prstGeom>
        </p:spPr>
      </p:pic>
      <p:sp>
        <p:nvSpPr>
          <p:cNvPr id="29" name="flow-frame-1"/>
          <p:cNvSpPr/>
          <p:nvPr/>
        </p:nvSpPr>
        <p:spPr>
          <a:xfrm>
            <a:off x="9144000" y="1554480"/>
            <a:ext cx="1788742" cy="39319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9DEE7"/>
            </a:solidFill>
            <a:prstDash val="solid"/>
          </a:ln>
        </p:spPr>
      </p:sp>
      <p:sp>
        <p:nvSpPr>
          <p:cNvPr id="30" name="flow-cap-1"/>
          <p:cNvSpPr txBox="1"/>
          <p:nvPr/>
        </p:nvSpPr>
        <p:spPr>
          <a:xfrm>
            <a:off x="8869680" y="5577840"/>
            <a:ext cx="233738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315E"/>
                </a:solidFill>
              </a:rPr>
              <a:t>行程冲突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4757"/>
                </a:solidFill>
              </a:rPr>
              <a:t>提示行程冲突，用户确认出票后走直付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3、主要项目 · 成功率专项：放开抢转买</a:t>
            </a:r>
            <a:endParaRPr lang="en-US" sz="3000" dirty="0"/>
          </a:p>
        </p:txBody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457200" y="91440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拓展出票方式：对能够正常代付的支付宝（非黑名单）订单重新开放抢转买</a:t>
            </a:r>
            <a:endParaRPr lang="en-US" sz="1700" dirty="0"/>
          </a:p>
        </p:txBody>
      </p:sp>
      <p:sp>
        <p:nvSpPr>
          <p:cNvPr id="4" name="bg-chip"/>
          <p:cNvSpPr/>
          <p:nvPr/>
        </p:nvSpPr>
        <p:spPr>
          <a:xfrm>
            <a:off x="457200" y="1554480"/>
            <a:ext cx="713232" cy="329184"/>
          </a:xfrm>
          <a:prstGeom prst="roundRect">
            <a:avLst>
              <a:gd name="adj" fmla="val 16667"/>
            </a:avLst>
          </a:prstGeom>
          <a:solidFill>
            <a:srgbClr val="287DFA"/>
          </a:solidFill>
          <a:ln w="12700">
            <a:solidFill>
              <a:srgbClr val="287DFA"/>
            </a:solidFill>
            <a:prstDash val="solid"/>
          </a:ln>
        </p:spPr>
      </p:sp>
      <p:sp>
        <p:nvSpPr>
          <p:cNvPr id="5" name="bg-chip-t"/>
          <p:cNvSpPr txBox="1"/>
          <p:nvPr/>
        </p:nvSpPr>
        <p:spPr>
          <a:xfrm>
            <a:off x="457200" y="1554480"/>
            <a:ext cx="713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背景</a:t>
            </a:r>
            <a:endParaRPr lang="en-US" sz="1300" dirty="0"/>
          </a:p>
        </p:txBody>
      </p:sp>
      <p:sp>
        <p:nvSpPr>
          <p:cNvPr id="6" name="bg-text"/>
          <p:cNvSpPr txBox="1"/>
          <p:nvPr/>
        </p:nvSpPr>
        <p:spPr>
          <a:xfrm>
            <a:off x="457200" y="1965960"/>
            <a:ext cx="5760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D4757"/>
                </a:solidFill>
              </a:rPr>
              <a:t>支付风控后抢转买关闭，用户改单选择有票方案时只能通过捡漏出票，平峰期成功率约 54.9%</a:t>
            </a:r>
            <a:endParaRPr lang="en-US" sz="1300" dirty="0"/>
          </a:p>
        </p:txBody>
      </p:sp>
      <p:sp>
        <p:nvSpPr>
          <p:cNvPr id="7" name="st-chip"/>
          <p:cNvSpPr/>
          <p:nvPr/>
        </p:nvSpPr>
        <p:spPr>
          <a:xfrm>
            <a:off x="457200" y="2788920"/>
            <a:ext cx="713232" cy="329184"/>
          </a:xfrm>
          <a:prstGeom prst="roundRect">
            <a:avLst>
              <a:gd name="adj" fmla="val 16667"/>
            </a:avLst>
          </a:prstGeom>
          <a:solidFill>
            <a:srgbClr val="287DFA"/>
          </a:solidFill>
          <a:ln w="12700">
            <a:solidFill>
              <a:srgbClr val="287DFA"/>
            </a:solidFill>
            <a:prstDash val="solid"/>
          </a:ln>
        </p:spPr>
      </p:sp>
      <p:sp>
        <p:nvSpPr>
          <p:cNvPr id="8" name="st-chip-t"/>
          <p:cNvSpPr txBox="1"/>
          <p:nvPr/>
        </p:nvSpPr>
        <p:spPr>
          <a:xfrm>
            <a:off x="457200" y="2788920"/>
            <a:ext cx="713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策略</a:t>
            </a:r>
            <a:endParaRPr lang="en-US" sz="1300" dirty="0"/>
          </a:p>
        </p:txBody>
      </p:sp>
      <p:sp>
        <p:nvSpPr>
          <p:cNvPr id="9" name="st-text"/>
          <p:cNvSpPr txBox="1"/>
          <p:nvPr/>
        </p:nvSpPr>
        <p:spPr>
          <a:xfrm>
            <a:off x="457200" y="3200400"/>
            <a:ext cx="5760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D4757"/>
                </a:solidFill>
              </a:rPr>
              <a:t>8 月放开支付宝（非黑名单）订单在该场景下的抢转买，选择有票方案后可走买票通道出票</a:t>
            </a:r>
            <a:endParaRPr lang="en-US" sz="1300" dirty="0"/>
          </a:p>
        </p:txBody>
      </p:sp>
      <p:pic>
        <p:nvPicPr>
          <p:cNvPr id="10" name="ba-shot" descr="订单详情页添加方案：有票方案入口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977640"/>
            <a:ext cx="2849826" cy="2240280"/>
          </a:xfrm>
          <a:prstGeom prst="rect">
            <a:avLst/>
          </a:prstGeom>
        </p:spPr>
      </p:pic>
      <p:sp>
        <p:nvSpPr>
          <p:cNvPr id="11" name="ba-frame"/>
          <p:cNvSpPr/>
          <p:nvPr/>
        </p:nvSpPr>
        <p:spPr>
          <a:xfrm>
            <a:off x="457200" y="3977640"/>
            <a:ext cx="2849826" cy="2240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9DEE7"/>
            </a:solidFill>
            <a:prstDash val="solid"/>
          </a:ln>
        </p:spPr>
      </p:sp>
      <p:sp>
        <p:nvSpPr>
          <p:cNvPr id="12" name="ba-cap"/>
          <p:cNvSpPr txBox="1"/>
          <p:nvPr/>
        </p:nvSpPr>
        <p:spPr>
          <a:xfrm>
            <a:off x="3535626" y="4389120"/>
            <a:ext cx="268229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5315E"/>
                </a:solidFill>
              </a:rPr>
              <a:t>订单详情页 · 添加方案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D4757"/>
                </a:solidFill>
              </a:rPr>
              <a:t>「有票方案」入口：选择后可立即出票</a:t>
            </a:r>
            <a:endParaRPr lang="en-US" sz="1250" dirty="0"/>
          </a:p>
        </p:txBody>
      </p:sp>
      <p:sp>
        <p:nvSpPr>
          <p:cNvPr id="13" name="ef-chip"/>
          <p:cNvSpPr/>
          <p:nvPr/>
        </p:nvSpPr>
        <p:spPr>
          <a:xfrm>
            <a:off x="6583680" y="1554480"/>
            <a:ext cx="713232" cy="329184"/>
          </a:xfrm>
          <a:prstGeom prst="roundRect">
            <a:avLst>
              <a:gd name="adj" fmla="val 16667"/>
            </a:avLst>
          </a:prstGeom>
          <a:solidFill>
            <a:srgbClr val="287DFA"/>
          </a:solidFill>
          <a:ln w="12700">
            <a:solidFill>
              <a:srgbClr val="287DFA"/>
            </a:solidFill>
            <a:prstDash val="solid"/>
          </a:ln>
        </p:spPr>
      </p:sp>
      <p:sp>
        <p:nvSpPr>
          <p:cNvPr id="14" name="ef-chip-t"/>
          <p:cNvSpPr txBox="1"/>
          <p:nvPr/>
        </p:nvSpPr>
        <p:spPr>
          <a:xfrm>
            <a:off x="6583680" y="1554480"/>
            <a:ext cx="713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效果</a:t>
            </a:r>
            <a:endParaRPr lang="en-US" sz="1300" dirty="0"/>
          </a:p>
        </p:txBody>
      </p:sp>
      <p:sp>
        <p:nvSpPr>
          <p:cNvPr id="15" name="chart-cap"/>
          <p:cNvSpPr txBox="1"/>
          <p:nvPr/>
        </p:nvSpPr>
        <p:spPr>
          <a:xfrm>
            <a:off x="6583680" y="2011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0"/>
                </a:solidFill>
              </a:rPr>
              <a:t>平峰期成功率</a:t>
            </a:r>
            <a:endParaRPr lang="en-US" sz="1200" dirty="0"/>
          </a:p>
        </p:txBody>
      </p:sp>
      <p:graphicFrame>
        <p:nvGraphicFramePr>
          <p:cNvPr id="16" name="sr-chart" descr=""/>
          <p:cNvGraphicFramePr/>
          <p:nvPr/>
        </p:nvGraphicFramePr>
        <p:xfrm>
          <a:off x="6492240" y="2286000"/>
          <a:ext cx="310896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7" name="k1-card"/>
          <p:cNvSpPr/>
          <p:nvPr/>
        </p:nvSpPr>
        <p:spPr>
          <a:xfrm>
            <a:off x="9829800" y="2286000"/>
            <a:ext cx="1901952" cy="1828800"/>
          </a:xfrm>
          <a:prstGeom prst="roundRect">
            <a:avLst>
              <a:gd name="adj" fmla="val 4000"/>
            </a:avLst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18" name="k1-l"/>
          <p:cNvSpPr txBox="1"/>
          <p:nvPr/>
        </p:nvSpPr>
        <p:spPr>
          <a:xfrm>
            <a:off x="9966960" y="242316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D4757"/>
                </a:solidFill>
              </a:rPr>
              <a:t>平峰期成功率</a:t>
            </a:r>
            <a:endParaRPr lang="en-US" sz="1200" dirty="0"/>
          </a:p>
        </p:txBody>
      </p:sp>
      <p:sp>
        <p:nvSpPr>
          <p:cNvPr id="19" name="k1-v"/>
          <p:cNvSpPr txBox="1"/>
          <p:nvPr/>
        </p:nvSpPr>
        <p:spPr>
          <a:xfrm>
            <a:off x="9966960" y="278892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87DFA"/>
                </a:solidFill>
              </a:rPr>
              <a:t>+10.3pp</a:t>
            </a:r>
            <a:endParaRPr lang="en-US" sz="2400" dirty="0"/>
          </a:p>
        </p:txBody>
      </p:sp>
      <p:sp>
        <p:nvSpPr>
          <p:cNvPr id="20" name="k1-s"/>
          <p:cNvSpPr txBox="1"/>
          <p:nvPr/>
        </p:nvSpPr>
        <p:spPr>
          <a:xfrm>
            <a:off x="9966960" y="34290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0"/>
                </a:solidFill>
              </a:rPr>
              <a:t>54.9% → 65.2%</a:t>
            </a:r>
            <a:endParaRPr lang="en-US" sz="1200" dirty="0"/>
          </a:p>
        </p:txBody>
      </p:sp>
      <p:sp>
        <p:nvSpPr>
          <p:cNvPr id="21" name="k2-card"/>
          <p:cNvSpPr/>
          <p:nvPr/>
        </p:nvSpPr>
        <p:spPr>
          <a:xfrm>
            <a:off x="9829800" y="4389120"/>
            <a:ext cx="1901952" cy="1828800"/>
          </a:xfrm>
          <a:prstGeom prst="roundRect">
            <a:avLst>
              <a:gd name="adj" fmla="val 4000"/>
            </a:avLst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22" name="k2-l"/>
          <p:cNvSpPr txBox="1"/>
          <p:nvPr/>
        </p:nvSpPr>
        <p:spPr>
          <a:xfrm>
            <a:off x="9966960" y="45262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D4757"/>
                </a:solidFill>
              </a:rPr>
              <a:t>预期年化票增量</a:t>
            </a:r>
            <a:endParaRPr lang="en-US" sz="1200" dirty="0"/>
          </a:p>
        </p:txBody>
      </p:sp>
      <p:sp>
        <p:nvSpPr>
          <p:cNvPr id="23" name="k2-v"/>
          <p:cNvSpPr txBox="1"/>
          <p:nvPr/>
        </p:nvSpPr>
        <p:spPr>
          <a:xfrm>
            <a:off x="9966960" y="48920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87DFA"/>
                </a:solidFill>
              </a:rPr>
              <a:t>约 40 万张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rip Defense">
  <a:themeElements>
    <a:clrScheme name="Trip Defense">
      <a:dk1>
        <a:srgbClr val="15315E"/>
      </a:dk1>
      <a:lt1>
        <a:srgbClr val="FFFFFF"/>
      </a:lt1>
      <a:dk2>
        <a:srgbClr val="3D4757"/>
      </a:dk2>
      <a:lt2>
        <a:srgbClr val="EEF4FF"/>
      </a:lt2>
      <a:accent1>
        <a:srgbClr val="287DFA"/>
      </a:accent1>
      <a:accent2>
        <a:srgbClr val="FF7A1A"/>
      </a:accent2>
      <a:accent3>
        <a:srgbClr val="15315E"/>
      </a:accent3>
      <a:accent4>
        <a:srgbClr val="8FB8F5"/>
      </a:accent4>
      <a:accent5>
        <a:srgbClr val="D9DEE7"/>
      </a:accent5>
      <a:accent6>
        <a:srgbClr val="5B6B80"/>
      </a:accent6>
      <a:hlink>
        <a:srgbClr val="287DFA"/>
      </a:hlink>
      <a:folHlink>
        <a:srgbClr val="15315E"/>
      </a:folHlink>
    </a:clrScheme>
    <a:fontScheme name="Trip Defens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2026-10-29T21:51:25Z</dcterms:created>
  <dcterms:modified xsi:type="dcterms:W3CDTF">2026-10-29T21:51:25Z</dcterms:modified>
</cp:coreProperties>
</file>