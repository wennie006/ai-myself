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成功率专项" id="{84da1ab2-f49d-3cbb-aeca-f523cae63d5b}">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平峰期成功率</c:v>
                </c:pt>
              </c:strCache>
            </c:strRef>
          </c:tx>
          <c:spPr>
            <a:solidFill>
              <a:srgbClr val="8FB8F5"/>
            </a:solidFill>
            <a:effectLst/>
          </c:spPr>
          <c:invertIfNegative val="0"/>
          <c:dLbls>
            <c:numFmt formatCode="0.0&quot;%&quot;" sourceLinked="0"/>
            <c:txPr>
              <a:bodyPr/>
              <a:lstStyle/>
              <a:p>
                <a:pPr>
                  <a:defRPr b="1" i="0" strike="noStrike" sz="1600" u="none">
                    <a:solidFill>
                      <a:srgbClr val="15315E"/>
                    </a:solidFill>
                    <a:latin typeface="+mn-lt"/>
                  </a:defRPr>
                </a:pPr>
              </a:p>
            </c:txPr>
            <c:showLegendKey val="0"/>
            <c:showVal val="1"/>
            <c:showCatName val="0"/>
            <c:showSerName val="0"/>
            <c:showPercent val="0"/>
            <c:showBubbleSize val="0"/>
            <c:showLeaderLines val="0"/>
          </c:dLbls>
          <c:dPt>
            <c:idx val="0"/>
            <c:invertIfNegative val="0"/>
            <c:bubble3D val="0"/>
            <c:spPr>
              <a:solidFill>
                <a:srgbClr val="8FB8F5"/>
              </a:solidFill>
              <a:effectLst/>
            </c:spPr>
          </c:dPt>
          <c:dPt>
            <c:idx val="1"/>
            <c:invertIfNegative val="0"/>
            <c:bubble3D val="0"/>
            <c:spPr>
              <a:solidFill>
                <a:srgbClr val="287DFA"/>
              </a:solidFill>
              <a:effectLst/>
            </c:spPr>
          </c:dPt>
          <c:cat>
            <c:multiLvlStrRef>
              <c:f>Sheet1!$A$2:$A$3</c:f>
              <c:multiLvlStrCache>
                <c:ptCount val="2"/>
                <c:lvl>
                  <c:pt idx="0">
                    <c:v>放开前</c:v>
                  </c:pt>
                  <c:pt idx="1">
                    <c:v>放开后</c:v>
                  </c:pt>
                </c:lvl>
              </c:multiLvlStrCache>
            </c:multiLvlStrRef>
          </c:cat>
          <c:val>
            <c:numRef>
              <c:f>Sheet1!$B$2:$B$3</c:f>
              <c:numCache>
                <c:formatCode>General</c:formatCode>
                <c:ptCount val="2"/>
                <c:pt idx="0">
                  <c:v>54.9</c:v>
                </c:pt>
                <c:pt idx="1">
                  <c:v>65.2</c:v>
                </c:pt>
              </c:numCache>
            </c:numRef>
          </c:val>
        </c:ser>
        <c:dLbls>
          <c:numFmt formatCode="0.0&quot;%&quot;" sourceLinked="0"/>
          <c:txPr>
            <a:bodyPr/>
            <a:lstStyle/>
            <a:p>
              <a:pPr>
                <a:defRPr b="1" i="0" strike="noStrike" sz="1600" u="none">
                  <a:solidFill>
                    <a:srgbClr val="15315E"/>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D4757"/>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成功率专项关注已下单的订单能不能出票，支付挽回的核心目标是挽回由风控导致的票量损失。除转线下票之外，抢票出票都需要都要经过扣位成功后向12306支付的环节，但由于风控影响，只有带有支付宝标记的订单才能够通过代付成功出票；而召回用户重新直付的过程存在流失漏斗，这也是携程成功率优势收窄的原因之一。
【目标】所以支付挽回主要是沿着两条路径，一是引导支付宝，在扣位之前让更多订单具备代付条件，二是提供直付兜底，让代付不了的订单，尤其是在四月直付改造之后遗留的一些长尾场景，在扣位之后仍有机会出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引导支付宝上，我们做了第二期的用低价产品引导用户使用支付宝支付。之前我们做过在抢票中用低价产品吸引用户使用支付宝的策略，但转换率较低，为了进一步降低非支付宝订单数，提高大盘抢票成功率，我们扩大了补贴范围，需求上线后，日均目标订单数约 10,916 单，转化订单数约 232 单。下一步我们准备（待补充）
此外我们也在对一些并非强制只能走直付才能的场景进行支付宝改造，例如针对非黑名单用户限制召回后只能走支付宝出票，能够避免由于订单支付状态判定超时导致的票量损失，对于召回候补来说能够转化更多的订单为支付宝订单，后续能够直接代付出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抢票的主流程直付改造之后，还有一些长尾场景需要覆盖。直付的成本和主要的痛点就在于召回用户的过程中存在的流失漏斗，于是在引导直付这一链路上，我们倾向于在那些原本就需要用户确认的节点接直付。8 月份，我们先后对智能第二程、非支付宝以及支付宝黑名单订单行程冲突、票款不足补款等场景进行直付改造，合计年化挽回票量约 11.6 万张。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另外针对票量方面，并且对出票方式进行拓展，由于支付风控原因关闭抢转买后，用户在改单选择有票方案时只能通过捡漏出票，平峰期成功率约54.9%，8月我们放开了能够正常代付出票的支付宝（非黑名单）订单在该场景下的抢转买，上线后平峰期成功率从54.9%上升到65.2%，预期年化票增量约40万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22960"/>
            <a:ext cx="11274552" cy="0"/>
          </a:xfrm>
          <a:prstGeom prst="line">
            <a:avLst/>
          </a:prstGeom>
          <a:noFill/>
          <a:ln w="9525">
            <a:solidFill>
              <a:srgbClr val="D9DEE7"/>
            </a:solidFill>
            <a:prstDash val="solid"/>
          </a:ln>
        </p:spPr>
      </p:sp>
      <p:sp>
        <p:nvSpPr>
          <p:cNvPr id="3" name="Text 1"/>
          <p:cNvSpPr/>
          <p:nvPr/>
        </p:nvSpPr>
        <p:spPr>
          <a:xfrm>
            <a:off x="457200" y="6446520"/>
            <a:ext cx="3657600" cy="274320"/>
          </a:xfrm>
          <a:prstGeom prst="rect">
            <a:avLst/>
          </a:prstGeom>
          <a:noFill/>
          <a:ln/>
        </p:spPr>
        <p:txBody>
          <a:bodyPr wrap="square" lIns="0" tIns="0" rIns="0" bIns="0" rtlCol="0" anchor="ctr"/>
          <a:lstStyle/>
          <a:p>
            <a:pPr indent="0" marL="0">
              <a:buNone/>
            </a:pPr>
            <a:r>
              <a:rPr lang="en-US" sz="900" dirty="0">
                <a:solidFill>
                  <a:srgbClr val="5B6B80"/>
                </a:solidFill>
              </a:rPr>
              <a:t>© Trip.com All rights reserved.</a:t>
            </a:r>
            <a:endParaRPr lang="en-US" sz="900" dirty="0"/>
          </a:p>
        </p:txBody>
      </p:sp>
      <p:sp>
        <p:nvSpPr>
          <p:cNvPr id="4" name="Text 2"/>
          <p:cNvSpPr/>
          <p:nvPr>
            <p:ph idx="102" type="title" hasCustomPrompt="1"/>
          </p:nvPr>
        </p:nvSpPr>
        <p:spPr>
          <a:xfrm>
            <a:off x="457200" y="109728"/>
            <a:ext cx="11247120" cy="658368"/>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5" name="Text 2"/>
          <p:cNvSpPr/>
          <p:nvPr>
            <p:ph idx="103" type="body" hasCustomPrompt="1"/>
          </p:nvPr>
        </p:nvSpPr>
        <p:spPr>
          <a:xfrm>
            <a:off x="457200" y="914400"/>
            <a:ext cx="11247120" cy="411480"/>
          </a:xfrm>
          <a:prstGeom prst="rect">
            <a:avLst/>
          </a:prstGeom>
          <a:noFill/>
          <a:ln/>
        </p:spPr>
        <p:txBody>
          <a:bodyPr wrap="square" rtlCol="0"/>
          <a:lstStyle>
            <a:lvl1pPr algn="l" indent="0" marL="0">
              <a:buNone/>
              <a:defRPr lang="en-US" sz="1700" b="1" dirty="0">
                <a:solidFill>
                  <a:schemeClr val="tx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title" hasCustomPrompt="1"/>
          </p:nvPr>
        </p:nvSpPr>
        <p:spPr>
          <a:xfrm>
            <a:off x="457200" y="109728"/>
            <a:ext cx="11247120" cy="658368"/>
          </a:xfrm>
          <a:prstGeom prst="rect">
            <a:avLst/>
          </a:prstGeom>
          <a:noFill/>
          <a:ln/>
        </p:spPr>
        <p:txBody>
          <a:bodyPr wrap="square" lIns="0" tIns="0" rIns="0" bIns="0" rtlCol="0" anchor="ctr"/>
          <a:lstStyle/>
          <a:p>
            <a:pPr algn="l" indent="0" marL="0">
              <a:buNone/>
            </a:pPr>
            <a:r>
              <a:rPr lang="en-US" sz="3000" b="1" dirty="0">
                <a:solidFill>
                  <a:schemeClr val="accent1"/>
                </a:solidFill>
              </a:rPr>
              <a:t>3、主要项目 · 成功率专项：支付挽回</a:t>
            </a:r>
            <a:endParaRPr lang="en-US" sz="3000" dirty="0"/>
          </a:p>
        </p:txBody>
      </p:sp>
      <p:sp>
        <p:nvSpPr>
          <p:cNvPr id="3" name="Text 2"/>
          <p:cNvSpPr/>
          <p:nvPr>
            <p:ph idx="103" type="body" hasCustomPrompt="1"/>
          </p:nvPr>
        </p:nvSpPr>
        <p:spPr>
          <a:xfrm>
            <a:off x="457200" y="914400"/>
            <a:ext cx="11247120" cy="411480"/>
          </a:xfrm>
          <a:prstGeom prst="rect">
            <a:avLst/>
          </a:prstGeom>
          <a:noFill/>
          <a:ln/>
        </p:spPr>
        <p:txBody>
          <a:bodyPr wrap="square" lIns="0" tIns="0" rIns="0" bIns="0" rtlCol="0" anchor="ctr"/>
          <a:lstStyle/>
          <a:p>
            <a:pPr algn="l" indent="0" marL="0">
              <a:buNone/>
            </a:pPr>
            <a:r>
              <a:rPr lang="en-US" sz="1700" b="1" dirty="0">
                <a:solidFill>
                  <a:schemeClr val="tx1"/>
                </a:solidFill>
              </a:rPr>
              <a:t>核心目标：挽回由支付风控导致的票量损失</a:t>
            </a:r>
            <a:endParaRPr lang="en-US" sz="1700" dirty="0"/>
          </a:p>
        </p:txBody>
      </p:sp>
      <p:sp>
        <p:nvSpPr>
          <p:cNvPr id="4" name="chain-head"/>
          <p:cNvSpPr txBox="1"/>
          <p:nvPr/>
        </p:nvSpPr>
        <p:spPr>
          <a:xfrm>
            <a:off x="457200" y="1508760"/>
            <a:ext cx="6949440" cy="320040"/>
          </a:xfrm>
          <a:prstGeom prst="rect">
            <a:avLst/>
          </a:prstGeom>
          <a:noFill/>
          <a:ln/>
        </p:spPr>
        <p:txBody>
          <a:bodyPr wrap="square" lIns="0" tIns="0" rIns="0" bIns="0" rtlCol="0" anchor="t"/>
          <a:lstStyle/>
          <a:p>
            <a:pPr indent="0" marL="0">
              <a:buNone/>
            </a:pPr>
            <a:r>
              <a:rPr lang="en-US" sz="1600" b="1" dirty="0">
                <a:solidFill>
                  <a:srgbClr val="287DFA"/>
                </a:solidFill>
              </a:rPr>
              <a:t>出票链路：扣位成功后必须向 12306 支付</a:t>
            </a:r>
            <a:endParaRPr lang="en-US" sz="1600" dirty="0"/>
          </a:p>
        </p:txBody>
      </p:sp>
      <p:sp>
        <p:nvSpPr>
          <p:cNvPr id="5" name="node-0"/>
          <p:cNvSpPr/>
          <p:nvPr/>
        </p:nvSpPr>
        <p:spPr>
          <a:xfrm>
            <a:off x="457200" y="1965960"/>
            <a:ext cx="1463040" cy="777240"/>
          </a:xfrm>
          <a:prstGeom prst="roundRect">
            <a:avLst>
              <a:gd name="adj" fmla="val 9412"/>
            </a:avLst>
          </a:prstGeom>
          <a:solidFill>
            <a:srgbClr val="EEF4FF"/>
          </a:solidFill>
          <a:ln w="12700">
            <a:solidFill>
              <a:srgbClr val="EEF4FF"/>
            </a:solidFill>
            <a:prstDash val="solid"/>
          </a:ln>
        </p:spPr>
      </p:sp>
      <p:sp>
        <p:nvSpPr>
          <p:cNvPr id="6" name="node-t-0"/>
          <p:cNvSpPr txBox="1"/>
          <p:nvPr/>
        </p:nvSpPr>
        <p:spPr>
          <a:xfrm>
            <a:off x="457200" y="1965960"/>
            <a:ext cx="1463040" cy="777240"/>
          </a:xfrm>
          <a:prstGeom prst="rect">
            <a:avLst/>
          </a:prstGeom>
          <a:noFill/>
          <a:ln/>
        </p:spPr>
        <p:txBody>
          <a:bodyPr wrap="square" lIns="0" tIns="0" rIns="0" bIns="0" rtlCol="0" anchor="ctr"/>
          <a:lstStyle/>
          <a:p>
            <a:pPr algn="ctr" indent="0" marL="0">
              <a:buNone/>
            </a:pPr>
            <a:r>
              <a:rPr lang="en-US" sz="1300" b="1" dirty="0">
                <a:solidFill>
                  <a:srgbClr val="15315E"/>
                </a:solidFill>
              </a:rPr>
              <a:t>用户下单</a:t>
            </a:r>
            <a:endParaRPr lang="en-US" sz="1300" dirty="0"/>
          </a:p>
          <a:p>
            <a:pPr algn="ctr" indent="0" marL="0">
              <a:buNone/>
            </a:pPr>
            <a:r>
              <a:rPr lang="en-US" sz="1300" b="1" dirty="0">
                <a:solidFill>
                  <a:srgbClr val="15315E"/>
                </a:solidFill>
              </a:rPr>
              <a:t>预付 / 授权</a:t>
            </a:r>
            <a:endParaRPr lang="en-US" sz="1300" dirty="0"/>
          </a:p>
        </p:txBody>
      </p:sp>
      <p:sp>
        <p:nvSpPr>
          <p:cNvPr id="7" name="arrow-0"/>
          <p:cNvSpPr/>
          <p:nvPr/>
        </p:nvSpPr>
        <p:spPr>
          <a:xfrm>
            <a:off x="1984248" y="2253996"/>
            <a:ext cx="219456" cy="201168"/>
          </a:xfrm>
          <a:prstGeom prst="rightArrow">
            <a:avLst/>
          </a:prstGeom>
          <a:solidFill>
            <a:srgbClr val="8FB8F5"/>
          </a:solidFill>
          <a:ln w="12700">
            <a:solidFill>
              <a:srgbClr val="8FB8F5"/>
            </a:solidFill>
            <a:prstDash val="solid"/>
          </a:ln>
        </p:spPr>
      </p:sp>
      <p:sp>
        <p:nvSpPr>
          <p:cNvPr id="8" name="node-1"/>
          <p:cNvSpPr/>
          <p:nvPr/>
        </p:nvSpPr>
        <p:spPr>
          <a:xfrm>
            <a:off x="2267712" y="1965960"/>
            <a:ext cx="1463040" cy="777240"/>
          </a:xfrm>
          <a:prstGeom prst="roundRect">
            <a:avLst>
              <a:gd name="adj" fmla="val 9412"/>
            </a:avLst>
          </a:prstGeom>
          <a:solidFill>
            <a:srgbClr val="EEF4FF"/>
          </a:solidFill>
          <a:ln w="12700">
            <a:solidFill>
              <a:srgbClr val="EEF4FF"/>
            </a:solidFill>
            <a:prstDash val="solid"/>
          </a:ln>
        </p:spPr>
      </p:sp>
      <p:sp>
        <p:nvSpPr>
          <p:cNvPr id="9" name="node-t-1"/>
          <p:cNvSpPr txBox="1"/>
          <p:nvPr/>
        </p:nvSpPr>
        <p:spPr>
          <a:xfrm>
            <a:off x="2267712" y="1965960"/>
            <a:ext cx="1463040" cy="777240"/>
          </a:xfrm>
          <a:prstGeom prst="rect">
            <a:avLst/>
          </a:prstGeom>
          <a:noFill/>
          <a:ln/>
        </p:spPr>
        <p:txBody>
          <a:bodyPr wrap="square" lIns="0" tIns="0" rIns="0" bIns="0" rtlCol="0" anchor="ctr"/>
          <a:lstStyle/>
          <a:p>
            <a:pPr algn="ctr" indent="0" marL="0">
              <a:buNone/>
            </a:pPr>
            <a:r>
              <a:rPr lang="en-US" sz="1300" b="1" dirty="0">
                <a:solidFill>
                  <a:srgbClr val="15315E"/>
                </a:solidFill>
              </a:rPr>
              <a:t>扣位成功</a:t>
            </a:r>
            <a:endParaRPr lang="en-US" sz="1300" dirty="0"/>
          </a:p>
        </p:txBody>
      </p:sp>
      <p:sp>
        <p:nvSpPr>
          <p:cNvPr id="10" name="arrow-1"/>
          <p:cNvSpPr/>
          <p:nvPr/>
        </p:nvSpPr>
        <p:spPr>
          <a:xfrm>
            <a:off x="3794760" y="2253996"/>
            <a:ext cx="219456" cy="201168"/>
          </a:xfrm>
          <a:prstGeom prst="rightArrow">
            <a:avLst/>
          </a:prstGeom>
          <a:solidFill>
            <a:srgbClr val="8FB8F5"/>
          </a:solidFill>
          <a:ln w="12700">
            <a:solidFill>
              <a:srgbClr val="8FB8F5"/>
            </a:solidFill>
            <a:prstDash val="solid"/>
          </a:ln>
        </p:spPr>
      </p:sp>
      <p:sp>
        <p:nvSpPr>
          <p:cNvPr id="11" name="node-2"/>
          <p:cNvSpPr/>
          <p:nvPr/>
        </p:nvSpPr>
        <p:spPr>
          <a:xfrm>
            <a:off x="4078224" y="1965960"/>
            <a:ext cx="1463040" cy="777240"/>
          </a:xfrm>
          <a:prstGeom prst="roundRect">
            <a:avLst>
              <a:gd name="adj" fmla="val 9412"/>
            </a:avLst>
          </a:prstGeom>
          <a:solidFill>
            <a:srgbClr val="FFF1E6"/>
          </a:solidFill>
          <a:ln w="19050">
            <a:solidFill>
              <a:srgbClr val="FF7A1A"/>
            </a:solidFill>
            <a:prstDash val="solid"/>
          </a:ln>
        </p:spPr>
      </p:sp>
      <p:sp>
        <p:nvSpPr>
          <p:cNvPr id="12" name="node-t-2"/>
          <p:cNvSpPr txBox="1"/>
          <p:nvPr/>
        </p:nvSpPr>
        <p:spPr>
          <a:xfrm>
            <a:off x="4078224" y="1965960"/>
            <a:ext cx="1463040" cy="777240"/>
          </a:xfrm>
          <a:prstGeom prst="rect">
            <a:avLst/>
          </a:prstGeom>
          <a:noFill/>
          <a:ln/>
        </p:spPr>
        <p:txBody>
          <a:bodyPr wrap="square" lIns="0" tIns="0" rIns="0" bIns="0" rtlCol="0" anchor="ctr"/>
          <a:lstStyle/>
          <a:p>
            <a:pPr algn="ctr" indent="0" marL="0">
              <a:buNone/>
            </a:pPr>
            <a:r>
              <a:rPr lang="en-US" sz="1300" b="1" dirty="0">
                <a:solidFill>
                  <a:srgbClr val="FF7A1A"/>
                </a:solidFill>
              </a:rPr>
              <a:t>向 12306 支付</a:t>
            </a:r>
            <a:endParaRPr lang="en-US" sz="1300" dirty="0"/>
          </a:p>
        </p:txBody>
      </p:sp>
      <p:sp>
        <p:nvSpPr>
          <p:cNvPr id="13" name="arrow-2"/>
          <p:cNvSpPr/>
          <p:nvPr/>
        </p:nvSpPr>
        <p:spPr>
          <a:xfrm>
            <a:off x="5605272" y="2253996"/>
            <a:ext cx="219456" cy="201168"/>
          </a:xfrm>
          <a:prstGeom prst="rightArrow">
            <a:avLst/>
          </a:prstGeom>
          <a:solidFill>
            <a:srgbClr val="8FB8F5"/>
          </a:solidFill>
          <a:ln w="12700">
            <a:solidFill>
              <a:srgbClr val="8FB8F5"/>
            </a:solidFill>
            <a:prstDash val="solid"/>
          </a:ln>
        </p:spPr>
      </p:sp>
      <p:sp>
        <p:nvSpPr>
          <p:cNvPr id="14" name="node-3"/>
          <p:cNvSpPr/>
          <p:nvPr/>
        </p:nvSpPr>
        <p:spPr>
          <a:xfrm>
            <a:off x="5888736" y="1965960"/>
            <a:ext cx="1463040" cy="777240"/>
          </a:xfrm>
          <a:prstGeom prst="roundRect">
            <a:avLst>
              <a:gd name="adj" fmla="val 9412"/>
            </a:avLst>
          </a:prstGeom>
          <a:solidFill>
            <a:srgbClr val="EEF4FF"/>
          </a:solidFill>
          <a:ln w="12700">
            <a:solidFill>
              <a:srgbClr val="EEF4FF"/>
            </a:solidFill>
            <a:prstDash val="solid"/>
          </a:ln>
        </p:spPr>
      </p:sp>
      <p:sp>
        <p:nvSpPr>
          <p:cNvPr id="15" name="node-t-3"/>
          <p:cNvSpPr txBox="1"/>
          <p:nvPr/>
        </p:nvSpPr>
        <p:spPr>
          <a:xfrm>
            <a:off x="5888736" y="1965960"/>
            <a:ext cx="1463040" cy="777240"/>
          </a:xfrm>
          <a:prstGeom prst="rect">
            <a:avLst/>
          </a:prstGeom>
          <a:noFill/>
          <a:ln/>
        </p:spPr>
        <p:txBody>
          <a:bodyPr wrap="square" lIns="0" tIns="0" rIns="0" bIns="0" rtlCol="0" anchor="ctr"/>
          <a:lstStyle/>
          <a:p>
            <a:pPr algn="ctr" indent="0" marL="0">
              <a:buNone/>
            </a:pPr>
            <a:r>
              <a:rPr lang="en-US" sz="1300" b="1" dirty="0">
                <a:solidFill>
                  <a:srgbClr val="15315E"/>
                </a:solidFill>
              </a:rPr>
              <a:t>出票</a:t>
            </a:r>
            <a:endParaRPr lang="en-US" sz="1300" dirty="0"/>
          </a:p>
        </p:txBody>
      </p:sp>
      <p:sp>
        <p:nvSpPr>
          <p:cNvPr id="16" name="ok-box"/>
          <p:cNvSpPr/>
          <p:nvPr/>
        </p:nvSpPr>
        <p:spPr>
          <a:xfrm>
            <a:off x="457200" y="3246120"/>
            <a:ext cx="3291840" cy="914400"/>
          </a:xfrm>
          <a:prstGeom prst="roundRect">
            <a:avLst>
              <a:gd name="adj" fmla="val 8000"/>
            </a:avLst>
          </a:prstGeom>
          <a:solidFill>
            <a:srgbClr val="FFFFFF"/>
          </a:solidFill>
          <a:ln w="12700">
            <a:solidFill>
              <a:srgbClr val="287DFA"/>
            </a:solidFill>
            <a:prstDash val="solid"/>
          </a:ln>
        </p:spPr>
      </p:sp>
      <p:sp>
        <p:nvSpPr>
          <p:cNvPr id="17" name="ok-text"/>
          <p:cNvSpPr txBox="1"/>
          <p:nvPr/>
        </p:nvSpPr>
        <p:spPr>
          <a:xfrm>
            <a:off x="594360" y="3246120"/>
            <a:ext cx="3017520" cy="914400"/>
          </a:xfrm>
          <a:prstGeom prst="rect">
            <a:avLst/>
          </a:prstGeom>
          <a:noFill/>
          <a:ln/>
        </p:spPr>
        <p:txBody>
          <a:bodyPr wrap="square" lIns="0" tIns="0" rIns="0" bIns="0" rtlCol="0" anchor="ctr"/>
          <a:lstStyle/>
          <a:p>
            <a:pPr indent="0" marL="0">
              <a:buNone/>
            </a:pPr>
            <a:r>
              <a:rPr lang="en-US" sz="1300" b="1" dirty="0">
                <a:solidFill>
                  <a:srgbClr val="287DFA"/>
                </a:solidFill>
              </a:rPr>
              <a:t>支付宝（非黑名单）订单 → 代付</a:t>
            </a:r>
            <a:endParaRPr lang="en-US" sz="1300" dirty="0"/>
          </a:p>
          <a:p>
            <a:pPr indent="0" marL="0">
              <a:buNone/>
            </a:pPr>
            <a:r>
              <a:rPr lang="en-US" sz="1300" dirty="0">
                <a:solidFill>
                  <a:srgbClr val="3D4757"/>
                </a:solidFill>
              </a:rPr>
              <a:t>携程直接付款，无需用户在场</a:t>
            </a:r>
            <a:endParaRPr lang="en-US" sz="1300" dirty="0"/>
          </a:p>
        </p:txBody>
      </p:sp>
      <p:sp>
        <p:nvSpPr>
          <p:cNvPr id="18" name="bad-box"/>
          <p:cNvSpPr/>
          <p:nvPr/>
        </p:nvSpPr>
        <p:spPr>
          <a:xfrm>
            <a:off x="4023360" y="3246120"/>
            <a:ext cx="3291840" cy="914400"/>
          </a:xfrm>
          <a:prstGeom prst="roundRect">
            <a:avLst>
              <a:gd name="adj" fmla="val 8000"/>
            </a:avLst>
          </a:prstGeom>
          <a:solidFill>
            <a:srgbClr val="FFF1E6"/>
          </a:solidFill>
          <a:ln w="12700">
            <a:solidFill>
              <a:srgbClr val="FF7A1A"/>
            </a:solidFill>
            <a:prstDash val="solid"/>
          </a:ln>
        </p:spPr>
      </p:sp>
      <p:sp>
        <p:nvSpPr>
          <p:cNvPr id="19" name="bad-text"/>
          <p:cNvSpPr txBox="1"/>
          <p:nvPr/>
        </p:nvSpPr>
        <p:spPr>
          <a:xfrm>
            <a:off x="4160520" y="3246120"/>
            <a:ext cx="3017520" cy="914400"/>
          </a:xfrm>
          <a:prstGeom prst="rect">
            <a:avLst/>
          </a:prstGeom>
          <a:noFill/>
          <a:ln/>
        </p:spPr>
        <p:txBody>
          <a:bodyPr wrap="square" lIns="0" tIns="0" rIns="0" bIns="0" rtlCol="0" anchor="ctr"/>
          <a:lstStyle/>
          <a:p>
            <a:pPr indent="0" marL="0">
              <a:buNone/>
            </a:pPr>
            <a:r>
              <a:rPr lang="en-US" sz="1300" b="1" dirty="0">
                <a:solidFill>
                  <a:srgbClr val="FF7A1A"/>
                </a:solidFill>
              </a:rPr>
              <a:t>其他订单 → 代付失败</a:t>
            </a:r>
            <a:endParaRPr lang="en-US" sz="1300" dirty="0"/>
          </a:p>
          <a:p>
            <a:pPr indent="0" marL="0">
              <a:buNone/>
            </a:pPr>
            <a:r>
              <a:rPr lang="en-US" sz="1300" dirty="0">
                <a:solidFill>
                  <a:srgbClr val="3D4757"/>
                </a:solidFill>
              </a:rPr>
              <a:t>只能召回用户直付，存在流失漏斗</a:t>
            </a:r>
            <a:endParaRPr lang="en-US" sz="1300" dirty="0"/>
          </a:p>
        </p:txBody>
      </p:sp>
      <p:sp>
        <p:nvSpPr>
          <p:cNvPr id="20" name="split-stem"/>
          <p:cNvSpPr/>
          <p:nvPr/>
        </p:nvSpPr>
        <p:spPr>
          <a:xfrm>
            <a:off x="4809744" y="2743200"/>
            <a:ext cx="0" cy="274320"/>
          </a:xfrm>
          <a:prstGeom prst="line">
            <a:avLst/>
          </a:prstGeom>
          <a:noFill/>
          <a:ln w="19050">
            <a:solidFill>
              <a:srgbClr val="8FB8F5"/>
            </a:solidFill>
            <a:prstDash val="solid"/>
          </a:ln>
        </p:spPr>
      </p:sp>
      <p:sp>
        <p:nvSpPr>
          <p:cNvPr id="21" name="split-bar"/>
          <p:cNvSpPr/>
          <p:nvPr/>
        </p:nvSpPr>
        <p:spPr>
          <a:xfrm>
            <a:off x="2103120" y="3017520"/>
            <a:ext cx="3566160" cy="0"/>
          </a:xfrm>
          <a:prstGeom prst="line">
            <a:avLst/>
          </a:prstGeom>
          <a:noFill/>
          <a:ln w="19050">
            <a:solidFill>
              <a:srgbClr val="8FB8F5"/>
            </a:solidFill>
            <a:prstDash val="solid"/>
          </a:ln>
        </p:spPr>
      </p:sp>
      <p:sp>
        <p:nvSpPr>
          <p:cNvPr id="22" name="split-l"/>
          <p:cNvSpPr/>
          <p:nvPr/>
        </p:nvSpPr>
        <p:spPr>
          <a:xfrm>
            <a:off x="2103120" y="3017520"/>
            <a:ext cx="0" cy="228600"/>
          </a:xfrm>
          <a:prstGeom prst="line">
            <a:avLst/>
          </a:prstGeom>
          <a:noFill/>
          <a:ln w="19050">
            <a:solidFill>
              <a:srgbClr val="8FB8F5"/>
            </a:solidFill>
            <a:prstDash val="solid"/>
          </a:ln>
        </p:spPr>
      </p:sp>
      <p:sp>
        <p:nvSpPr>
          <p:cNvPr id="23" name="split-r"/>
          <p:cNvSpPr/>
          <p:nvPr/>
        </p:nvSpPr>
        <p:spPr>
          <a:xfrm>
            <a:off x="5669280" y="3017520"/>
            <a:ext cx="0" cy="228600"/>
          </a:xfrm>
          <a:prstGeom prst="line">
            <a:avLst/>
          </a:prstGeom>
          <a:noFill/>
          <a:ln w="19050">
            <a:solidFill>
              <a:srgbClr val="8FB8F5"/>
            </a:solidFill>
            <a:prstDash val="solid"/>
          </a:ln>
        </p:spPr>
      </p:sp>
      <p:sp>
        <p:nvSpPr>
          <p:cNvPr id="24" name="trend-frame"/>
          <p:cNvSpPr/>
          <p:nvPr/>
        </p:nvSpPr>
        <p:spPr>
          <a:xfrm>
            <a:off x="7772400" y="1508760"/>
            <a:ext cx="3959352" cy="2651760"/>
          </a:xfrm>
          <a:prstGeom prst="rect">
            <a:avLst/>
          </a:prstGeom>
          <a:solidFill>
            <a:srgbClr val="FAFBFD"/>
          </a:solidFill>
          <a:ln w="15875">
            <a:solidFill>
              <a:srgbClr val="A9B4C2"/>
            </a:solidFill>
            <a:prstDash val="dash"/>
          </a:ln>
        </p:spPr>
      </p:sp>
      <p:sp>
        <p:nvSpPr>
          <p:cNvPr id="25" name="trend-label"/>
          <p:cNvSpPr txBox="1"/>
          <p:nvPr/>
        </p:nvSpPr>
        <p:spPr>
          <a:xfrm>
            <a:off x="7909560" y="1508760"/>
            <a:ext cx="3685032" cy="2651760"/>
          </a:xfrm>
          <a:prstGeom prst="rect">
            <a:avLst/>
          </a:prstGeom>
          <a:noFill/>
          <a:ln/>
        </p:spPr>
        <p:txBody>
          <a:bodyPr wrap="square" lIns="0" tIns="0" rIns="0" bIns="0" rtlCol="0" anchor="ctr"/>
          <a:lstStyle/>
          <a:p>
            <a:pPr algn="ctr" indent="0" marL="0">
              <a:buNone/>
            </a:pPr>
            <a:r>
              <a:rPr lang="en-US" sz="1200" dirty="0">
                <a:solidFill>
                  <a:srgbClr val="5B6B80"/>
                </a:solidFill>
              </a:rPr>
              <a:t>待补充：风控前后抢票成功率走势</a:t>
            </a:r>
            <a:endParaRPr lang="en-US" sz="1200" dirty="0"/>
          </a:p>
          <a:p>
            <a:pPr algn="ctr" indent="0" marL="0">
              <a:buNone/>
            </a:pPr>
            <a:r>
              <a:rPr lang="en-US" sz="1200" dirty="0">
                <a:solidFill>
                  <a:srgbClr val="5B6B80"/>
                </a:solidFill>
              </a:rPr>
              <a:t>（标注支付风控时间点、携程成功率优势收窄）</a:t>
            </a:r>
            <a:endParaRPr lang="en-US" sz="1200" dirty="0"/>
          </a:p>
        </p:txBody>
      </p:sp>
      <p:sp>
        <p:nvSpPr>
          <p:cNvPr id="26" name="path-head"/>
          <p:cNvSpPr txBox="1"/>
          <p:nvPr/>
        </p:nvSpPr>
        <p:spPr>
          <a:xfrm>
            <a:off x="457200" y="4389120"/>
            <a:ext cx="5486400" cy="320040"/>
          </a:xfrm>
          <a:prstGeom prst="rect">
            <a:avLst/>
          </a:prstGeom>
          <a:noFill/>
          <a:ln/>
        </p:spPr>
        <p:txBody>
          <a:bodyPr wrap="square" lIns="0" tIns="0" rIns="0" bIns="0" rtlCol="0" anchor="t"/>
          <a:lstStyle/>
          <a:p>
            <a:pPr indent="0" marL="0">
              <a:buNone/>
            </a:pPr>
            <a:r>
              <a:rPr lang="en-US" sz="1600" b="1" dirty="0">
                <a:solidFill>
                  <a:srgbClr val="287DFA"/>
                </a:solidFill>
              </a:rPr>
              <a:t>支付挽回的两条路径</a:t>
            </a:r>
            <a:endParaRPr lang="en-US" sz="1600" dirty="0"/>
          </a:p>
        </p:txBody>
      </p:sp>
      <p:sp>
        <p:nvSpPr>
          <p:cNvPr id="27" name="path-card-0"/>
          <p:cNvSpPr/>
          <p:nvPr/>
        </p:nvSpPr>
        <p:spPr>
          <a:xfrm>
            <a:off x="457200" y="4800600"/>
            <a:ext cx="5486400" cy="1417320"/>
          </a:xfrm>
          <a:prstGeom prst="roundRect">
            <a:avLst>
              <a:gd name="adj" fmla="val 5161"/>
            </a:avLst>
          </a:prstGeom>
          <a:solidFill>
            <a:srgbClr val="EEF4FF"/>
          </a:solidFill>
          <a:ln w="12700">
            <a:solidFill>
              <a:srgbClr val="EEF4FF"/>
            </a:solidFill>
            <a:prstDash val="solid"/>
          </a:ln>
        </p:spPr>
      </p:sp>
      <p:sp>
        <p:nvSpPr>
          <p:cNvPr id="28" name="path-dot-0"/>
          <p:cNvSpPr/>
          <p:nvPr/>
        </p:nvSpPr>
        <p:spPr>
          <a:xfrm>
            <a:off x="731520" y="4983480"/>
            <a:ext cx="457200" cy="457200"/>
          </a:xfrm>
          <a:prstGeom prst="ellipse">
            <a:avLst/>
          </a:prstGeom>
          <a:solidFill>
            <a:srgbClr val="287DFA"/>
          </a:solidFill>
          <a:ln w="12700">
            <a:solidFill>
              <a:srgbClr val="287DFA"/>
            </a:solidFill>
            <a:prstDash val="solid"/>
          </a:ln>
        </p:spPr>
      </p:sp>
      <p:sp>
        <p:nvSpPr>
          <p:cNvPr id="29" name="path-num-0"/>
          <p:cNvSpPr txBox="1"/>
          <p:nvPr/>
        </p:nvSpPr>
        <p:spPr>
          <a:xfrm>
            <a:off x="73152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30" name="path-h-0"/>
          <p:cNvSpPr txBox="1"/>
          <p:nvPr/>
        </p:nvSpPr>
        <p:spPr>
          <a:xfrm>
            <a:off x="1371600" y="4983480"/>
            <a:ext cx="4389120" cy="365760"/>
          </a:xfrm>
          <a:prstGeom prst="rect">
            <a:avLst/>
          </a:prstGeom>
          <a:noFill/>
          <a:ln/>
        </p:spPr>
        <p:txBody>
          <a:bodyPr wrap="square" lIns="0" tIns="0" rIns="0" bIns="0" rtlCol="0" anchor="t"/>
          <a:lstStyle/>
          <a:p>
            <a:pPr indent="0" marL="0">
              <a:buNone/>
            </a:pPr>
            <a:r>
              <a:rPr lang="en-US" sz="1600" b="1" dirty="0">
                <a:solidFill>
                  <a:srgbClr val="15315E"/>
                </a:solidFill>
              </a:rPr>
              <a:t>引导支付宝（扣位之前）</a:t>
            </a:r>
            <a:endParaRPr lang="en-US" sz="1600" dirty="0"/>
          </a:p>
        </p:txBody>
      </p:sp>
      <p:sp>
        <p:nvSpPr>
          <p:cNvPr id="31" name="path-b-0"/>
          <p:cNvSpPr txBox="1"/>
          <p:nvPr/>
        </p:nvSpPr>
        <p:spPr>
          <a:xfrm>
            <a:off x="1371600" y="5394960"/>
            <a:ext cx="4389120" cy="731520"/>
          </a:xfrm>
          <a:prstGeom prst="rect">
            <a:avLst/>
          </a:prstGeom>
          <a:noFill/>
          <a:ln/>
        </p:spPr>
        <p:txBody>
          <a:bodyPr wrap="square" lIns="0" tIns="0" rIns="0" bIns="0" rtlCol="0" anchor="t"/>
          <a:lstStyle/>
          <a:p>
            <a:pPr indent="0" marL="0">
              <a:buNone/>
            </a:pPr>
            <a:r>
              <a:rPr lang="en-US" sz="1300" dirty="0">
                <a:solidFill>
                  <a:srgbClr val="3D4757"/>
                </a:solidFill>
              </a:rPr>
              <a:t>让更多订单在扣位前具备代付条件</a:t>
            </a:r>
            <a:endParaRPr lang="en-US" sz="1300" dirty="0"/>
          </a:p>
        </p:txBody>
      </p:sp>
      <p:sp>
        <p:nvSpPr>
          <p:cNvPr id="32" name="path-card-1"/>
          <p:cNvSpPr/>
          <p:nvPr/>
        </p:nvSpPr>
        <p:spPr>
          <a:xfrm>
            <a:off x="6245352" y="4800600"/>
            <a:ext cx="5486400" cy="1417320"/>
          </a:xfrm>
          <a:prstGeom prst="roundRect">
            <a:avLst>
              <a:gd name="adj" fmla="val 5161"/>
            </a:avLst>
          </a:prstGeom>
          <a:solidFill>
            <a:srgbClr val="EEF4FF"/>
          </a:solidFill>
          <a:ln w="12700">
            <a:solidFill>
              <a:srgbClr val="EEF4FF"/>
            </a:solidFill>
            <a:prstDash val="solid"/>
          </a:ln>
        </p:spPr>
      </p:sp>
      <p:sp>
        <p:nvSpPr>
          <p:cNvPr id="33" name="path-dot-1"/>
          <p:cNvSpPr/>
          <p:nvPr/>
        </p:nvSpPr>
        <p:spPr>
          <a:xfrm>
            <a:off x="6519672" y="4983480"/>
            <a:ext cx="457200" cy="457200"/>
          </a:xfrm>
          <a:prstGeom prst="ellipse">
            <a:avLst/>
          </a:prstGeom>
          <a:solidFill>
            <a:srgbClr val="287DFA"/>
          </a:solidFill>
          <a:ln w="12700">
            <a:solidFill>
              <a:srgbClr val="287DFA"/>
            </a:solidFill>
            <a:prstDash val="solid"/>
          </a:ln>
        </p:spPr>
      </p:sp>
      <p:sp>
        <p:nvSpPr>
          <p:cNvPr id="34" name="path-num-1"/>
          <p:cNvSpPr txBox="1"/>
          <p:nvPr/>
        </p:nvSpPr>
        <p:spPr>
          <a:xfrm>
            <a:off x="6519672"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35" name="path-h-1"/>
          <p:cNvSpPr txBox="1"/>
          <p:nvPr/>
        </p:nvSpPr>
        <p:spPr>
          <a:xfrm>
            <a:off x="7159752" y="4983480"/>
            <a:ext cx="4389120" cy="365760"/>
          </a:xfrm>
          <a:prstGeom prst="rect">
            <a:avLst/>
          </a:prstGeom>
          <a:noFill/>
          <a:ln/>
        </p:spPr>
        <p:txBody>
          <a:bodyPr wrap="square" lIns="0" tIns="0" rIns="0" bIns="0" rtlCol="0" anchor="t"/>
          <a:lstStyle/>
          <a:p>
            <a:pPr indent="0" marL="0">
              <a:buNone/>
            </a:pPr>
            <a:r>
              <a:rPr lang="en-US" sz="1600" b="1" dirty="0">
                <a:solidFill>
                  <a:srgbClr val="15315E"/>
                </a:solidFill>
              </a:rPr>
              <a:t>直付兜底（扣位之后）</a:t>
            </a:r>
            <a:endParaRPr lang="en-US" sz="1600" dirty="0"/>
          </a:p>
        </p:txBody>
      </p:sp>
      <p:sp>
        <p:nvSpPr>
          <p:cNvPr id="36" name="path-b-1"/>
          <p:cNvSpPr txBox="1"/>
          <p:nvPr/>
        </p:nvSpPr>
        <p:spPr>
          <a:xfrm>
            <a:off x="7159752" y="5394960"/>
            <a:ext cx="4389120" cy="731520"/>
          </a:xfrm>
          <a:prstGeom prst="rect">
            <a:avLst/>
          </a:prstGeom>
          <a:noFill/>
          <a:ln/>
        </p:spPr>
        <p:txBody>
          <a:bodyPr wrap="square" lIns="0" tIns="0" rIns="0" bIns="0" rtlCol="0" anchor="t"/>
          <a:lstStyle/>
          <a:p>
            <a:pPr indent="0" marL="0">
              <a:buNone/>
            </a:pPr>
            <a:r>
              <a:rPr lang="en-US" sz="1300" dirty="0">
                <a:solidFill>
                  <a:srgbClr val="3D4757"/>
                </a:solidFill>
              </a:rPr>
              <a:t>让代付不了的订单，尤其是 4 月直付改造后遗留的长尾场景，在扣位之后仍有机会出票</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457200" y="109728"/>
            <a:ext cx="11247120" cy="658368"/>
          </a:xfrm>
          <a:prstGeom prst="rect">
            <a:avLst/>
          </a:prstGeom>
          <a:noFill/>
          <a:ln/>
        </p:spPr>
        <p:txBody>
          <a:bodyPr wrap="square" lIns="0" tIns="0" rIns="0" bIns="0" rtlCol="0" anchor="ctr"/>
          <a:lstStyle/>
          <a:p>
            <a:pPr algn="l" indent="0" marL="0">
              <a:buNone/>
            </a:pPr>
            <a:r>
              <a:rPr lang="en-US" sz="3000" b="1" dirty="0">
                <a:solidFill>
                  <a:schemeClr val="accent1"/>
                </a:solidFill>
              </a:rPr>
              <a:t>3、主要项目 · 成功率专项：引导支付宝</a:t>
            </a:r>
            <a:endParaRPr lang="en-US" sz="3000" dirty="0"/>
          </a:p>
        </p:txBody>
      </p:sp>
      <p:sp>
        <p:nvSpPr>
          <p:cNvPr id="3" name="Text 2"/>
          <p:cNvSpPr/>
          <p:nvPr>
            <p:ph idx="103" type="body" hasCustomPrompt="1"/>
          </p:nvPr>
        </p:nvSpPr>
        <p:spPr>
          <a:xfrm>
            <a:off x="457200" y="914400"/>
            <a:ext cx="11247120" cy="411480"/>
          </a:xfrm>
          <a:prstGeom prst="rect">
            <a:avLst/>
          </a:prstGeom>
          <a:noFill/>
          <a:ln/>
        </p:spPr>
        <p:txBody>
          <a:bodyPr wrap="square" lIns="0" tIns="0" rIns="0" bIns="0" rtlCol="0" anchor="ctr"/>
          <a:lstStyle/>
          <a:p>
            <a:pPr algn="l" indent="0" marL="0">
              <a:buNone/>
            </a:pPr>
            <a:r>
              <a:rPr lang="en-US" sz="1700" b="1" dirty="0">
                <a:solidFill>
                  <a:schemeClr val="tx1"/>
                </a:solidFill>
              </a:rPr>
              <a:t>在扣位之前让更多订单具备代付条件，进一步降低非支付宝订单数、提高大盘抢票成功率</a:t>
            </a:r>
            <a:endParaRPr lang="en-US" sz="1700" dirty="0"/>
          </a:p>
        </p:txBody>
      </p:sp>
      <p:sp>
        <p:nvSpPr>
          <p:cNvPr id="4" name="l-head-bg"/>
          <p:cNvSpPr/>
          <p:nvPr/>
        </p:nvSpPr>
        <p:spPr>
          <a:xfrm>
            <a:off x="457200" y="1508760"/>
            <a:ext cx="6766560" cy="502920"/>
          </a:xfrm>
          <a:prstGeom prst="rect">
            <a:avLst/>
          </a:prstGeom>
          <a:solidFill>
            <a:srgbClr val="287DFA"/>
          </a:solidFill>
          <a:ln w="12700">
            <a:solidFill>
              <a:srgbClr val="287DFA"/>
            </a:solidFill>
            <a:prstDash val="solid"/>
          </a:ln>
        </p:spPr>
      </p:sp>
      <p:sp>
        <p:nvSpPr>
          <p:cNvPr id="5" name="l-head"/>
          <p:cNvSpPr txBox="1"/>
          <p:nvPr/>
        </p:nvSpPr>
        <p:spPr>
          <a:xfrm>
            <a:off x="457200" y="1508760"/>
            <a:ext cx="6766560" cy="502920"/>
          </a:xfrm>
          <a:prstGeom prst="rect">
            <a:avLst/>
          </a:prstGeom>
          <a:noFill/>
          <a:ln/>
        </p:spPr>
        <p:txBody>
          <a:bodyPr wrap="square" lIns="0" tIns="0" rIns="0" bIns="0" rtlCol="0" anchor="ctr"/>
          <a:lstStyle/>
          <a:p>
            <a:pPr algn="ctr" indent="0" marL="0">
              <a:buNone/>
            </a:pPr>
            <a:r>
              <a:rPr lang="en-US" sz="1700" b="1" dirty="0">
                <a:solidFill>
                  <a:srgbClr val="FFFFFF"/>
                </a:solidFill>
              </a:rPr>
              <a:t>低价产品引导支付宝 · 二期</a:t>
            </a:r>
            <a:endParaRPr lang="en-US" sz="1700" dirty="0"/>
          </a:p>
        </p:txBody>
      </p:sp>
      <p:sp>
        <p:nvSpPr>
          <p:cNvPr id="6" name="l-k-0"/>
          <p:cNvSpPr txBox="1"/>
          <p:nvPr/>
        </p:nvSpPr>
        <p:spPr>
          <a:xfrm>
            <a:off x="548640" y="2194560"/>
            <a:ext cx="731520" cy="457200"/>
          </a:xfrm>
          <a:prstGeom prst="rect">
            <a:avLst/>
          </a:prstGeom>
          <a:noFill/>
          <a:ln/>
        </p:spPr>
        <p:txBody>
          <a:bodyPr wrap="square" lIns="0" tIns="0" rIns="0" bIns="0" rtlCol="0" anchor="ctr"/>
          <a:lstStyle/>
          <a:p>
            <a:pPr indent="0" marL="0">
              <a:buNone/>
            </a:pPr>
            <a:r>
              <a:rPr lang="en-US" sz="1400" b="1" dirty="0">
                <a:solidFill>
                  <a:srgbClr val="15315E"/>
                </a:solidFill>
              </a:rPr>
              <a:t>背景</a:t>
            </a:r>
            <a:endParaRPr lang="en-US" sz="1400" dirty="0"/>
          </a:p>
        </p:txBody>
      </p:sp>
      <p:sp>
        <p:nvSpPr>
          <p:cNvPr id="7" name="l-v-0"/>
          <p:cNvSpPr txBox="1"/>
          <p:nvPr/>
        </p:nvSpPr>
        <p:spPr>
          <a:xfrm>
            <a:off x="1325880" y="2194560"/>
            <a:ext cx="2743200" cy="457200"/>
          </a:xfrm>
          <a:prstGeom prst="rect">
            <a:avLst/>
          </a:prstGeom>
          <a:noFill/>
          <a:ln/>
        </p:spPr>
        <p:txBody>
          <a:bodyPr wrap="square" lIns="0" tIns="0" rIns="0" bIns="0" rtlCol="0" anchor="ctr"/>
          <a:lstStyle/>
          <a:p>
            <a:pPr indent="0" marL="0">
              <a:buNone/>
            </a:pPr>
            <a:r>
              <a:rPr lang="en-US" sz="1250" dirty="0">
                <a:solidFill>
                  <a:srgbClr val="3D4757"/>
                </a:solidFill>
              </a:rPr>
              <a:t>一期在抢票中用低价产品吸引用户使用支付宝，但转化率较低</a:t>
            </a:r>
            <a:endParaRPr lang="en-US" sz="1250" dirty="0"/>
          </a:p>
        </p:txBody>
      </p:sp>
      <p:sp>
        <p:nvSpPr>
          <p:cNvPr id="8" name="l-k-1"/>
          <p:cNvSpPr txBox="1"/>
          <p:nvPr/>
        </p:nvSpPr>
        <p:spPr>
          <a:xfrm>
            <a:off x="548640" y="2761488"/>
            <a:ext cx="731520" cy="457200"/>
          </a:xfrm>
          <a:prstGeom prst="rect">
            <a:avLst/>
          </a:prstGeom>
          <a:noFill/>
          <a:ln/>
        </p:spPr>
        <p:txBody>
          <a:bodyPr wrap="square" lIns="0" tIns="0" rIns="0" bIns="0" rtlCol="0" anchor="ctr"/>
          <a:lstStyle/>
          <a:p>
            <a:pPr indent="0" marL="0">
              <a:buNone/>
            </a:pPr>
            <a:r>
              <a:rPr lang="en-US" sz="1400" b="1" dirty="0">
                <a:solidFill>
                  <a:srgbClr val="15315E"/>
                </a:solidFill>
              </a:rPr>
              <a:t>做法</a:t>
            </a:r>
            <a:endParaRPr lang="en-US" sz="1400" dirty="0"/>
          </a:p>
        </p:txBody>
      </p:sp>
      <p:sp>
        <p:nvSpPr>
          <p:cNvPr id="9" name="l-v-1"/>
          <p:cNvSpPr txBox="1"/>
          <p:nvPr/>
        </p:nvSpPr>
        <p:spPr>
          <a:xfrm>
            <a:off x="1325880" y="2761488"/>
            <a:ext cx="2743200" cy="457200"/>
          </a:xfrm>
          <a:prstGeom prst="rect">
            <a:avLst/>
          </a:prstGeom>
          <a:noFill/>
          <a:ln/>
        </p:spPr>
        <p:txBody>
          <a:bodyPr wrap="square" lIns="0" tIns="0" rIns="0" bIns="0" rtlCol="0" anchor="ctr"/>
          <a:lstStyle/>
          <a:p>
            <a:pPr indent="0" marL="0">
              <a:buNone/>
            </a:pPr>
            <a:r>
              <a:rPr lang="en-US" sz="1250" dirty="0">
                <a:solidFill>
                  <a:srgbClr val="3D4757"/>
                </a:solidFill>
              </a:rPr>
              <a:t>扩大补贴范围，覆盖更多非支付宝订单</a:t>
            </a:r>
            <a:endParaRPr lang="en-US" sz="1250" dirty="0"/>
          </a:p>
        </p:txBody>
      </p:sp>
      <p:sp>
        <p:nvSpPr>
          <p:cNvPr id="10" name="l-res-card"/>
          <p:cNvSpPr/>
          <p:nvPr/>
        </p:nvSpPr>
        <p:spPr>
          <a:xfrm>
            <a:off x="457200" y="3429000"/>
            <a:ext cx="3703320" cy="1737360"/>
          </a:xfrm>
          <a:prstGeom prst="roundRect">
            <a:avLst>
              <a:gd name="adj" fmla="val 4211"/>
            </a:avLst>
          </a:prstGeom>
          <a:solidFill>
            <a:srgbClr val="EEF4FF"/>
          </a:solidFill>
          <a:ln w="12700">
            <a:solidFill>
              <a:srgbClr val="EEF4FF"/>
            </a:solidFill>
            <a:prstDash val="solid"/>
          </a:ln>
        </p:spPr>
      </p:sp>
      <p:sp>
        <p:nvSpPr>
          <p:cNvPr id="11" name="l-res-h"/>
          <p:cNvSpPr txBox="1"/>
          <p:nvPr/>
        </p:nvSpPr>
        <p:spPr>
          <a:xfrm>
            <a:off x="685800" y="3547872"/>
            <a:ext cx="2743200" cy="274320"/>
          </a:xfrm>
          <a:prstGeom prst="rect">
            <a:avLst/>
          </a:prstGeom>
          <a:noFill/>
          <a:ln/>
        </p:spPr>
        <p:txBody>
          <a:bodyPr wrap="square" lIns="0" tIns="0" rIns="0" bIns="0" rtlCol="0" anchor="t"/>
          <a:lstStyle/>
          <a:p>
            <a:pPr indent="0" marL="0">
              <a:buNone/>
            </a:pPr>
            <a:r>
              <a:rPr lang="en-US" sz="1400" b="1" dirty="0">
                <a:solidFill>
                  <a:srgbClr val="287DFA"/>
                </a:solidFill>
              </a:rPr>
              <a:t>效果（日均）</a:t>
            </a:r>
            <a:endParaRPr lang="en-US" sz="1400" dirty="0"/>
          </a:p>
        </p:txBody>
      </p:sp>
      <p:sp>
        <p:nvSpPr>
          <p:cNvPr id="12" name="kpi-t-l"/>
          <p:cNvSpPr txBox="1"/>
          <p:nvPr/>
        </p:nvSpPr>
        <p:spPr>
          <a:xfrm>
            <a:off x="685800" y="3977640"/>
            <a:ext cx="1280160" cy="457200"/>
          </a:xfrm>
          <a:prstGeom prst="rect">
            <a:avLst/>
          </a:prstGeom>
          <a:noFill/>
          <a:ln/>
        </p:spPr>
        <p:txBody>
          <a:bodyPr wrap="square" lIns="0" tIns="0" rIns="0" bIns="0" rtlCol="0" anchor="ctr"/>
          <a:lstStyle/>
          <a:p>
            <a:pPr indent="0" marL="0">
              <a:buNone/>
            </a:pPr>
            <a:r>
              <a:rPr lang="en-US" sz="1300" dirty="0">
                <a:solidFill>
                  <a:srgbClr val="3D4757"/>
                </a:solidFill>
              </a:rPr>
              <a:t>目标订单数</a:t>
            </a:r>
            <a:endParaRPr lang="en-US" sz="1300" dirty="0"/>
          </a:p>
        </p:txBody>
      </p:sp>
      <p:sp>
        <p:nvSpPr>
          <p:cNvPr id="13" name="kpi-t-v"/>
          <p:cNvSpPr txBox="1"/>
          <p:nvPr/>
        </p:nvSpPr>
        <p:spPr>
          <a:xfrm>
            <a:off x="1920240" y="3977640"/>
            <a:ext cx="2103120" cy="457200"/>
          </a:xfrm>
          <a:prstGeom prst="rect">
            <a:avLst/>
          </a:prstGeom>
          <a:noFill/>
          <a:ln/>
        </p:spPr>
        <p:txBody>
          <a:bodyPr wrap="square" lIns="0" tIns="0" rIns="0" bIns="0" rtlCol="0" anchor="ctr"/>
          <a:lstStyle/>
          <a:p>
            <a:pPr indent="0" marL="0">
              <a:buNone/>
            </a:pPr>
            <a:r>
              <a:rPr lang="en-US" sz="2200" b="1" dirty="0">
                <a:solidFill>
                  <a:srgbClr val="15315E"/>
                </a:solidFill>
              </a:rPr>
              <a:t>约 10,916 单</a:t>
            </a:r>
            <a:endParaRPr lang="en-US" sz="2200" dirty="0"/>
          </a:p>
        </p:txBody>
      </p:sp>
      <p:sp>
        <p:nvSpPr>
          <p:cNvPr id="14" name="kpi-c-l"/>
          <p:cNvSpPr txBox="1"/>
          <p:nvPr/>
        </p:nvSpPr>
        <p:spPr>
          <a:xfrm>
            <a:off x="685800" y="4526280"/>
            <a:ext cx="1280160" cy="457200"/>
          </a:xfrm>
          <a:prstGeom prst="rect">
            <a:avLst/>
          </a:prstGeom>
          <a:noFill/>
          <a:ln/>
        </p:spPr>
        <p:txBody>
          <a:bodyPr wrap="square" lIns="0" tIns="0" rIns="0" bIns="0" rtlCol="0" anchor="ctr"/>
          <a:lstStyle/>
          <a:p>
            <a:pPr indent="0" marL="0">
              <a:buNone/>
            </a:pPr>
            <a:r>
              <a:rPr lang="en-US" sz="1300" dirty="0">
                <a:solidFill>
                  <a:srgbClr val="3D4757"/>
                </a:solidFill>
              </a:rPr>
              <a:t>转化订单数</a:t>
            </a:r>
            <a:endParaRPr lang="en-US" sz="1300" dirty="0"/>
          </a:p>
        </p:txBody>
      </p:sp>
      <p:sp>
        <p:nvSpPr>
          <p:cNvPr id="15" name="kpi-c-v"/>
          <p:cNvSpPr txBox="1"/>
          <p:nvPr/>
        </p:nvSpPr>
        <p:spPr>
          <a:xfrm>
            <a:off x="1920240" y="4526280"/>
            <a:ext cx="2103120" cy="457200"/>
          </a:xfrm>
          <a:prstGeom prst="rect">
            <a:avLst/>
          </a:prstGeom>
          <a:noFill/>
          <a:ln/>
        </p:spPr>
        <p:txBody>
          <a:bodyPr wrap="square" lIns="0" tIns="0" rIns="0" bIns="0" rtlCol="0" anchor="ctr"/>
          <a:lstStyle/>
          <a:p>
            <a:pPr indent="0" marL="0">
              <a:buNone/>
            </a:pPr>
            <a:r>
              <a:rPr lang="en-US" sz="2200" b="1" dirty="0">
                <a:solidFill>
                  <a:srgbClr val="287DFA"/>
                </a:solidFill>
              </a:rPr>
              <a:t>约 232 单</a:t>
            </a:r>
            <a:endParaRPr lang="en-US" sz="2200" dirty="0"/>
          </a:p>
        </p:txBody>
      </p:sp>
      <p:sp>
        <p:nvSpPr>
          <p:cNvPr id="16" name="l-shot-frame"/>
          <p:cNvSpPr/>
          <p:nvPr/>
        </p:nvSpPr>
        <p:spPr>
          <a:xfrm>
            <a:off x="4343400" y="2194560"/>
            <a:ext cx="2880360" cy="2971800"/>
          </a:xfrm>
          <a:prstGeom prst="rect">
            <a:avLst/>
          </a:prstGeom>
          <a:solidFill>
            <a:srgbClr val="FAFBFD"/>
          </a:solidFill>
          <a:ln w="15875">
            <a:solidFill>
              <a:srgbClr val="A9B4C2"/>
            </a:solidFill>
            <a:prstDash val="dash"/>
          </a:ln>
        </p:spPr>
      </p:sp>
      <p:sp>
        <p:nvSpPr>
          <p:cNvPr id="17" name="l-shot-label"/>
          <p:cNvSpPr txBox="1"/>
          <p:nvPr/>
        </p:nvSpPr>
        <p:spPr>
          <a:xfrm>
            <a:off x="4480560" y="2194560"/>
            <a:ext cx="2606040" cy="2971800"/>
          </a:xfrm>
          <a:prstGeom prst="rect">
            <a:avLst/>
          </a:prstGeom>
          <a:noFill/>
          <a:ln/>
        </p:spPr>
        <p:txBody>
          <a:bodyPr wrap="square" lIns="0" tIns="0" rIns="0" bIns="0" rtlCol="0" anchor="ctr"/>
          <a:lstStyle/>
          <a:p>
            <a:pPr algn="ctr" indent="0" marL="0">
              <a:buNone/>
            </a:pPr>
            <a:r>
              <a:rPr lang="en-US" sz="1200" dirty="0">
                <a:solidFill>
                  <a:srgbClr val="5B6B80"/>
                </a:solidFill>
              </a:rPr>
              <a:t>待补充：二期活动页 / 收银台截图</a:t>
            </a:r>
            <a:endParaRPr lang="en-US" sz="1200" dirty="0"/>
          </a:p>
        </p:txBody>
      </p:sp>
      <p:sp>
        <p:nvSpPr>
          <p:cNvPr id="18" name="l-next-card"/>
          <p:cNvSpPr/>
          <p:nvPr/>
        </p:nvSpPr>
        <p:spPr>
          <a:xfrm>
            <a:off x="457200" y="5303520"/>
            <a:ext cx="6766560" cy="914400"/>
          </a:xfrm>
          <a:prstGeom prst="roundRect">
            <a:avLst>
              <a:gd name="adj" fmla="val 8000"/>
            </a:avLst>
          </a:prstGeom>
          <a:solidFill>
            <a:srgbClr val="EEF4FF"/>
          </a:solidFill>
          <a:ln w="12700">
            <a:solidFill>
              <a:srgbClr val="EEF4FF"/>
            </a:solidFill>
            <a:prstDash val="solid"/>
          </a:ln>
        </p:spPr>
      </p:sp>
      <p:sp>
        <p:nvSpPr>
          <p:cNvPr id="19" name="l-next"/>
          <p:cNvSpPr txBox="1"/>
          <p:nvPr/>
        </p:nvSpPr>
        <p:spPr>
          <a:xfrm>
            <a:off x="685800" y="5303520"/>
            <a:ext cx="6400800" cy="914400"/>
          </a:xfrm>
          <a:prstGeom prst="rect">
            <a:avLst/>
          </a:prstGeom>
          <a:noFill/>
          <a:ln/>
        </p:spPr>
        <p:txBody>
          <a:bodyPr wrap="square" lIns="0" tIns="0" rIns="0" bIns="0" rtlCol="0" anchor="ctr"/>
          <a:lstStyle/>
          <a:p>
            <a:pPr indent="0" marL="0">
              <a:buNone/>
            </a:pPr>
            <a:r>
              <a:rPr lang="en-US" sz="1400" b="1" dirty="0">
                <a:solidFill>
                  <a:srgbClr val="287DFA"/>
                </a:solidFill>
              </a:rPr>
              <a:t>下一步：</a:t>
            </a:r>
            <a:pPr indent="0" marL="0">
              <a:buNone/>
            </a:pPr>
            <a:r>
              <a:rPr lang="en-US" sz="1400" dirty="0">
                <a:solidFill>
                  <a:srgbClr val="5B6B80"/>
                </a:solidFill>
              </a:rPr>
              <a:t>待补充</a:t>
            </a:r>
            <a:endParaRPr lang="en-US" sz="1400" dirty="0"/>
          </a:p>
        </p:txBody>
      </p:sp>
      <p:sp>
        <p:nvSpPr>
          <p:cNvPr id="20" name="r-head-bg"/>
          <p:cNvSpPr/>
          <p:nvPr/>
        </p:nvSpPr>
        <p:spPr>
          <a:xfrm>
            <a:off x="7498080" y="1508760"/>
            <a:ext cx="4233672" cy="502920"/>
          </a:xfrm>
          <a:prstGeom prst="rect">
            <a:avLst/>
          </a:prstGeom>
          <a:solidFill>
            <a:srgbClr val="FF7A1A"/>
          </a:solidFill>
          <a:ln w="12700">
            <a:solidFill>
              <a:srgbClr val="FF7A1A"/>
            </a:solidFill>
            <a:prstDash val="solid"/>
          </a:ln>
        </p:spPr>
      </p:sp>
      <p:sp>
        <p:nvSpPr>
          <p:cNvPr id="21" name="r-head"/>
          <p:cNvSpPr txBox="1"/>
          <p:nvPr/>
        </p:nvSpPr>
        <p:spPr>
          <a:xfrm>
            <a:off x="7498080" y="1508760"/>
            <a:ext cx="4233672" cy="502920"/>
          </a:xfrm>
          <a:prstGeom prst="rect">
            <a:avLst/>
          </a:prstGeom>
          <a:noFill/>
          <a:ln/>
        </p:spPr>
        <p:txBody>
          <a:bodyPr wrap="square" lIns="0" tIns="0" rIns="0" bIns="0" rtlCol="0" anchor="ctr"/>
          <a:lstStyle/>
          <a:p>
            <a:pPr algn="ctr" indent="0" marL="0">
              <a:buNone/>
            </a:pPr>
            <a:r>
              <a:rPr lang="en-US" sz="1600" b="1" dirty="0">
                <a:solidFill>
                  <a:srgbClr val="FFFFFF"/>
                </a:solidFill>
              </a:rPr>
              <a:t>推进中：召回场景限制只走支付宝</a:t>
            </a:r>
            <a:endParaRPr lang="en-US" sz="1600" dirty="0"/>
          </a:p>
        </p:txBody>
      </p:sp>
      <p:sp>
        <p:nvSpPr>
          <p:cNvPr id="22" name="r-card"/>
          <p:cNvSpPr/>
          <p:nvPr/>
        </p:nvSpPr>
        <p:spPr>
          <a:xfrm>
            <a:off x="7498080" y="2194560"/>
            <a:ext cx="4233672" cy="4023360"/>
          </a:xfrm>
          <a:prstGeom prst="roundRect">
            <a:avLst>
              <a:gd name="adj" fmla="val 1818"/>
            </a:avLst>
          </a:prstGeom>
          <a:solidFill>
            <a:srgbClr val="EEF4FF"/>
          </a:solidFill>
          <a:ln w="12700">
            <a:solidFill>
              <a:srgbClr val="EEF4FF"/>
            </a:solidFill>
            <a:prstDash val="solid"/>
          </a:ln>
        </p:spPr>
      </p:sp>
      <p:sp>
        <p:nvSpPr>
          <p:cNvPr id="23" name="r-k1"/>
          <p:cNvSpPr txBox="1"/>
          <p:nvPr/>
        </p:nvSpPr>
        <p:spPr>
          <a:xfrm>
            <a:off x="7726680" y="2377440"/>
            <a:ext cx="3840480" cy="274320"/>
          </a:xfrm>
          <a:prstGeom prst="rect">
            <a:avLst/>
          </a:prstGeom>
          <a:noFill/>
          <a:ln/>
        </p:spPr>
        <p:txBody>
          <a:bodyPr wrap="square" lIns="0" tIns="0" rIns="0" bIns="0" rtlCol="0" anchor="t"/>
          <a:lstStyle/>
          <a:p>
            <a:pPr indent="0" marL="0">
              <a:buNone/>
            </a:pPr>
            <a:r>
              <a:rPr lang="en-US" sz="1400" b="1" dirty="0">
                <a:solidFill>
                  <a:srgbClr val="15315E"/>
                </a:solidFill>
              </a:rPr>
              <a:t>对象</a:t>
            </a:r>
            <a:endParaRPr lang="en-US" sz="1400" dirty="0"/>
          </a:p>
        </p:txBody>
      </p:sp>
      <p:sp>
        <p:nvSpPr>
          <p:cNvPr id="24" name="r-v1"/>
          <p:cNvSpPr txBox="1"/>
          <p:nvPr/>
        </p:nvSpPr>
        <p:spPr>
          <a:xfrm>
            <a:off x="7726680" y="2697480"/>
            <a:ext cx="3840480" cy="365760"/>
          </a:xfrm>
          <a:prstGeom prst="rect">
            <a:avLst/>
          </a:prstGeom>
          <a:noFill/>
          <a:ln/>
        </p:spPr>
        <p:txBody>
          <a:bodyPr wrap="square" lIns="0" tIns="0" rIns="0" bIns="0" rtlCol="0" anchor="t"/>
          <a:lstStyle/>
          <a:p>
            <a:pPr indent="0" marL="0">
              <a:buNone/>
            </a:pPr>
            <a:r>
              <a:rPr lang="en-US" sz="1300" dirty="0">
                <a:solidFill>
                  <a:srgbClr val="3D4757"/>
                </a:solidFill>
              </a:rPr>
              <a:t>非黑名单订单的召回场景</a:t>
            </a:r>
            <a:endParaRPr lang="en-US" sz="1300" dirty="0"/>
          </a:p>
        </p:txBody>
      </p:sp>
      <p:sp>
        <p:nvSpPr>
          <p:cNvPr id="25" name="r-k2"/>
          <p:cNvSpPr txBox="1"/>
          <p:nvPr/>
        </p:nvSpPr>
        <p:spPr>
          <a:xfrm>
            <a:off x="7726680" y="3246120"/>
            <a:ext cx="3840480" cy="274320"/>
          </a:xfrm>
          <a:prstGeom prst="rect">
            <a:avLst/>
          </a:prstGeom>
          <a:noFill/>
          <a:ln/>
        </p:spPr>
        <p:txBody>
          <a:bodyPr wrap="square" lIns="0" tIns="0" rIns="0" bIns="0" rtlCol="0" anchor="t"/>
          <a:lstStyle/>
          <a:p>
            <a:pPr indent="0" marL="0">
              <a:buNone/>
            </a:pPr>
            <a:r>
              <a:rPr lang="en-US" sz="1400" b="1" dirty="0">
                <a:solidFill>
                  <a:srgbClr val="15315E"/>
                </a:solidFill>
              </a:rPr>
              <a:t>价值</a:t>
            </a:r>
            <a:endParaRPr lang="en-US" sz="1400" dirty="0"/>
          </a:p>
        </p:txBody>
      </p:sp>
      <p:sp>
        <p:nvSpPr>
          <p:cNvPr id="26" name="r-v2"/>
          <p:cNvSpPr txBox="1"/>
          <p:nvPr/>
        </p:nvSpPr>
        <p:spPr>
          <a:xfrm>
            <a:off x="7726680" y="3566160"/>
            <a:ext cx="384048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757"/>
                </a:solidFill>
              </a:rPr>
              <a:t>避免因订单支付状态判定超时导致的票量损失</a:t>
            </a:r>
            <a:endParaRPr lang="en-US" sz="1300" dirty="0"/>
          </a:p>
          <a:p>
            <a:pPr marL="342900" indent="-342900">
              <a:spcAft>
                <a:spcPts val="600"/>
              </a:spcAft>
              <a:buSzPct val="100000"/>
              <a:buChar char="•"/>
            </a:pPr>
            <a:r>
              <a:rPr lang="en-US" sz="1300" dirty="0">
                <a:solidFill>
                  <a:srgbClr val="3D4757"/>
                </a:solidFill>
              </a:rPr>
              <a:t>召回候补时把更多订单转化为支付宝订单，后续扣位可直接代付出票</a:t>
            </a:r>
            <a:endParaRPr lang="en-US" sz="1300" dirty="0"/>
          </a:p>
        </p:txBody>
      </p:sp>
      <p:sp>
        <p:nvSpPr>
          <p:cNvPr id="27" name="r-shot-frame"/>
          <p:cNvSpPr/>
          <p:nvPr/>
        </p:nvSpPr>
        <p:spPr>
          <a:xfrm>
            <a:off x="7726680" y="5120640"/>
            <a:ext cx="3776472" cy="914400"/>
          </a:xfrm>
          <a:prstGeom prst="rect">
            <a:avLst/>
          </a:prstGeom>
          <a:solidFill>
            <a:srgbClr val="FAFBFD"/>
          </a:solidFill>
          <a:ln w="15875">
            <a:solidFill>
              <a:srgbClr val="A9B4C2"/>
            </a:solidFill>
            <a:prstDash val="dash"/>
          </a:ln>
        </p:spPr>
      </p:sp>
      <p:sp>
        <p:nvSpPr>
          <p:cNvPr id="28" name="r-shot-label"/>
          <p:cNvSpPr txBox="1"/>
          <p:nvPr/>
        </p:nvSpPr>
        <p:spPr>
          <a:xfrm>
            <a:off x="7863840" y="5120640"/>
            <a:ext cx="3502152" cy="914400"/>
          </a:xfrm>
          <a:prstGeom prst="rect">
            <a:avLst/>
          </a:prstGeom>
          <a:noFill/>
          <a:ln/>
        </p:spPr>
        <p:txBody>
          <a:bodyPr wrap="square" lIns="0" tIns="0" rIns="0" bIns="0" rtlCol="0" anchor="ctr"/>
          <a:lstStyle/>
          <a:p>
            <a:pPr algn="ctr" indent="0" marL="0">
              <a:buNone/>
            </a:pPr>
            <a:r>
              <a:rPr lang="en-US" sz="1200" dirty="0">
                <a:solidFill>
                  <a:srgbClr val="5B6B80"/>
                </a:solidFill>
              </a:rPr>
              <a:t>待补充：召回页面示意</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457200" y="109728"/>
            <a:ext cx="11247120" cy="658368"/>
          </a:xfrm>
          <a:prstGeom prst="rect">
            <a:avLst/>
          </a:prstGeom>
          <a:noFill/>
          <a:ln/>
        </p:spPr>
        <p:txBody>
          <a:bodyPr wrap="square" lIns="0" tIns="0" rIns="0" bIns="0" rtlCol="0" anchor="ctr"/>
          <a:lstStyle/>
          <a:p>
            <a:pPr algn="l" indent="0" marL="0">
              <a:buNone/>
            </a:pPr>
            <a:r>
              <a:rPr lang="en-US" sz="3000" b="1" dirty="0">
                <a:solidFill>
                  <a:schemeClr val="accent1"/>
                </a:solidFill>
              </a:rPr>
              <a:t>3、主要项目 · 成功率专项：直付兜底</a:t>
            </a:r>
            <a:endParaRPr lang="en-US" sz="3000" dirty="0"/>
          </a:p>
        </p:txBody>
      </p:sp>
      <p:sp>
        <p:nvSpPr>
          <p:cNvPr id="3" name="Text 2"/>
          <p:cNvSpPr/>
          <p:nvPr>
            <p:ph idx="103" type="body" hasCustomPrompt="1"/>
          </p:nvPr>
        </p:nvSpPr>
        <p:spPr>
          <a:xfrm>
            <a:off x="457200" y="914400"/>
            <a:ext cx="11247120" cy="411480"/>
          </a:xfrm>
          <a:prstGeom prst="rect">
            <a:avLst/>
          </a:prstGeom>
          <a:noFill/>
          <a:ln/>
        </p:spPr>
        <p:txBody>
          <a:bodyPr wrap="square" lIns="0" tIns="0" rIns="0" bIns="0" rtlCol="0" anchor="ctr"/>
          <a:lstStyle/>
          <a:p>
            <a:pPr algn="l" indent="0" marL="0">
              <a:buNone/>
            </a:pPr>
            <a:r>
              <a:rPr lang="en-US" sz="1700" b="1" dirty="0">
                <a:solidFill>
                  <a:schemeClr val="tx1"/>
                </a:solidFill>
              </a:rPr>
              <a:t>4 月主流程直付改造后，覆盖遗留的长尾场景：在原本就需要用户确认的节点接直付</a:t>
            </a:r>
            <a:endParaRPr lang="en-US" sz="1700" dirty="0"/>
          </a:p>
        </p:txBody>
      </p:sp>
      <p:sp>
        <p:nvSpPr>
          <p:cNvPr id="4" name="idea-head"/>
          <p:cNvSpPr txBox="1"/>
          <p:nvPr/>
        </p:nvSpPr>
        <p:spPr>
          <a:xfrm>
            <a:off x="457200" y="1508760"/>
            <a:ext cx="5486400" cy="320040"/>
          </a:xfrm>
          <a:prstGeom prst="rect">
            <a:avLst/>
          </a:prstGeom>
          <a:noFill/>
          <a:ln/>
        </p:spPr>
        <p:txBody>
          <a:bodyPr wrap="square" lIns="0" tIns="0" rIns="0" bIns="0" rtlCol="0" anchor="t"/>
          <a:lstStyle/>
          <a:p>
            <a:pPr indent="0" marL="0">
              <a:buNone/>
            </a:pPr>
            <a:r>
              <a:rPr lang="en-US" sz="1600" b="1" dirty="0">
                <a:solidFill>
                  <a:srgbClr val="287DFA"/>
                </a:solidFill>
              </a:rPr>
              <a:t>思路</a:t>
            </a:r>
            <a:endParaRPr lang="en-US" sz="1600" dirty="0"/>
          </a:p>
        </p:txBody>
      </p:sp>
      <p:sp>
        <p:nvSpPr>
          <p:cNvPr id="5" name="idea-card"/>
          <p:cNvSpPr/>
          <p:nvPr/>
        </p:nvSpPr>
        <p:spPr>
          <a:xfrm>
            <a:off x="457200" y="1874520"/>
            <a:ext cx="5486400" cy="1417320"/>
          </a:xfrm>
          <a:prstGeom prst="roundRect">
            <a:avLst>
              <a:gd name="adj" fmla="val 5161"/>
            </a:avLst>
          </a:prstGeom>
          <a:solidFill>
            <a:srgbClr val="EEF4FF"/>
          </a:solidFill>
          <a:ln w="12700">
            <a:solidFill>
              <a:srgbClr val="EEF4FF"/>
            </a:solidFill>
            <a:prstDash val="solid"/>
          </a:ln>
        </p:spPr>
      </p:sp>
      <p:sp>
        <p:nvSpPr>
          <p:cNvPr id="6" name="idea-text"/>
          <p:cNvSpPr txBox="1"/>
          <p:nvPr/>
        </p:nvSpPr>
        <p:spPr>
          <a:xfrm>
            <a:off x="685800" y="1965960"/>
            <a:ext cx="5120640" cy="1234440"/>
          </a:xfrm>
          <a:prstGeom prst="rect">
            <a:avLst/>
          </a:prstGeom>
          <a:noFill/>
          <a:ln/>
        </p:spPr>
        <p:txBody>
          <a:bodyPr wrap="square" lIns="0" tIns="0" rIns="0" bIns="0" rtlCol="0" anchor="ctr"/>
          <a:lstStyle/>
          <a:p>
            <a:pPr indent="0" marL="0">
              <a:spcAft>
                <a:spcPts val="800"/>
              </a:spcAft>
              <a:buNone/>
            </a:pPr>
            <a:r>
              <a:rPr lang="en-US" sz="1350" b="1" dirty="0">
                <a:solidFill>
                  <a:srgbClr val="15315E"/>
                </a:solidFill>
              </a:rPr>
              <a:t>直付的成本和主要痛点：</a:t>
            </a:r>
            <a:pPr indent="0" marL="0">
              <a:spcAft>
                <a:spcPts val="800"/>
              </a:spcAft>
              <a:buNone/>
            </a:pPr>
            <a:r>
              <a:rPr lang="en-US" sz="1350" dirty="0">
                <a:solidFill>
                  <a:srgbClr val="3D4757"/>
                </a:solidFill>
              </a:rPr>
              <a:t>召回用户的过程中存在流失漏斗</a:t>
            </a:r>
            <a:endParaRPr lang="en-US" sz="1350" dirty="0"/>
          </a:p>
          <a:p>
            <a:pPr indent="0" marL="0">
              <a:spcAft>
                <a:spcPts val="800"/>
              </a:spcAft>
              <a:buNone/>
            </a:pPr>
            <a:r>
              <a:rPr lang="en-US" sz="1350" b="1" dirty="0">
                <a:solidFill>
                  <a:srgbClr val="15315E"/>
                </a:solidFill>
              </a:rPr>
              <a:t>因此：</a:t>
            </a:r>
            <a:pPr indent="0" marL="0">
              <a:spcAft>
                <a:spcPts val="800"/>
              </a:spcAft>
              <a:buNone/>
            </a:pPr>
            <a:r>
              <a:rPr lang="en-US" sz="1350" dirty="0">
                <a:solidFill>
                  <a:srgbClr val="3D4757"/>
                </a:solidFill>
              </a:rPr>
              <a:t>优先在原本就需要用户确认的节点接直付，不额外增加召回</a:t>
            </a:r>
            <a:endParaRPr lang="en-US" sz="1350" dirty="0"/>
          </a:p>
        </p:txBody>
      </p:sp>
      <p:sp>
        <p:nvSpPr>
          <p:cNvPr id="7" name="scn-head"/>
          <p:cNvSpPr txBox="1"/>
          <p:nvPr/>
        </p:nvSpPr>
        <p:spPr>
          <a:xfrm>
            <a:off x="457200" y="3520440"/>
            <a:ext cx="5486400" cy="320040"/>
          </a:xfrm>
          <a:prstGeom prst="rect">
            <a:avLst/>
          </a:prstGeom>
          <a:noFill/>
          <a:ln/>
        </p:spPr>
        <p:txBody>
          <a:bodyPr wrap="square" lIns="0" tIns="0" rIns="0" bIns="0" rtlCol="0" anchor="t"/>
          <a:lstStyle/>
          <a:p>
            <a:pPr indent="0" marL="0">
              <a:buNone/>
            </a:pPr>
            <a:r>
              <a:rPr lang="en-US" sz="1600" b="1" dirty="0">
                <a:solidFill>
                  <a:srgbClr val="287DFA"/>
                </a:solidFill>
              </a:rPr>
              <a:t>8 月直付改造的场景</a:t>
            </a:r>
            <a:endParaRPr lang="en-US" sz="1600" dirty="0"/>
          </a:p>
        </p:txBody>
      </p:sp>
      <p:sp>
        <p:nvSpPr>
          <p:cNvPr id="8" name="scn-dot-0"/>
          <p:cNvSpPr/>
          <p:nvPr/>
        </p:nvSpPr>
        <p:spPr>
          <a:xfrm>
            <a:off x="502920" y="3977640"/>
            <a:ext cx="411480" cy="411480"/>
          </a:xfrm>
          <a:prstGeom prst="ellipse">
            <a:avLst/>
          </a:prstGeom>
          <a:solidFill>
            <a:srgbClr val="287DFA"/>
          </a:solidFill>
          <a:ln w="12700">
            <a:solidFill>
              <a:srgbClr val="287DFA"/>
            </a:solidFill>
            <a:prstDash val="solid"/>
          </a:ln>
        </p:spPr>
      </p:sp>
      <p:sp>
        <p:nvSpPr>
          <p:cNvPr id="9" name="scn-num-0"/>
          <p:cNvSpPr txBox="1"/>
          <p:nvPr/>
        </p:nvSpPr>
        <p:spPr>
          <a:xfrm>
            <a:off x="502920"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scn-k-0"/>
          <p:cNvSpPr txBox="1"/>
          <p:nvPr/>
        </p:nvSpPr>
        <p:spPr>
          <a:xfrm>
            <a:off x="1097280" y="3931920"/>
            <a:ext cx="1554480" cy="502920"/>
          </a:xfrm>
          <a:prstGeom prst="rect">
            <a:avLst/>
          </a:prstGeom>
          <a:noFill/>
          <a:ln/>
        </p:spPr>
        <p:txBody>
          <a:bodyPr wrap="square" lIns="0" tIns="0" rIns="0" bIns="0" rtlCol="0" anchor="ctr"/>
          <a:lstStyle/>
          <a:p>
            <a:pPr indent="0" marL="0">
              <a:buNone/>
            </a:pPr>
            <a:r>
              <a:rPr lang="en-US" sz="1400" b="1" dirty="0">
                <a:solidFill>
                  <a:srgbClr val="15315E"/>
                </a:solidFill>
              </a:rPr>
              <a:t>智能第二程</a:t>
            </a:r>
            <a:endParaRPr lang="en-US" sz="1400" dirty="0"/>
          </a:p>
        </p:txBody>
      </p:sp>
      <p:sp>
        <p:nvSpPr>
          <p:cNvPr id="11" name="scn-v-0"/>
          <p:cNvSpPr txBox="1"/>
          <p:nvPr/>
        </p:nvSpPr>
        <p:spPr>
          <a:xfrm>
            <a:off x="2651760" y="3931920"/>
            <a:ext cx="3291840" cy="502920"/>
          </a:xfrm>
          <a:prstGeom prst="rect">
            <a:avLst/>
          </a:prstGeom>
          <a:noFill/>
          <a:ln/>
        </p:spPr>
        <p:txBody>
          <a:bodyPr wrap="square" lIns="0" tIns="0" rIns="0" bIns="0" rtlCol="0" anchor="ctr"/>
          <a:lstStyle/>
          <a:p>
            <a:pPr indent="0" marL="0">
              <a:buNone/>
            </a:pPr>
            <a:r>
              <a:rPr lang="en-US" sz="1250" dirty="0">
                <a:solidFill>
                  <a:srgbClr val="3D4757"/>
                </a:solidFill>
              </a:rPr>
              <a:t>用户确认第二程方案后，由代付改为直付</a:t>
            </a:r>
            <a:endParaRPr lang="en-US" sz="1250" dirty="0"/>
          </a:p>
        </p:txBody>
      </p:sp>
      <p:sp>
        <p:nvSpPr>
          <p:cNvPr id="12" name="scn-dot-1"/>
          <p:cNvSpPr/>
          <p:nvPr/>
        </p:nvSpPr>
        <p:spPr>
          <a:xfrm>
            <a:off x="502920" y="4636008"/>
            <a:ext cx="411480" cy="411480"/>
          </a:xfrm>
          <a:prstGeom prst="ellipse">
            <a:avLst/>
          </a:prstGeom>
          <a:solidFill>
            <a:srgbClr val="287DFA"/>
          </a:solidFill>
          <a:ln w="12700">
            <a:solidFill>
              <a:srgbClr val="287DFA"/>
            </a:solidFill>
            <a:prstDash val="solid"/>
          </a:ln>
        </p:spPr>
      </p:sp>
      <p:sp>
        <p:nvSpPr>
          <p:cNvPr id="13" name="scn-num-1"/>
          <p:cNvSpPr txBox="1"/>
          <p:nvPr/>
        </p:nvSpPr>
        <p:spPr>
          <a:xfrm>
            <a:off x="502920" y="46360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scn-k-1"/>
          <p:cNvSpPr txBox="1"/>
          <p:nvPr/>
        </p:nvSpPr>
        <p:spPr>
          <a:xfrm>
            <a:off x="1097280" y="4590288"/>
            <a:ext cx="1554480" cy="502920"/>
          </a:xfrm>
          <a:prstGeom prst="rect">
            <a:avLst/>
          </a:prstGeom>
          <a:noFill/>
          <a:ln/>
        </p:spPr>
        <p:txBody>
          <a:bodyPr wrap="square" lIns="0" tIns="0" rIns="0" bIns="0" rtlCol="0" anchor="ctr"/>
          <a:lstStyle/>
          <a:p>
            <a:pPr indent="0" marL="0">
              <a:buNone/>
            </a:pPr>
            <a:r>
              <a:rPr lang="en-US" sz="1400" b="1" dirty="0">
                <a:solidFill>
                  <a:srgbClr val="15315E"/>
                </a:solidFill>
              </a:rPr>
              <a:t>行程冲突</a:t>
            </a:r>
            <a:endParaRPr lang="en-US" sz="1400" dirty="0"/>
          </a:p>
        </p:txBody>
      </p:sp>
      <p:sp>
        <p:nvSpPr>
          <p:cNvPr id="15" name="scn-v-1"/>
          <p:cNvSpPr txBox="1"/>
          <p:nvPr/>
        </p:nvSpPr>
        <p:spPr>
          <a:xfrm>
            <a:off x="2651760" y="4590288"/>
            <a:ext cx="3291840" cy="502920"/>
          </a:xfrm>
          <a:prstGeom prst="rect">
            <a:avLst/>
          </a:prstGeom>
          <a:noFill/>
          <a:ln/>
        </p:spPr>
        <p:txBody>
          <a:bodyPr wrap="square" lIns="0" tIns="0" rIns="0" bIns="0" rtlCol="0" anchor="ctr"/>
          <a:lstStyle/>
          <a:p>
            <a:pPr indent="0" marL="0">
              <a:buNone/>
            </a:pPr>
            <a:r>
              <a:rPr lang="en-US" sz="1250" dirty="0">
                <a:solidFill>
                  <a:srgbClr val="3D4757"/>
                </a:solidFill>
              </a:rPr>
              <a:t>非支付宝及支付宝黑名单订单，确认出票时走直付</a:t>
            </a:r>
            <a:endParaRPr lang="en-US" sz="1250" dirty="0"/>
          </a:p>
        </p:txBody>
      </p:sp>
      <p:sp>
        <p:nvSpPr>
          <p:cNvPr id="16" name="scn-dot-2"/>
          <p:cNvSpPr/>
          <p:nvPr/>
        </p:nvSpPr>
        <p:spPr>
          <a:xfrm>
            <a:off x="502920" y="5294376"/>
            <a:ext cx="411480" cy="411480"/>
          </a:xfrm>
          <a:prstGeom prst="ellipse">
            <a:avLst/>
          </a:prstGeom>
          <a:solidFill>
            <a:srgbClr val="287DFA"/>
          </a:solidFill>
          <a:ln w="12700">
            <a:solidFill>
              <a:srgbClr val="287DFA"/>
            </a:solidFill>
            <a:prstDash val="solid"/>
          </a:ln>
        </p:spPr>
      </p:sp>
      <p:sp>
        <p:nvSpPr>
          <p:cNvPr id="17" name="scn-num-2"/>
          <p:cNvSpPr txBox="1"/>
          <p:nvPr/>
        </p:nvSpPr>
        <p:spPr>
          <a:xfrm>
            <a:off x="502920" y="529437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scn-k-2"/>
          <p:cNvSpPr txBox="1"/>
          <p:nvPr/>
        </p:nvSpPr>
        <p:spPr>
          <a:xfrm>
            <a:off x="1097280" y="5248656"/>
            <a:ext cx="1554480" cy="502920"/>
          </a:xfrm>
          <a:prstGeom prst="rect">
            <a:avLst/>
          </a:prstGeom>
          <a:noFill/>
          <a:ln/>
        </p:spPr>
        <p:txBody>
          <a:bodyPr wrap="square" lIns="0" tIns="0" rIns="0" bIns="0" rtlCol="0" anchor="ctr"/>
          <a:lstStyle/>
          <a:p>
            <a:pPr indent="0" marL="0">
              <a:buNone/>
            </a:pPr>
            <a:r>
              <a:rPr lang="en-US" sz="1400" b="1" dirty="0">
                <a:solidFill>
                  <a:srgbClr val="15315E"/>
                </a:solidFill>
              </a:rPr>
              <a:t>票款不足补款</a:t>
            </a:r>
            <a:endParaRPr lang="en-US" sz="1400" dirty="0"/>
          </a:p>
        </p:txBody>
      </p:sp>
      <p:sp>
        <p:nvSpPr>
          <p:cNvPr id="19" name="scn-v-2"/>
          <p:cNvSpPr txBox="1"/>
          <p:nvPr/>
        </p:nvSpPr>
        <p:spPr>
          <a:xfrm>
            <a:off x="2651760" y="5248656"/>
            <a:ext cx="3291840" cy="502920"/>
          </a:xfrm>
          <a:prstGeom prst="rect">
            <a:avLst/>
          </a:prstGeom>
          <a:noFill/>
          <a:ln/>
        </p:spPr>
        <p:txBody>
          <a:bodyPr wrap="square" lIns="0" tIns="0" rIns="0" bIns="0" rtlCol="0" anchor="ctr"/>
          <a:lstStyle/>
          <a:p>
            <a:pPr indent="0" marL="0">
              <a:buNone/>
            </a:pPr>
            <a:r>
              <a:rPr lang="en-US" sz="1250" dirty="0">
                <a:solidFill>
                  <a:srgbClr val="3D4757"/>
                </a:solidFill>
              </a:rPr>
              <a:t>非支付宝及支付宝黑名单订单，补款时走直付</a:t>
            </a:r>
            <a:endParaRPr lang="en-US" sz="1250" dirty="0"/>
          </a:p>
        </p:txBody>
      </p:sp>
      <p:sp>
        <p:nvSpPr>
          <p:cNvPr id="20" name="flow-shot-frame"/>
          <p:cNvSpPr/>
          <p:nvPr/>
        </p:nvSpPr>
        <p:spPr>
          <a:xfrm>
            <a:off x="6245352" y="1508760"/>
            <a:ext cx="5486400" cy="3017520"/>
          </a:xfrm>
          <a:prstGeom prst="rect">
            <a:avLst/>
          </a:prstGeom>
          <a:solidFill>
            <a:srgbClr val="FAFBFD"/>
          </a:solidFill>
          <a:ln w="15875">
            <a:solidFill>
              <a:srgbClr val="A9B4C2"/>
            </a:solidFill>
            <a:prstDash val="dash"/>
          </a:ln>
        </p:spPr>
      </p:sp>
      <p:sp>
        <p:nvSpPr>
          <p:cNvPr id="21" name="flow-shot-label"/>
          <p:cNvSpPr txBox="1"/>
          <p:nvPr/>
        </p:nvSpPr>
        <p:spPr>
          <a:xfrm>
            <a:off x="6382512" y="1508760"/>
            <a:ext cx="5212080" cy="3017520"/>
          </a:xfrm>
          <a:prstGeom prst="rect">
            <a:avLst/>
          </a:prstGeom>
          <a:noFill/>
          <a:ln/>
        </p:spPr>
        <p:txBody>
          <a:bodyPr wrap="square" lIns="0" tIns="0" rIns="0" bIns="0" rtlCol="0" anchor="ctr"/>
          <a:lstStyle/>
          <a:p>
            <a:pPr algn="ctr" indent="0" marL="0">
              <a:buNone/>
            </a:pPr>
            <a:r>
              <a:rPr lang="en-US" sz="1200" dirty="0">
                <a:solidFill>
                  <a:srgbClr val="5B6B80"/>
                </a:solidFill>
              </a:rPr>
              <a:t>待补充：智能第二程 / 行程冲突直付流程截图</a:t>
            </a:r>
            <a:endParaRPr lang="en-US" sz="1200" dirty="0"/>
          </a:p>
        </p:txBody>
      </p:sp>
      <p:sp>
        <p:nvSpPr>
          <p:cNvPr id="22" name="res-card"/>
          <p:cNvSpPr/>
          <p:nvPr/>
        </p:nvSpPr>
        <p:spPr>
          <a:xfrm>
            <a:off x="6245352" y="4709160"/>
            <a:ext cx="5486400" cy="1508760"/>
          </a:xfrm>
          <a:prstGeom prst="roundRect">
            <a:avLst>
              <a:gd name="adj" fmla="val 4848"/>
            </a:avLst>
          </a:prstGeom>
          <a:solidFill>
            <a:srgbClr val="EEF4FF"/>
          </a:solidFill>
          <a:ln w="12700">
            <a:solidFill>
              <a:srgbClr val="EEF4FF"/>
            </a:solidFill>
            <a:prstDash val="solid"/>
          </a:ln>
        </p:spPr>
      </p:sp>
      <p:sp>
        <p:nvSpPr>
          <p:cNvPr id="23" name="res-h"/>
          <p:cNvSpPr txBox="1"/>
          <p:nvPr/>
        </p:nvSpPr>
        <p:spPr>
          <a:xfrm>
            <a:off x="6492240" y="4846320"/>
            <a:ext cx="1828800" cy="274320"/>
          </a:xfrm>
          <a:prstGeom prst="rect">
            <a:avLst/>
          </a:prstGeom>
          <a:noFill/>
          <a:ln/>
        </p:spPr>
        <p:txBody>
          <a:bodyPr wrap="square" lIns="0" tIns="0" rIns="0" bIns="0" rtlCol="0" anchor="t"/>
          <a:lstStyle/>
          <a:p>
            <a:pPr indent="0" marL="0">
              <a:buNone/>
            </a:pPr>
            <a:r>
              <a:rPr lang="en-US" sz="1400" b="1" dirty="0">
                <a:solidFill>
                  <a:srgbClr val="287DFA"/>
                </a:solidFill>
              </a:rPr>
              <a:t>效果</a:t>
            </a:r>
            <a:endParaRPr lang="en-US" sz="1400" dirty="0"/>
          </a:p>
        </p:txBody>
      </p:sp>
      <p:sp>
        <p:nvSpPr>
          <p:cNvPr id="24" name="res-label"/>
          <p:cNvSpPr txBox="1"/>
          <p:nvPr/>
        </p:nvSpPr>
        <p:spPr>
          <a:xfrm>
            <a:off x="6492240" y="5212080"/>
            <a:ext cx="2377440" cy="320040"/>
          </a:xfrm>
          <a:prstGeom prst="rect">
            <a:avLst/>
          </a:prstGeom>
          <a:noFill/>
          <a:ln/>
        </p:spPr>
        <p:txBody>
          <a:bodyPr wrap="square" lIns="0" tIns="0" rIns="0" bIns="0" rtlCol="0" anchor="t"/>
          <a:lstStyle/>
          <a:p>
            <a:pPr indent="0" marL="0">
              <a:buNone/>
            </a:pPr>
            <a:r>
              <a:rPr lang="en-US" sz="1300" dirty="0">
                <a:solidFill>
                  <a:srgbClr val="3D4757"/>
                </a:solidFill>
              </a:rPr>
              <a:t>合计年化挽回票量</a:t>
            </a:r>
            <a:endParaRPr lang="en-US" sz="1300" dirty="0"/>
          </a:p>
        </p:txBody>
      </p:sp>
      <p:sp>
        <p:nvSpPr>
          <p:cNvPr id="25" name="res-value"/>
          <p:cNvSpPr txBox="1"/>
          <p:nvPr/>
        </p:nvSpPr>
        <p:spPr>
          <a:xfrm>
            <a:off x="6492240" y="5532120"/>
            <a:ext cx="5029200" cy="594360"/>
          </a:xfrm>
          <a:prstGeom prst="rect">
            <a:avLst/>
          </a:prstGeom>
          <a:noFill/>
          <a:ln/>
        </p:spPr>
        <p:txBody>
          <a:bodyPr wrap="square" lIns="0" tIns="0" rIns="0" bIns="0" rtlCol="0" anchor="t"/>
          <a:lstStyle/>
          <a:p>
            <a:pPr indent="0" marL="0">
              <a:buNone/>
            </a:pPr>
            <a:r>
              <a:rPr lang="en-US" sz="3200" b="1" dirty="0">
                <a:solidFill>
                  <a:srgbClr val="287DFA"/>
                </a:solidFill>
              </a:rPr>
              <a:t>约 11.6 万张</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457200" y="109728"/>
            <a:ext cx="11247120" cy="658368"/>
          </a:xfrm>
          <a:prstGeom prst="rect">
            <a:avLst/>
          </a:prstGeom>
          <a:noFill/>
          <a:ln/>
        </p:spPr>
        <p:txBody>
          <a:bodyPr wrap="square" lIns="0" tIns="0" rIns="0" bIns="0" rtlCol="0" anchor="ctr"/>
          <a:lstStyle/>
          <a:p>
            <a:pPr algn="l" indent="0" marL="0">
              <a:buNone/>
            </a:pPr>
            <a:r>
              <a:rPr lang="en-US" sz="3000" b="1" dirty="0">
                <a:solidFill>
                  <a:schemeClr val="accent1"/>
                </a:solidFill>
              </a:rPr>
              <a:t>3、主要项目 · 成功率专项：放开抢转买</a:t>
            </a:r>
            <a:endParaRPr lang="en-US" sz="3000" dirty="0"/>
          </a:p>
        </p:txBody>
      </p:sp>
      <p:sp>
        <p:nvSpPr>
          <p:cNvPr id="3" name="Text 2"/>
          <p:cNvSpPr/>
          <p:nvPr>
            <p:ph idx="103" type="body" hasCustomPrompt="1"/>
          </p:nvPr>
        </p:nvSpPr>
        <p:spPr>
          <a:xfrm>
            <a:off x="457200" y="914400"/>
            <a:ext cx="11247120" cy="411480"/>
          </a:xfrm>
          <a:prstGeom prst="rect">
            <a:avLst/>
          </a:prstGeom>
          <a:noFill/>
          <a:ln/>
        </p:spPr>
        <p:txBody>
          <a:bodyPr wrap="square" lIns="0" tIns="0" rIns="0" bIns="0" rtlCol="0" anchor="ctr"/>
          <a:lstStyle/>
          <a:p>
            <a:pPr algn="l" indent="0" marL="0">
              <a:buNone/>
            </a:pPr>
            <a:r>
              <a:rPr lang="en-US" sz="1700" b="1" dirty="0">
                <a:solidFill>
                  <a:schemeClr val="tx1"/>
                </a:solidFill>
              </a:rPr>
              <a:t>拓展出票方式：对能够正常代付的支付宝（非黑名单）订单重新开放抢转买</a:t>
            </a:r>
            <a:endParaRPr lang="en-US" sz="1700" dirty="0"/>
          </a:p>
        </p:txBody>
      </p:sp>
      <p:sp>
        <p:nvSpPr>
          <p:cNvPr id="4" name="ba-card-0"/>
          <p:cNvSpPr/>
          <p:nvPr/>
        </p:nvSpPr>
        <p:spPr>
          <a:xfrm>
            <a:off x="457200" y="1600200"/>
            <a:ext cx="5760720" cy="1051560"/>
          </a:xfrm>
          <a:prstGeom prst="roundRect">
            <a:avLst>
              <a:gd name="adj" fmla="val 6957"/>
            </a:avLst>
          </a:prstGeom>
          <a:solidFill>
            <a:srgbClr val="F3F5F8"/>
          </a:solidFill>
          <a:ln w="12700">
            <a:solidFill>
              <a:srgbClr val="F3F5F8"/>
            </a:solidFill>
            <a:prstDash val="solid"/>
          </a:ln>
        </p:spPr>
      </p:sp>
      <p:sp>
        <p:nvSpPr>
          <p:cNvPr id="5" name="ba-tag-0"/>
          <p:cNvSpPr/>
          <p:nvPr/>
        </p:nvSpPr>
        <p:spPr>
          <a:xfrm>
            <a:off x="685800" y="1929384"/>
            <a:ext cx="777240" cy="384048"/>
          </a:xfrm>
          <a:prstGeom prst="roundRect">
            <a:avLst>
              <a:gd name="adj" fmla="val 14286"/>
            </a:avLst>
          </a:prstGeom>
          <a:solidFill>
            <a:srgbClr val="5B6B80"/>
          </a:solidFill>
          <a:ln w="12700">
            <a:solidFill>
              <a:srgbClr val="5B6B80"/>
            </a:solidFill>
            <a:prstDash val="solid"/>
          </a:ln>
        </p:spPr>
      </p:sp>
      <p:sp>
        <p:nvSpPr>
          <p:cNvPr id="6" name="ba-tag-t-0"/>
          <p:cNvSpPr txBox="1"/>
          <p:nvPr/>
        </p:nvSpPr>
        <p:spPr>
          <a:xfrm>
            <a:off x="685800" y="1929384"/>
            <a:ext cx="777240" cy="384048"/>
          </a:xfrm>
          <a:prstGeom prst="rect">
            <a:avLst/>
          </a:prstGeom>
          <a:noFill/>
          <a:ln/>
        </p:spPr>
        <p:txBody>
          <a:bodyPr wrap="square" lIns="0" tIns="0" rIns="0" bIns="0" rtlCol="0" anchor="ctr"/>
          <a:lstStyle/>
          <a:p>
            <a:pPr algn="ctr" indent="0" marL="0">
              <a:buNone/>
            </a:pPr>
            <a:r>
              <a:rPr lang="en-US" sz="1300" b="1" dirty="0">
                <a:solidFill>
                  <a:srgbClr val="FFFFFF"/>
                </a:solidFill>
              </a:rPr>
              <a:t>之前</a:t>
            </a:r>
            <a:endParaRPr lang="en-US" sz="1300" dirty="0"/>
          </a:p>
        </p:txBody>
      </p:sp>
      <p:sp>
        <p:nvSpPr>
          <p:cNvPr id="7" name="ba-text-0"/>
          <p:cNvSpPr txBox="1"/>
          <p:nvPr/>
        </p:nvSpPr>
        <p:spPr>
          <a:xfrm>
            <a:off x="1645920" y="1600200"/>
            <a:ext cx="4434840" cy="1051560"/>
          </a:xfrm>
          <a:prstGeom prst="rect">
            <a:avLst/>
          </a:prstGeom>
          <a:noFill/>
          <a:ln/>
        </p:spPr>
        <p:txBody>
          <a:bodyPr wrap="square" lIns="0" tIns="0" rIns="0" bIns="0" rtlCol="0" anchor="ctr"/>
          <a:lstStyle/>
          <a:p>
            <a:pPr indent="0" marL="0">
              <a:buNone/>
            </a:pPr>
            <a:r>
              <a:rPr lang="en-US" sz="1350" dirty="0">
                <a:solidFill>
                  <a:srgbClr val="3D4757"/>
                </a:solidFill>
              </a:rPr>
              <a:t>支付风控后抢转买关闭：用户改单选择有票方案时，只能通过捡漏出票</a:t>
            </a:r>
            <a:endParaRPr lang="en-US" sz="1350" dirty="0"/>
          </a:p>
        </p:txBody>
      </p:sp>
      <p:sp>
        <p:nvSpPr>
          <p:cNvPr id="8" name="ba-card-1"/>
          <p:cNvSpPr/>
          <p:nvPr/>
        </p:nvSpPr>
        <p:spPr>
          <a:xfrm>
            <a:off x="457200" y="2834640"/>
            <a:ext cx="5760720" cy="1051560"/>
          </a:xfrm>
          <a:prstGeom prst="roundRect">
            <a:avLst>
              <a:gd name="adj" fmla="val 6957"/>
            </a:avLst>
          </a:prstGeom>
          <a:solidFill>
            <a:srgbClr val="EEF4FF"/>
          </a:solidFill>
          <a:ln w="12700">
            <a:solidFill>
              <a:srgbClr val="EEF4FF"/>
            </a:solidFill>
            <a:prstDash val="solid"/>
          </a:ln>
        </p:spPr>
      </p:sp>
      <p:sp>
        <p:nvSpPr>
          <p:cNvPr id="9" name="ba-tag-1"/>
          <p:cNvSpPr/>
          <p:nvPr/>
        </p:nvSpPr>
        <p:spPr>
          <a:xfrm>
            <a:off x="685800" y="3163824"/>
            <a:ext cx="777240" cy="384048"/>
          </a:xfrm>
          <a:prstGeom prst="roundRect">
            <a:avLst>
              <a:gd name="adj" fmla="val 14286"/>
            </a:avLst>
          </a:prstGeom>
          <a:solidFill>
            <a:srgbClr val="287DFA"/>
          </a:solidFill>
          <a:ln w="12700">
            <a:solidFill>
              <a:srgbClr val="287DFA"/>
            </a:solidFill>
            <a:prstDash val="solid"/>
          </a:ln>
        </p:spPr>
      </p:sp>
      <p:sp>
        <p:nvSpPr>
          <p:cNvPr id="10" name="ba-tag-t-1"/>
          <p:cNvSpPr txBox="1"/>
          <p:nvPr/>
        </p:nvSpPr>
        <p:spPr>
          <a:xfrm>
            <a:off x="685800" y="3163824"/>
            <a:ext cx="777240" cy="384048"/>
          </a:xfrm>
          <a:prstGeom prst="rect">
            <a:avLst/>
          </a:prstGeom>
          <a:noFill/>
          <a:ln/>
        </p:spPr>
        <p:txBody>
          <a:bodyPr wrap="square" lIns="0" tIns="0" rIns="0" bIns="0" rtlCol="0" anchor="ctr"/>
          <a:lstStyle/>
          <a:p>
            <a:pPr algn="ctr" indent="0" marL="0">
              <a:buNone/>
            </a:pPr>
            <a:r>
              <a:rPr lang="en-US" sz="1300" b="1" dirty="0">
                <a:solidFill>
                  <a:srgbClr val="FFFFFF"/>
                </a:solidFill>
              </a:rPr>
              <a:t>之后</a:t>
            </a:r>
            <a:endParaRPr lang="en-US" sz="1300" dirty="0"/>
          </a:p>
        </p:txBody>
      </p:sp>
      <p:sp>
        <p:nvSpPr>
          <p:cNvPr id="11" name="ba-text-1"/>
          <p:cNvSpPr txBox="1"/>
          <p:nvPr/>
        </p:nvSpPr>
        <p:spPr>
          <a:xfrm>
            <a:off x="1645920" y="2834640"/>
            <a:ext cx="4434840" cy="1051560"/>
          </a:xfrm>
          <a:prstGeom prst="rect">
            <a:avLst/>
          </a:prstGeom>
          <a:noFill/>
          <a:ln/>
        </p:spPr>
        <p:txBody>
          <a:bodyPr wrap="square" lIns="0" tIns="0" rIns="0" bIns="0" rtlCol="0" anchor="ctr"/>
          <a:lstStyle/>
          <a:p>
            <a:pPr indent="0" marL="0">
              <a:buNone/>
            </a:pPr>
            <a:r>
              <a:rPr lang="en-US" sz="1350" dirty="0">
                <a:solidFill>
                  <a:srgbClr val="3D4757"/>
                </a:solidFill>
              </a:rPr>
              <a:t>8 月放开支付宝（非黑名单）订单在该场景下的抢转买，可走买票通道出票</a:t>
            </a:r>
            <a:endParaRPr lang="en-US" sz="1350" dirty="0"/>
          </a:p>
        </p:txBody>
      </p:sp>
      <p:sp>
        <p:nvSpPr>
          <p:cNvPr id="12" name="ba-shot-frame"/>
          <p:cNvSpPr/>
          <p:nvPr/>
        </p:nvSpPr>
        <p:spPr>
          <a:xfrm>
            <a:off x="457200" y="4114800"/>
            <a:ext cx="5760720" cy="2103120"/>
          </a:xfrm>
          <a:prstGeom prst="rect">
            <a:avLst/>
          </a:prstGeom>
          <a:solidFill>
            <a:srgbClr val="FAFBFD"/>
          </a:solidFill>
          <a:ln w="15875">
            <a:solidFill>
              <a:srgbClr val="A9B4C2"/>
            </a:solidFill>
            <a:prstDash val="dash"/>
          </a:ln>
        </p:spPr>
      </p:sp>
      <p:sp>
        <p:nvSpPr>
          <p:cNvPr id="13" name="ba-shot-label"/>
          <p:cNvSpPr txBox="1"/>
          <p:nvPr/>
        </p:nvSpPr>
        <p:spPr>
          <a:xfrm>
            <a:off x="594360" y="4114800"/>
            <a:ext cx="5486400" cy="2103120"/>
          </a:xfrm>
          <a:prstGeom prst="rect">
            <a:avLst/>
          </a:prstGeom>
          <a:noFill/>
          <a:ln/>
        </p:spPr>
        <p:txBody>
          <a:bodyPr wrap="square" lIns="0" tIns="0" rIns="0" bIns="0" rtlCol="0" anchor="ctr"/>
          <a:lstStyle/>
          <a:p>
            <a:pPr algn="ctr" indent="0" marL="0">
              <a:buNone/>
            </a:pPr>
            <a:r>
              <a:rPr lang="en-US" sz="1200" dirty="0">
                <a:solidFill>
                  <a:srgbClr val="5B6B80"/>
                </a:solidFill>
              </a:rPr>
              <a:t>待补充：改单有票方案页面截图（抢转买入口）</a:t>
            </a:r>
            <a:endParaRPr lang="en-US" sz="1200" dirty="0"/>
          </a:p>
        </p:txBody>
      </p:sp>
      <p:sp>
        <p:nvSpPr>
          <p:cNvPr id="14" name="res-head"/>
          <p:cNvSpPr txBox="1"/>
          <p:nvPr/>
        </p:nvSpPr>
        <p:spPr>
          <a:xfrm>
            <a:off x="6583680" y="1600200"/>
            <a:ext cx="2743200" cy="320040"/>
          </a:xfrm>
          <a:prstGeom prst="rect">
            <a:avLst/>
          </a:prstGeom>
          <a:noFill/>
          <a:ln/>
        </p:spPr>
        <p:txBody>
          <a:bodyPr wrap="square" lIns="0" tIns="0" rIns="0" bIns="0" rtlCol="0" anchor="t"/>
          <a:lstStyle/>
          <a:p>
            <a:pPr indent="0" marL="0">
              <a:buNone/>
            </a:pPr>
            <a:r>
              <a:rPr lang="en-US" sz="1600" b="1" dirty="0">
                <a:solidFill>
                  <a:srgbClr val="287DFA"/>
                </a:solidFill>
              </a:rPr>
              <a:t>效果</a:t>
            </a:r>
            <a:endParaRPr lang="en-US" sz="1600" dirty="0"/>
          </a:p>
        </p:txBody>
      </p:sp>
      <p:sp>
        <p:nvSpPr>
          <p:cNvPr id="15" name="chart-cap"/>
          <p:cNvSpPr txBox="1"/>
          <p:nvPr/>
        </p:nvSpPr>
        <p:spPr>
          <a:xfrm>
            <a:off x="6583680" y="1965960"/>
            <a:ext cx="2743200" cy="274320"/>
          </a:xfrm>
          <a:prstGeom prst="rect">
            <a:avLst/>
          </a:prstGeom>
          <a:noFill/>
          <a:ln/>
        </p:spPr>
        <p:txBody>
          <a:bodyPr wrap="square" lIns="0" tIns="0" rIns="0" bIns="0" rtlCol="0" anchor="t"/>
          <a:lstStyle/>
          <a:p>
            <a:pPr indent="0" marL="0">
              <a:buNone/>
            </a:pPr>
            <a:r>
              <a:rPr lang="en-US" sz="1200" dirty="0">
                <a:solidFill>
                  <a:srgbClr val="5B6B80"/>
                </a:solidFill>
              </a:rPr>
              <a:t>平峰期成功率</a:t>
            </a:r>
            <a:endParaRPr lang="en-US" sz="1200" dirty="0"/>
          </a:p>
        </p:txBody>
      </p:sp>
      <p:graphicFrame>
        <p:nvGraphicFramePr>
          <p:cNvPr id="16" name="sr-chart" descr=""/>
          <p:cNvGraphicFramePr/>
          <p:nvPr/>
        </p:nvGraphicFramePr>
        <p:xfrm>
          <a:off x="6492240" y="2240280"/>
          <a:ext cx="3108960" cy="3931920"/>
        </p:xfrm>
        <a:graphic xmlns:a="http://schemas.openxmlformats.org/drawingml/2006/main">
          <a:graphicData uri="http://schemas.openxmlformats.org/drawingml/2006/chart">
            <c:chart xmlns:c="http://schemas.openxmlformats.org/drawingml/2006/chart" r:id="rId1"/>
          </a:graphicData>
        </a:graphic>
      </p:graphicFrame>
      <p:sp>
        <p:nvSpPr>
          <p:cNvPr id="17" name="k1-card"/>
          <p:cNvSpPr/>
          <p:nvPr/>
        </p:nvSpPr>
        <p:spPr>
          <a:xfrm>
            <a:off x="9829800" y="2240280"/>
            <a:ext cx="1901952" cy="1828800"/>
          </a:xfrm>
          <a:prstGeom prst="roundRect">
            <a:avLst>
              <a:gd name="adj" fmla="val 4000"/>
            </a:avLst>
          </a:prstGeom>
          <a:solidFill>
            <a:srgbClr val="EEF4FF"/>
          </a:solidFill>
          <a:ln w="12700">
            <a:solidFill>
              <a:srgbClr val="EEF4FF"/>
            </a:solidFill>
            <a:prstDash val="solid"/>
          </a:ln>
        </p:spPr>
      </p:sp>
      <p:sp>
        <p:nvSpPr>
          <p:cNvPr id="18" name="k1-l"/>
          <p:cNvSpPr txBox="1"/>
          <p:nvPr/>
        </p:nvSpPr>
        <p:spPr>
          <a:xfrm>
            <a:off x="9966960" y="2377440"/>
            <a:ext cx="1691640" cy="274320"/>
          </a:xfrm>
          <a:prstGeom prst="rect">
            <a:avLst/>
          </a:prstGeom>
          <a:noFill/>
          <a:ln/>
        </p:spPr>
        <p:txBody>
          <a:bodyPr wrap="square" lIns="0" tIns="0" rIns="0" bIns="0" rtlCol="0" anchor="t"/>
          <a:lstStyle/>
          <a:p>
            <a:pPr indent="0" marL="0">
              <a:buNone/>
            </a:pPr>
            <a:r>
              <a:rPr lang="en-US" sz="1200" dirty="0">
                <a:solidFill>
                  <a:srgbClr val="3D4757"/>
                </a:solidFill>
              </a:rPr>
              <a:t>平峰期成功率</a:t>
            </a:r>
            <a:endParaRPr lang="en-US" sz="1200" dirty="0"/>
          </a:p>
        </p:txBody>
      </p:sp>
      <p:sp>
        <p:nvSpPr>
          <p:cNvPr id="19" name="k1-v"/>
          <p:cNvSpPr txBox="1"/>
          <p:nvPr/>
        </p:nvSpPr>
        <p:spPr>
          <a:xfrm>
            <a:off x="9966960" y="2743200"/>
            <a:ext cx="1691640" cy="548640"/>
          </a:xfrm>
          <a:prstGeom prst="rect">
            <a:avLst/>
          </a:prstGeom>
          <a:noFill/>
          <a:ln/>
        </p:spPr>
        <p:txBody>
          <a:bodyPr wrap="square" lIns="0" tIns="0" rIns="0" bIns="0" rtlCol="0" anchor="t"/>
          <a:lstStyle/>
          <a:p>
            <a:pPr indent="0" marL="0">
              <a:buNone/>
            </a:pPr>
            <a:r>
              <a:rPr lang="en-US" sz="2400" b="1" dirty="0">
                <a:solidFill>
                  <a:srgbClr val="287DFA"/>
                </a:solidFill>
              </a:rPr>
              <a:t>+10.3pp</a:t>
            </a:r>
            <a:endParaRPr lang="en-US" sz="2400" dirty="0"/>
          </a:p>
        </p:txBody>
      </p:sp>
      <p:sp>
        <p:nvSpPr>
          <p:cNvPr id="20" name="k1-s"/>
          <p:cNvSpPr txBox="1"/>
          <p:nvPr/>
        </p:nvSpPr>
        <p:spPr>
          <a:xfrm>
            <a:off x="9966960" y="3383280"/>
            <a:ext cx="1691640" cy="365760"/>
          </a:xfrm>
          <a:prstGeom prst="rect">
            <a:avLst/>
          </a:prstGeom>
          <a:noFill/>
          <a:ln/>
        </p:spPr>
        <p:txBody>
          <a:bodyPr wrap="square" lIns="0" tIns="0" rIns="0" bIns="0" rtlCol="0" anchor="t"/>
          <a:lstStyle/>
          <a:p>
            <a:pPr indent="0" marL="0">
              <a:buNone/>
            </a:pPr>
            <a:r>
              <a:rPr lang="en-US" sz="1200" dirty="0">
                <a:solidFill>
                  <a:srgbClr val="5B6B80"/>
                </a:solidFill>
              </a:rPr>
              <a:t>54.9% → 65.2%</a:t>
            </a:r>
            <a:endParaRPr lang="en-US" sz="1200" dirty="0"/>
          </a:p>
        </p:txBody>
      </p:sp>
      <p:sp>
        <p:nvSpPr>
          <p:cNvPr id="21" name="k2-card"/>
          <p:cNvSpPr/>
          <p:nvPr/>
        </p:nvSpPr>
        <p:spPr>
          <a:xfrm>
            <a:off x="9829800" y="4343400"/>
            <a:ext cx="1901952" cy="1828800"/>
          </a:xfrm>
          <a:prstGeom prst="roundRect">
            <a:avLst>
              <a:gd name="adj" fmla="val 4000"/>
            </a:avLst>
          </a:prstGeom>
          <a:solidFill>
            <a:srgbClr val="EEF4FF"/>
          </a:solidFill>
          <a:ln w="12700">
            <a:solidFill>
              <a:srgbClr val="EEF4FF"/>
            </a:solidFill>
            <a:prstDash val="solid"/>
          </a:ln>
        </p:spPr>
      </p:sp>
      <p:sp>
        <p:nvSpPr>
          <p:cNvPr id="22" name="k2-l"/>
          <p:cNvSpPr txBox="1"/>
          <p:nvPr/>
        </p:nvSpPr>
        <p:spPr>
          <a:xfrm>
            <a:off x="9966960" y="4480560"/>
            <a:ext cx="1691640" cy="274320"/>
          </a:xfrm>
          <a:prstGeom prst="rect">
            <a:avLst/>
          </a:prstGeom>
          <a:noFill/>
          <a:ln/>
        </p:spPr>
        <p:txBody>
          <a:bodyPr wrap="square" lIns="0" tIns="0" rIns="0" bIns="0" rtlCol="0" anchor="t"/>
          <a:lstStyle/>
          <a:p>
            <a:pPr indent="0" marL="0">
              <a:buNone/>
            </a:pPr>
            <a:r>
              <a:rPr lang="en-US" sz="1200" dirty="0">
                <a:solidFill>
                  <a:srgbClr val="3D4757"/>
                </a:solidFill>
              </a:rPr>
              <a:t>预期年化票增量</a:t>
            </a:r>
            <a:endParaRPr lang="en-US" sz="1200" dirty="0"/>
          </a:p>
        </p:txBody>
      </p:sp>
      <p:sp>
        <p:nvSpPr>
          <p:cNvPr id="23" name="k2-v"/>
          <p:cNvSpPr txBox="1"/>
          <p:nvPr/>
        </p:nvSpPr>
        <p:spPr>
          <a:xfrm>
            <a:off x="9966960" y="4846320"/>
            <a:ext cx="1691640" cy="548640"/>
          </a:xfrm>
          <a:prstGeom prst="rect">
            <a:avLst/>
          </a:prstGeom>
          <a:noFill/>
          <a:ln/>
        </p:spPr>
        <p:txBody>
          <a:bodyPr wrap="square" lIns="0" tIns="0" rIns="0" bIns="0" rtlCol="0" anchor="t"/>
          <a:lstStyle/>
          <a:p>
            <a:pPr indent="0" marL="0">
              <a:buNone/>
            </a:pPr>
            <a:r>
              <a:rPr lang="en-US" sz="2200" b="1" dirty="0">
                <a:solidFill>
                  <a:srgbClr val="287DFA"/>
                </a:solidFill>
              </a:rPr>
              <a:t>约 40 万张</a:t>
            </a:r>
            <a:endParaRPr lang="en-US" sz="2200" dirty="0"/>
          </a:p>
        </p:txBody>
      </p:sp>
    </p:spTree>
  </p:cSld>
  <p:clrMapOvr>
    <a:masterClrMapping/>
  </p:clrMapOvr>
</p:sld>
</file>

<file path=ppt/theme/theme1.xml><?xml version="1.0" encoding="utf-8"?>
<a:theme xmlns:a="http://schemas.openxmlformats.org/drawingml/2006/main" name="Trip Defense">
  <a:themeElements>
    <a:clrScheme name="Trip Defense">
      <a:dk1>
        <a:srgbClr val="15315E"/>
      </a:dk1>
      <a:lt1>
        <a:srgbClr val="FFFFFF"/>
      </a:lt1>
      <a:dk2>
        <a:srgbClr val="3D4757"/>
      </a:dk2>
      <a:lt2>
        <a:srgbClr val="EEF4FF"/>
      </a:lt2>
      <a:accent1>
        <a:srgbClr val="287DFA"/>
      </a:accent1>
      <a:accent2>
        <a:srgbClr val="FF7A1A"/>
      </a:accent2>
      <a:accent3>
        <a:srgbClr val="15315E"/>
      </a:accent3>
      <a:accent4>
        <a:srgbClr val="8FB8F5"/>
      </a:accent4>
      <a:accent5>
        <a:srgbClr val="D9DEE7"/>
      </a:accent5>
      <a:accent6>
        <a:srgbClr val="5B6B80"/>
      </a:accent6>
      <a:hlink>
        <a:srgbClr val="287DFA"/>
      </a:hlink>
      <a:folHlink>
        <a:srgbClr val="15315E"/>
      </a:folHlink>
    </a:clrScheme>
    <a:fontScheme name="Trip Defens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2026-10-29T21:42:04Z</dcterms:created>
  <dcterms:modified xsi:type="dcterms:W3CDTF">2026-10-29T21:42:04Z</dcterms:modified>
</cp:coreProperties>
</file>