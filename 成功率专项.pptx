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成功率专项" id="{ea5be0a5-1a87-8418-72c4-9ab2dd00cd68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平峰期成功率</c:v>
                </c:pt>
              </c:strCache>
            </c:strRef>
          </c:tx>
          <c:spPr>
            <a:solidFill>
              <a:srgbClr val="8FB8F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5315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8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7DF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放开前</c:v>
                  </c:pt>
                  <c:pt idx="1">
                    <c:v>放开后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54.9</c:v>
                </c:pt>
                <c:pt idx="1">
                  <c:v>65.2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5315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背景】成功率专项关注已下单的订单能不能出票，支付挽回的核心目标是挽回由风控导致的票量损失。除转线下票之外，抢票出票都需要都要经过扣位成功后向12306支付的环节，但由于风控影响，只有带有支付宝标记的订单才能够通过代付成功出票；而召回用户重新直付的过程存在流失漏斗，这也是携程成功率优势收窄的原因之一。
【目标】所以支付挽回主要是沿着两条路径，一是引导支付宝，在扣位之前让更多订单具备代付条件，二是提供直付兜底，让代付不了的订单，尤其是在四月直付改造之后遗留的一些长尾场景，在扣位之后仍有机会出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引导支付宝上，我们做了第二期的用低价产品引导用户使用支付宝支付。之前我们做过在抢票中用低价产品吸引用户使用支付宝的策略，但转换率较低，为了进一步降低非支付宝订单数，提高大盘抢票成功率，我们扩大了补贴范围，需求上线后，日均目标订单数约 10,916 单，转化订单数约 232 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月抢票的主流程直付改造之后，还有一些长尾场景需要覆盖。直付的成本和主要的痛点就在于召回用户的过程中存在的流失漏斗，于是在引导直付这一链路上，我们倾向于在那些原本就需要用户确认的节点接直付。8 月份，我们先后对智能第二程、非支付宝以及支付宝黑名单订单行程冲突、票款不足补款等场景进行直付改造，合计年化挽回票量约 11.6 万张。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针对票量方面，并且对出票方式进行拓展，由于支付风控原因关闭抢转买后，用户在改单选择有票方案时只能通过捡漏出票，平峰期成功率约54.9%，8月我们放开了能够正常代付出票的支付宝（非黑名单）订单在该场景下的抢转买，上线后平峰期成功率从54.9%上升到65.2%，预期年化票增量约40万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© Trip.com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3、主要项目 · 成功率专项：支付挽回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核心目标：挽回由支付风控导致的票量损失</a:t>
            </a:r>
            <a:endParaRPr lang="en-US" sz="1700" dirty="0"/>
          </a:p>
        </p:txBody>
      </p:sp>
      <p:sp>
        <p:nvSpPr>
          <p:cNvPr id="4" name="chain-head"/>
          <p:cNvSpPr txBox="1"/>
          <p:nvPr/>
        </p:nvSpPr>
        <p:spPr>
          <a:xfrm>
            <a:off x="457200" y="15087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出票链路：扣位成功后必须向 12306 支付</a:t>
            </a:r>
            <a:endParaRPr lang="en-US" sz="1600" dirty="0"/>
          </a:p>
        </p:txBody>
      </p:sp>
      <p:sp>
        <p:nvSpPr>
          <p:cNvPr id="5" name="node-0"/>
          <p:cNvSpPr/>
          <p:nvPr/>
        </p:nvSpPr>
        <p:spPr>
          <a:xfrm>
            <a:off x="457200" y="19659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6" name="node-t-0"/>
          <p:cNvSpPr txBox="1"/>
          <p:nvPr/>
        </p:nvSpPr>
        <p:spPr>
          <a:xfrm>
            <a:off x="457200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用户下单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预付 / 授权</a:t>
            </a:r>
            <a:endParaRPr lang="en-US" sz="1300" dirty="0"/>
          </a:p>
        </p:txBody>
      </p:sp>
      <p:sp>
        <p:nvSpPr>
          <p:cNvPr id="7" name="arrow-0"/>
          <p:cNvSpPr/>
          <p:nvPr/>
        </p:nvSpPr>
        <p:spPr>
          <a:xfrm>
            <a:off x="1984248" y="225399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8" name="node-1"/>
          <p:cNvSpPr/>
          <p:nvPr/>
        </p:nvSpPr>
        <p:spPr>
          <a:xfrm>
            <a:off x="2267712" y="19659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9" name="node-t-1"/>
          <p:cNvSpPr txBox="1"/>
          <p:nvPr/>
        </p:nvSpPr>
        <p:spPr>
          <a:xfrm>
            <a:off x="2267712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扣位成功</a:t>
            </a:r>
            <a:endParaRPr lang="en-US" sz="1300" dirty="0"/>
          </a:p>
        </p:txBody>
      </p:sp>
      <p:sp>
        <p:nvSpPr>
          <p:cNvPr id="10" name="arrow-1"/>
          <p:cNvSpPr/>
          <p:nvPr/>
        </p:nvSpPr>
        <p:spPr>
          <a:xfrm>
            <a:off x="3794760" y="225399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1" name="node-2"/>
          <p:cNvSpPr/>
          <p:nvPr/>
        </p:nvSpPr>
        <p:spPr>
          <a:xfrm>
            <a:off x="4078224" y="19659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FF1E6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2" name="node-t-2"/>
          <p:cNvSpPr txBox="1"/>
          <p:nvPr/>
        </p:nvSpPr>
        <p:spPr>
          <a:xfrm>
            <a:off x="4078224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向 12306 支付</a:t>
            </a:r>
            <a:endParaRPr lang="en-US" sz="1300" dirty="0"/>
          </a:p>
        </p:txBody>
      </p:sp>
      <p:sp>
        <p:nvSpPr>
          <p:cNvPr id="13" name="arrow-2"/>
          <p:cNvSpPr/>
          <p:nvPr/>
        </p:nvSpPr>
        <p:spPr>
          <a:xfrm>
            <a:off x="5605272" y="225399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4" name="node-3"/>
          <p:cNvSpPr/>
          <p:nvPr/>
        </p:nvSpPr>
        <p:spPr>
          <a:xfrm>
            <a:off x="5888736" y="19659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5" name="node-t-3"/>
          <p:cNvSpPr txBox="1"/>
          <p:nvPr/>
        </p:nvSpPr>
        <p:spPr>
          <a:xfrm>
            <a:off x="5888736" y="19659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出票</a:t>
            </a:r>
            <a:endParaRPr lang="en-US" sz="1300" dirty="0"/>
          </a:p>
        </p:txBody>
      </p:sp>
      <p:sp>
        <p:nvSpPr>
          <p:cNvPr id="16" name="ok-box"/>
          <p:cNvSpPr/>
          <p:nvPr/>
        </p:nvSpPr>
        <p:spPr>
          <a:xfrm>
            <a:off x="457200" y="32461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7" name="ok-text"/>
          <p:cNvSpPr txBox="1"/>
          <p:nvPr/>
        </p:nvSpPr>
        <p:spPr>
          <a:xfrm>
            <a:off x="59436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7DFA"/>
                </a:solidFill>
              </a:rPr>
              <a:t>支付宝（非黑名单）订单 → 代付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携程直接付款，无需用户在场</a:t>
            </a:r>
            <a:endParaRPr lang="en-US" sz="1300" dirty="0"/>
          </a:p>
        </p:txBody>
      </p:sp>
      <p:sp>
        <p:nvSpPr>
          <p:cNvPr id="18" name="bad-box"/>
          <p:cNvSpPr/>
          <p:nvPr/>
        </p:nvSpPr>
        <p:spPr>
          <a:xfrm>
            <a:off x="4023360" y="32461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9" name="bad-text"/>
          <p:cNvSpPr txBox="1"/>
          <p:nvPr/>
        </p:nvSpPr>
        <p:spPr>
          <a:xfrm>
            <a:off x="416052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其他订单 → 代付失败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只能召回用户直付，存在流失漏斗</a:t>
            </a:r>
            <a:endParaRPr lang="en-US" sz="1300" dirty="0"/>
          </a:p>
        </p:txBody>
      </p:sp>
      <p:sp>
        <p:nvSpPr>
          <p:cNvPr id="20" name="split-stem"/>
          <p:cNvSpPr/>
          <p:nvPr/>
        </p:nvSpPr>
        <p:spPr>
          <a:xfrm>
            <a:off x="4809744" y="2743200"/>
            <a:ext cx="0" cy="274320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21" name="split-bar"/>
          <p:cNvSpPr/>
          <p:nvPr/>
        </p:nvSpPr>
        <p:spPr>
          <a:xfrm>
            <a:off x="2103120" y="3017520"/>
            <a:ext cx="3566160" cy="0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22" name="split-l"/>
          <p:cNvSpPr/>
          <p:nvPr/>
        </p:nvSpPr>
        <p:spPr>
          <a:xfrm>
            <a:off x="2103120" y="3017520"/>
            <a:ext cx="0" cy="228600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23" name="split-r"/>
          <p:cNvSpPr/>
          <p:nvPr/>
        </p:nvSpPr>
        <p:spPr>
          <a:xfrm>
            <a:off x="5669280" y="3017520"/>
            <a:ext cx="0" cy="228600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24" name="trend-frame"/>
          <p:cNvSpPr/>
          <p:nvPr/>
        </p:nvSpPr>
        <p:spPr>
          <a:xfrm>
            <a:off x="7772400" y="1508760"/>
            <a:ext cx="3959352" cy="2651760"/>
          </a:xfrm>
          <a:prstGeom prst="rect">
            <a:avLst/>
          </a:prstGeom>
          <a:solidFill>
            <a:srgbClr val="FAFBFD"/>
          </a:solidFill>
          <a:ln w="15875">
            <a:solidFill>
              <a:srgbClr val="A9B4C2"/>
            </a:solidFill>
            <a:prstDash val="dash"/>
          </a:ln>
        </p:spPr>
      </p:sp>
      <p:sp>
        <p:nvSpPr>
          <p:cNvPr id="25" name="trend-label"/>
          <p:cNvSpPr txBox="1"/>
          <p:nvPr/>
        </p:nvSpPr>
        <p:spPr>
          <a:xfrm>
            <a:off x="7909560" y="1508760"/>
            <a:ext cx="36850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待补充：风控前后抢票成功率走势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（标注支付风控时间点、携程成功率优势收窄）</a:t>
            </a:r>
            <a:endParaRPr lang="en-US" sz="1200" dirty="0"/>
          </a:p>
        </p:txBody>
      </p:sp>
      <p:sp>
        <p:nvSpPr>
          <p:cNvPr id="26" name="path-head"/>
          <p:cNvSpPr txBox="1"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支付挽回的两条路径</a:t>
            </a:r>
            <a:endParaRPr lang="en-US" sz="1600" dirty="0"/>
          </a:p>
        </p:txBody>
      </p:sp>
      <p:sp>
        <p:nvSpPr>
          <p:cNvPr id="27" name="path-card-0"/>
          <p:cNvSpPr/>
          <p:nvPr/>
        </p:nvSpPr>
        <p:spPr>
          <a:xfrm>
            <a:off x="457200" y="48006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8" name="path-dot-0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9" name="path-num-0"/>
          <p:cNvSpPr txBox="1"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path-h-0"/>
          <p:cNvSpPr txBox="1"/>
          <p:nvPr/>
        </p:nvSpPr>
        <p:spPr>
          <a:xfrm>
            <a:off x="137160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315E"/>
                </a:solidFill>
              </a:rPr>
              <a:t>引导支付宝（扣位之前）</a:t>
            </a:r>
            <a:endParaRPr lang="en-US" sz="1600" dirty="0"/>
          </a:p>
        </p:txBody>
      </p:sp>
      <p:sp>
        <p:nvSpPr>
          <p:cNvPr id="31" name="path-b-0"/>
          <p:cNvSpPr txBox="1"/>
          <p:nvPr/>
        </p:nvSpPr>
        <p:spPr>
          <a:xfrm>
            <a:off x="1371600" y="5394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让更多订单在扣位前具备代付条件</a:t>
            </a:r>
            <a:endParaRPr lang="en-US" sz="1300" dirty="0"/>
          </a:p>
        </p:txBody>
      </p:sp>
      <p:sp>
        <p:nvSpPr>
          <p:cNvPr id="32" name="path-card-1"/>
          <p:cNvSpPr/>
          <p:nvPr/>
        </p:nvSpPr>
        <p:spPr>
          <a:xfrm>
            <a:off x="6245352" y="48006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3" name="path-dot-1"/>
          <p:cNvSpPr/>
          <p:nvPr/>
        </p:nvSpPr>
        <p:spPr>
          <a:xfrm>
            <a:off x="6519672" y="4983480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4" name="path-num-1"/>
          <p:cNvSpPr txBox="1"/>
          <p:nvPr/>
        </p:nvSpPr>
        <p:spPr>
          <a:xfrm>
            <a:off x="6519672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5" name="path-h-1"/>
          <p:cNvSpPr txBox="1"/>
          <p:nvPr/>
        </p:nvSpPr>
        <p:spPr>
          <a:xfrm>
            <a:off x="7159752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315E"/>
                </a:solidFill>
              </a:rPr>
              <a:t>直付兜底（扣位之后）</a:t>
            </a:r>
            <a:endParaRPr lang="en-US" sz="1600" dirty="0"/>
          </a:p>
        </p:txBody>
      </p:sp>
      <p:sp>
        <p:nvSpPr>
          <p:cNvPr id="36" name="path-b-1"/>
          <p:cNvSpPr txBox="1"/>
          <p:nvPr/>
        </p:nvSpPr>
        <p:spPr>
          <a:xfrm>
            <a:off x="7159752" y="5394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让代付不了的订单，尤其是 4 月直付改造后遗留的长尾场景，在扣位之后仍有机会出票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3、主要项目 · 成功率专项：引导支付宝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在扣位之前让更多订单具备代付条件，进一步降低非支付宝订单数、提高大盘抢票成功率</a:t>
            </a:r>
            <a:endParaRPr lang="en-US" sz="1700" dirty="0"/>
          </a:p>
        </p:txBody>
      </p:sp>
      <p:sp>
        <p:nvSpPr>
          <p:cNvPr id="4" name="l-head-bg"/>
          <p:cNvSpPr/>
          <p:nvPr/>
        </p:nvSpPr>
        <p:spPr>
          <a:xfrm>
            <a:off x="457200" y="1508760"/>
            <a:ext cx="4846320" cy="502920"/>
          </a:xfrm>
          <a:prstGeom prst="rect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5" name="l-head"/>
          <p:cNvSpPr txBox="1"/>
          <p:nvPr/>
        </p:nvSpPr>
        <p:spPr>
          <a:xfrm>
            <a:off x="457200" y="1508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低价产品引导支付宝 · 二期</a:t>
            </a:r>
            <a:endParaRPr lang="en-US" sz="1700" dirty="0"/>
          </a:p>
        </p:txBody>
      </p:sp>
      <p:sp>
        <p:nvSpPr>
          <p:cNvPr id="6" name="l-k-0"/>
          <p:cNvSpPr txBox="1"/>
          <p:nvPr/>
        </p:nvSpPr>
        <p:spPr>
          <a:xfrm>
            <a:off x="548640" y="21945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背景</a:t>
            </a:r>
            <a:endParaRPr lang="en-US" sz="1400" dirty="0"/>
          </a:p>
        </p:txBody>
      </p:sp>
      <p:sp>
        <p:nvSpPr>
          <p:cNvPr id="7" name="l-v-0"/>
          <p:cNvSpPr txBox="1"/>
          <p:nvPr/>
        </p:nvSpPr>
        <p:spPr>
          <a:xfrm>
            <a:off x="1325880" y="21945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一期在抢票中用低价产品吸引用户使用支付宝，但转化率较低</a:t>
            </a:r>
            <a:endParaRPr lang="en-US" sz="1300" dirty="0"/>
          </a:p>
        </p:txBody>
      </p:sp>
      <p:sp>
        <p:nvSpPr>
          <p:cNvPr id="8" name="l-k-1"/>
          <p:cNvSpPr txBox="1"/>
          <p:nvPr/>
        </p:nvSpPr>
        <p:spPr>
          <a:xfrm>
            <a:off x="548640" y="28163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做法</a:t>
            </a:r>
            <a:endParaRPr lang="en-US" sz="1400" dirty="0"/>
          </a:p>
        </p:txBody>
      </p:sp>
      <p:sp>
        <p:nvSpPr>
          <p:cNvPr id="9" name="l-v-1"/>
          <p:cNvSpPr txBox="1"/>
          <p:nvPr/>
        </p:nvSpPr>
        <p:spPr>
          <a:xfrm>
            <a:off x="1325880" y="28163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扩大补贴范围：非支付宝订单可特惠升级托管，仅支持支付宝支付</a:t>
            </a:r>
            <a:endParaRPr lang="en-US" sz="1300" dirty="0"/>
          </a:p>
        </p:txBody>
      </p:sp>
      <p:sp>
        <p:nvSpPr>
          <p:cNvPr id="10" name="l-res-card"/>
          <p:cNvSpPr/>
          <p:nvPr/>
        </p:nvSpPr>
        <p:spPr>
          <a:xfrm>
            <a:off x="457200" y="3611880"/>
            <a:ext cx="4846320" cy="2606040"/>
          </a:xfrm>
          <a:prstGeom prst="roundRect">
            <a:avLst>
              <a:gd name="adj" fmla="val 280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l-res-h"/>
          <p:cNvSpPr txBox="1"/>
          <p:nvPr/>
        </p:nvSpPr>
        <p:spPr>
          <a:xfrm>
            <a:off x="7315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效果（日均）</a:t>
            </a:r>
            <a:endParaRPr lang="en-US" sz="1400" dirty="0"/>
          </a:p>
        </p:txBody>
      </p:sp>
      <p:sp>
        <p:nvSpPr>
          <p:cNvPr id="12" name="kpi-t-l"/>
          <p:cNvSpPr txBox="1"/>
          <p:nvPr/>
        </p:nvSpPr>
        <p:spPr>
          <a:xfrm>
            <a:off x="731520" y="4297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57"/>
                </a:solidFill>
              </a:rPr>
              <a:t>目标订单数</a:t>
            </a:r>
            <a:endParaRPr lang="en-US" sz="1400" dirty="0"/>
          </a:p>
        </p:txBody>
      </p:sp>
      <p:sp>
        <p:nvSpPr>
          <p:cNvPr id="13" name="kpi-t-v"/>
          <p:cNvSpPr txBox="1"/>
          <p:nvPr/>
        </p:nvSpPr>
        <p:spPr>
          <a:xfrm>
            <a:off x="2194560" y="4297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15E"/>
                </a:solidFill>
              </a:rPr>
              <a:t>约 10,916 单</a:t>
            </a:r>
            <a:endParaRPr lang="en-US" sz="2800" dirty="0"/>
          </a:p>
        </p:txBody>
      </p:sp>
      <p:sp>
        <p:nvSpPr>
          <p:cNvPr id="14" name="kpi-c-l"/>
          <p:cNvSpPr txBox="1"/>
          <p:nvPr/>
        </p:nvSpPr>
        <p:spPr>
          <a:xfrm>
            <a:off x="731520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57"/>
                </a:solidFill>
              </a:rPr>
              <a:t>转化订单数</a:t>
            </a:r>
            <a:endParaRPr lang="en-US" sz="1400" dirty="0"/>
          </a:p>
        </p:txBody>
      </p:sp>
      <p:sp>
        <p:nvSpPr>
          <p:cNvPr id="15" name="kpi-c-v"/>
          <p:cNvSpPr txBox="1"/>
          <p:nvPr/>
        </p:nvSpPr>
        <p:spPr>
          <a:xfrm>
            <a:off x="219456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7DFA"/>
                </a:solidFill>
              </a:rPr>
              <a:t>约 232 单</a:t>
            </a:r>
            <a:endParaRPr lang="en-US" sz="2800" dirty="0"/>
          </a:p>
        </p:txBody>
      </p:sp>
      <p:pic>
        <p:nvPicPr>
          <p:cNvPr id="16" name="shot-0" descr="① 特惠浮窗：非支付宝订单特惠升级托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508760"/>
            <a:ext cx="1691640" cy="3718475"/>
          </a:xfrm>
          <a:prstGeom prst="rect">
            <a:avLst/>
          </a:prstGeom>
        </p:spPr>
      </p:pic>
      <p:sp>
        <p:nvSpPr>
          <p:cNvPr id="17" name="shot-frame-0"/>
          <p:cNvSpPr/>
          <p:nvPr/>
        </p:nvSpPr>
        <p:spPr>
          <a:xfrm>
            <a:off x="5715000" y="1508760"/>
            <a:ext cx="1691640" cy="37184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shot-cap-0"/>
          <p:cNvSpPr txBox="1"/>
          <p:nvPr/>
        </p:nvSpPr>
        <p:spPr>
          <a:xfrm>
            <a:off x="5623560" y="5318675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① 特惠浮窗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非支付宝订单特惠升级托管</a:t>
            </a:r>
            <a:endParaRPr lang="en-US" sz="1200" dirty="0"/>
          </a:p>
        </p:txBody>
      </p:sp>
      <p:pic>
        <p:nvPicPr>
          <p:cNvPr id="19" name="shot-1" descr="② 托管等级页：展示限时特惠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08760"/>
            <a:ext cx="1691640" cy="3718475"/>
          </a:xfrm>
          <a:prstGeom prst="rect">
            <a:avLst/>
          </a:prstGeom>
        </p:spPr>
      </p:pic>
      <p:sp>
        <p:nvSpPr>
          <p:cNvPr id="20" name="shot-frame-1"/>
          <p:cNvSpPr/>
          <p:nvPr/>
        </p:nvSpPr>
        <p:spPr>
          <a:xfrm>
            <a:off x="7772400" y="1508760"/>
            <a:ext cx="1691640" cy="37184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shot-cap-1"/>
          <p:cNvSpPr txBox="1"/>
          <p:nvPr/>
        </p:nvSpPr>
        <p:spPr>
          <a:xfrm>
            <a:off x="7680960" y="5318675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② 托管等级页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展示限时特惠价</a:t>
            </a:r>
            <a:endParaRPr lang="en-US" sz="1200" dirty="0"/>
          </a:p>
        </p:txBody>
      </p:sp>
      <p:pic>
        <p:nvPicPr>
          <p:cNvPr id="22" name="shot-2" descr="③ 收银台：仅保留支付宝支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508760"/>
            <a:ext cx="1691640" cy="3718475"/>
          </a:xfrm>
          <a:prstGeom prst="rect">
            <a:avLst/>
          </a:prstGeom>
        </p:spPr>
      </p:pic>
      <p:sp>
        <p:nvSpPr>
          <p:cNvPr id="23" name="shot-frame-2"/>
          <p:cNvSpPr/>
          <p:nvPr/>
        </p:nvSpPr>
        <p:spPr>
          <a:xfrm>
            <a:off x="9829800" y="1508760"/>
            <a:ext cx="1691640" cy="37184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shot-cap-2"/>
          <p:cNvSpPr txBox="1"/>
          <p:nvPr/>
        </p:nvSpPr>
        <p:spPr>
          <a:xfrm>
            <a:off x="9738360" y="5318675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③ 收银台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仅保留支付宝支付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3、主要项目 · 成功率专项：直付兜底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 月主流程直付改造后，覆盖遗留的长尾场景：在原本就需要用户确认的节点接直付</a:t>
            </a:r>
            <a:endParaRPr lang="en-US" sz="1700" dirty="0"/>
          </a:p>
        </p:txBody>
      </p:sp>
      <p:sp>
        <p:nvSpPr>
          <p:cNvPr id="4" name="idea-head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思路</a:t>
            </a:r>
            <a:endParaRPr lang="en-US" sz="1600" dirty="0"/>
          </a:p>
        </p:txBody>
      </p:sp>
      <p:sp>
        <p:nvSpPr>
          <p:cNvPr id="5" name="idea-card"/>
          <p:cNvSpPr/>
          <p:nvPr/>
        </p:nvSpPr>
        <p:spPr>
          <a:xfrm>
            <a:off x="457200" y="18745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6" name="idea-text"/>
          <p:cNvSpPr txBox="1"/>
          <p:nvPr/>
        </p:nvSpPr>
        <p:spPr>
          <a:xfrm>
            <a:off x="685800" y="196596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5315E"/>
                </a:solidFill>
              </a:rPr>
              <a:t>直付的成本和主要痛点：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D4757"/>
                </a:solidFill>
              </a:rPr>
              <a:t>召回用户的过程中存在流失漏斗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5315E"/>
                </a:solidFill>
              </a:rPr>
              <a:t>因此：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3D4757"/>
                </a:solidFill>
              </a:rPr>
              <a:t>优先在原本就需要用户确认的节点接直付，不额外增加召回</a:t>
            </a:r>
            <a:endParaRPr lang="en-US" sz="1350" dirty="0"/>
          </a:p>
        </p:txBody>
      </p:sp>
      <p:sp>
        <p:nvSpPr>
          <p:cNvPr id="7" name="scn-head"/>
          <p:cNvSpPr txBox="1"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8 月直付改造的场景</a:t>
            </a:r>
            <a:endParaRPr lang="en-US" sz="1600" dirty="0"/>
          </a:p>
        </p:txBody>
      </p:sp>
      <p:sp>
        <p:nvSpPr>
          <p:cNvPr id="8" name="scn-dot-0"/>
          <p:cNvSpPr/>
          <p:nvPr/>
        </p:nvSpPr>
        <p:spPr>
          <a:xfrm>
            <a:off x="502920" y="3977640"/>
            <a:ext cx="411480" cy="41148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9" name="scn-num-0"/>
          <p:cNvSpPr txBox="1"/>
          <p:nvPr/>
        </p:nvSpPr>
        <p:spPr>
          <a:xfrm>
            <a:off x="5029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cn-k-0"/>
          <p:cNvSpPr txBox="1"/>
          <p:nvPr/>
        </p:nvSpPr>
        <p:spPr>
          <a:xfrm>
            <a:off x="109728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智能第二程</a:t>
            </a:r>
            <a:endParaRPr lang="en-US" sz="1400" dirty="0"/>
          </a:p>
        </p:txBody>
      </p:sp>
      <p:sp>
        <p:nvSpPr>
          <p:cNvPr id="11" name="scn-v-0"/>
          <p:cNvSpPr txBox="1"/>
          <p:nvPr/>
        </p:nvSpPr>
        <p:spPr>
          <a:xfrm>
            <a:off x="265176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用户确认第二程方案后，由代付改为直付</a:t>
            </a:r>
            <a:endParaRPr lang="en-US" sz="1250" dirty="0"/>
          </a:p>
        </p:txBody>
      </p:sp>
      <p:sp>
        <p:nvSpPr>
          <p:cNvPr id="12" name="scn-dot-1"/>
          <p:cNvSpPr/>
          <p:nvPr/>
        </p:nvSpPr>
        <p:spPr>
          <a:xfrm>
            <a:off x="502920" y="4636008"/>
            <a:ext cx="411480" cy="41148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3" name="scn-num-1"/>
          <p:cNvSpPr txBox="1"/>
          <p:nvPr/>
        </p:nvSpPr>
        <p:spPr>
          <a:xfrm>
            <a:off x="502920" y="4636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cn-k-1"/>
          <p:cNvSpPr txBox="1"/>
          <p:nvPr/>
        </p:nvSpPr>
        <p:spPr>
          <a:xfrm>
            <a:off x="1097280" y="4590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行程冲突</a:t>
            </a:r>
            <a:endParaRPr lang="en-US" sz="1400" dirty="0"/>
          </a:p>
        </p:txBody>
      </p:sp>
      <p:sp>
        <p:nvSpPr>
          <p:cNvPr id="15" name="scn-v-1"/>
          <p:cNvSpPr txBox="1"/>
          <p:nvPr/>
        </p:nvSpPr>
        <p:spPr>
          <a:xfrm>
            <a:off x="2651760" y="4590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非支付宝及支付宝黑名单订单，确认出票时走直付</a:t>
            </a:r>
            <a:endParaRPr lang="en-US" sz="1250" dirty="0"/>
          </a:p>
        </p:txBody>
      </p:sp>
      <p:sp>
        <p:nvSpPr>
          <p:cNvPr id="16" name="scn-dot-2"/>
          <p:cNvSpPr/>
          <p:nvPr/>
        </p:nvSpPr>
        <p:spPr>
          <a:xfrm>
            <a:off x="502920" y="5294376"/>
            <a:ext cx="411480" cy="41148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7" name="scn-num-2"/>
          <p:cNvSpPr txBox="1"/>
          <p:nvPr/>
        </p:nvSpPr>
        <p:spPr>
          <a:xfrm>
            <a:off x="502920" y="5294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cn-k-2"/>
          <p:cNvSpPr txBox="1"/>
          <p:nvPr/>
        </p:nvSpPr>
        <p:spPr>
          <a:xfrm>
            <a:off x="1097280" y="52486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票款不足补款</a:t>
            </a:r>
            <a:endParaRPr lang="en-US" sz="1400" dirty="0"/>
          </a:p>
        </p:txBody>
      </p:sp>
      <p:sp>
        <p:nvSpPr>
          <p:cNvPr id="19" name="scn-v-2"/>
          <p:cNvSpPr txBox="1"/>
          <p:nvPr/>
        </p:nvSpPr>
        <p:spPr>
          <a:xfrm>
            <a:off x="2651760" y="52486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非支付宝及支付宝黑名单订单，补款时走直付</a:t>
            </a:r>
            <a:endParaRPr lang="en-US" sz="1250" dirty="0"/>
          </a:p>
        </p:txBody>
      </p:sp>
      <p:pic>
        <p:nvPicPr>
          <p:cNvPr id="20" name="flow-shot-0" descr="智能第二程：车票待确认页，用户确认出票后走直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08760"/>
            <a:ext cx="1372756" cy="3017520"/>
          </a:xfrm>
          <a:prstGeom prst="rect">
            <a:avLst/>
          </a:prstGeom>
        </p:spPr>
      </p:pic>
      <p:sp>
        <p:nvSpPr>
          <p:cNvPr id="21" name="flow-frame-0"/>
          <p:cNvSpPr/>
          <p:nvPr/>
        </p:nvSpPr>
        <p:spPr>
          <a:xfrm>
            <a:off x="6309360" y="1508760"/>
            <a:ext cx="1372756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flow-cap-0"/>
          <p:cNvSpPr txBox="1"/>
          <p:nvPr/>
        </p:nvSpPr>
        <p:spPr>
          <a:xfrm>
            <a:off x="7819276" y="23774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智能第二程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车票待确认页，用户确认出票后走直付</a:t>
            </a:r>
            <a:endParaRPr lang="en-US" sz="1200" dirty="0"/>
          </a:p>
        </p:txBody>
      </p:sp>
      <p:pic>
        <p:nvPicPr>
          <p:cNvPr id="23" name="flow-shot-1" descr="行程冲突：提示行程冲突，用户确认出票后走直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508760"/>
            <a:ext cx="1372756" cy="3017520"/>
          </a:xfrm>
          <a:prstGeom prst="rect">
            <a:avLst/>
          </a:prstGeom>
        </p:spPr>
      </p:pic>
      <p:sp>
        <p:nvSpPr>
          <p:cNvPr id="24" name="flow-frame-1"/>
          <p:cNvSpPr/>
          <p:nvPr/>
        </p:nvSpPr>
        <p:spPr>
          <a:xfrm>
            <a:off x="9052560" y="1508760"/>
            <a:ext cx="1372756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flow-cap-1"/>
          <p:cNvSpPr txBox="1"/>
          <p:nvPr/>
        </p:nvSpPr>
        <p:spPr>
          <a:xfrm>
            <a:off x="10562476" y="23774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行程冲突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提示行程冲突，用户确认出票后走直付</a:t>
            </a:r>
            <a:endParaRPr lang="en-US" sz="1200" dirty="0"/>
          </a:p>
        </p:txBody>
      </p:sp>
      <p:sp>
        <p:nvSpPr>
          <p:cNvPr id="26" name="res-card"/>
          <p:cNvSpPr/>
          <p:nvPr/>
        </p:nvSpPr>
        <p:spPr>
          <a:xfrm>
            <a:off x="6245352" y="47091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7" name="res-h"/>
          <p:cNvSpPr txBox="1"/>
          <p:nvPr/>
        </p:nvSpPr>
        <p:spPr>
          <a:xfrm>
            <a:off x="64922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效果</a:t>
            </a:r>
            <a:endParaRPr lang="en-US" sz="1400" dirty="0"/>
          </a:p>
        </p:txBody>
      </p:sp>
      <p:sp>
        <p:nvSpPr>
          <p:cNvPr id="28" name="res-label"/>
          <p:cNvSpPr txBox="1"/>
          <p:nvPr/>
        </p:nvSpPr>
        <p:spPr>
          <a:xfrm>
            <a:off x="6492240" y="5212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合计年化挽回票量</a:t>
            </a:r>
            <a:endParaRPr lang="en-US" sz="1300" dirty="0"/>
          </a:p>
        </p:txBody>
      </p:sp>
      <p:sp>
        <p:nvSpPr>
          <p:cNvPr id="29" name="res-value"/>
          <p:cNvSpPr txBox="1"/>
          <p:nvPr/>
        </p:nvSpPr>
        <p:spPr>
          <a:xfrm>
            <a:off x="6492240" y="5532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87DFA"/>
                </a:solidFill>
              </a:rPr>
              <a:t>约 11.6 万张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3、主要项目 · 成功率专项：放开抢转买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拓展出票方式：对能够正常代付的支付宝（非黑名单）订单重新开放抢转买</a:t>
            </a:r>
            <a:endParaRPr lang="en-US" sz="1700" dirty="0"/>
          </a:p>
        </p:txBody>
      </p:sp>
      <p:sp>
        <p:nvSpPr>
          <p:cNvPr id="4" name="ba-card-0"/>
          <p:cNvSpPr/>
          <p:nvPr/>
        </p:nvSpPr>
        <p:spPr>
          <a:xfrm>
            <a:off x="457200" y="16002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ba-tag-0"/>
          <p:cNvSpPr/>
          <p:nvPr/>
        </p:nvSpPr>
        <p:spPr>
          <a:xfrm>
            <a:off x="685800" y="1929384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5B6B80"/>
          </a:solidFill>
          <a:ln w="12700">
            <a:solidFill>
              <a:srgbClr val="5B6B80"/>
            </a:solidFill>
            <a:prstDash val="solid"/>
          </a:ln>
        </p:spPr>
      </p:sp>
      <p:sp>
        <p:nvSpPr>
          <p:cNvPr id="6" name="ba-tag-t-0"/>
          <p:cNvSpPr txBox="1"/>
          <p:nvPr/>
        </p:nvSpPr>
        <p:spPr>
          <a:xfrm>
            <a:off x="685800" y="19293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之前</a:t>
            </a:r>
            <a:endParaRPr lang="en-US" sz="1300" dirty="0"/>
          </a:p>
        </p:txBody>
      </p:sp>
      <p:sp>
        <p:nvSpPr>
          <p:cNvPr id="7" name="ba-text-0"/>
          <p:cNvSpPr txBox="1"/>
          <p:nvPr/>
        </p:nvSpPr>
        <p:spPr>
          <a:xfrm>
            <a:off x="1645920" y="16002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7"/>
                </a:solidFill>
              </a:rPr>
              <a:t>支付风控后抢转买关闭：用户改单选择有票方案时，只能通过捡漏出票</a:t>
            </a:r>
            <a:endParaRPr lang="en-US" sz="1350" dirty="0"/>
          </a:p>
        </p:txBody>
      </p:sp>
      <p:sp>
        <p:nvSpPr>
          <p:cNvPr id="8" name="ba-card-1"/>
          <p:cNvSpPr/>
          <p:nvPr/>
        </p:nvSpPr>
        <p:spPr>
          <a:xfrm>
            <a:off x="457200" y="283464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9" name="ba-tag-1"/>
          <p:cNvSpPr/>
          <p:nvPr/>
        </p:nvSpPr>
        <p:spPr>
          <a:xfrm>
            <a:off x="685800" y="3163824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0" name="ba-tag-t-1"/>
          <p:cNvSpPr txBox="1"/>
          <p:nvPr/>
        </p:nvSpPr>
        <p:spPr>
          <a:xfrm>
            <a:off x="685800" y="31638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之后</a:t>
            </a:r>
            <a:endParaRPr lang="en-US" sz="1300" dirty="0"/>
          </a:p>
        </p:txBody>
      </p:sp>
      <p:sp>
        <p:nvSpPr>
          <p:cNvPr id="11" name="ba-text-1"/>
          <p:cNvSpPr txBox="1"/>
          <p:nvPr/>
        </p:nvSpPr>
        <p:spPr>
          <a:xfrm>
            <a:off x="1645920" y="28346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57"/>
                </a:solidFill>
              </a:rPr>
              <a:t>8 月放开支付宝（非黑名单）订单在该场景下的抢转买，可走买票通道出票</a:t>
            </a:r>
            <a:endParaRPr lang="en-US" sz="1350" dirty="0"/>
          </a:p>
        </p:txBody>
      </p:sp>
      <p:pic>
        <p:nvPicPr>
          <p:cNvPr id="12" name="ba-shot" descr="订单详情页添加方案：有票方案入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0"/>
            <a:ext cx="2675347" cy="2103120"/>
          </a:xfrm>
          <a:prstGeom prst="rect">
            <a:avLst/>
          </a:prstGeom>
        </p:spPr>
      </p:pic>
      <p:sp>
        <p:nvSpPr>
          <p:cNvPr id="13" name="ba-frame"/>
          <p:cNvSpPr/>
          <p:nvPr/>
        </p:nvSpPr>
        <p:spPr>
          <a:xfrm>
            <a:off x="457200" y="4114800"/>
            <a:ext cx="2675347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ba-cap"/>
          <p:cNvSpPr txBox="1"/>
          <p:nvPr/>
        </p:nvSpPr>
        <p:spPr>
          <a:xfrm>
            <a:off x="3337560" y="44805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315E"/>
                </a:solidFill>
              </a:rPr>
              <a:t>订单详情页 · 添加方案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选择有票方案可立即出票；支付宝（非黑名单）订单走抢转买出票</a:t>
            </a:r>
            <a:endParaRPr lang="en-US" sz="1250" dirty="0"/>
          </a:p>
        </p:txBody>
      </p:sp>
      <p:sp>
        <p:nvSpPr>
          <p:cNvPr id="15" name="res-head"/>
          <p:cNvSpPr txBox="1"/>
          <p:nvPr/>
        </p:nvSpPr>
        <p:spPr>
          <a:xfrm>
            <a:off x="65836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效果</a:t>
            </a:r>
            <a:endParaRPr lang="en-US" sz="1600" dirty="0"/>
          </a:p>
        </p:txBody>
      </p:sp>
      <p:sp>
        <p:nvSpPr>
          <p:cNvPr id="16" name="chart-cap"/>
          <p:cNvSpPr txBox="1"/>
          <p:nvPr/>
        </p:nvSpPr>
        <p:spPr>
          <a:xfrm>
            <a:off x="65836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平峰期成功率</a:t>
            </a:r>
            <a:endParaRPr lang="en-US" sz="1200" dirty="0"/>
          </a:p>
        </p:txBody>
      </p:sp>
      <p:graphicFrame>
        <p:nvGraphicFramePr>
          <p:cNvPr id="17" name="sr-chart" descr=""/>
          <p:cNvGraphicFramePr/>
          <p:nvPr/>
        </p:nvGraphicFramePr>
        <p:xfrm>
          <a:off x="6492240" y="2240280"/>
          <a:ext cx="3108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k1-card"/>
          <p:cNvSpPr/>
          <p:nvPr/>
        </p:nvSpPr>
        <p:spPr>
          <a:xfrm>
            <a:off x="9829800" y="224028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9" name="k1-l"/>
          <p:cNvSpPr txBox="1"/>
          <p:nvPr/>
        </p:nvSpPr>
        <p:spPr>
          <a:xfrm>
            <a:off x="996696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平峰期成功率</a:t>
            </a:r>
            <a:endParaRPr lang="en-US" sz="1200" dirty="0"/>
          </a:p>
        </p:txBody>
      </p:sp>
      <p:sp>
        <p:nvSpPr>
          <p:cNvPr id="20" name="k1-v"/>
          <p:cNvSpPr txBox="1"/>
          <p:nvPr/>
        </p:nvSpPr>
        <p:spPr>
          <a:xfrm>
            <a:off x="996696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87DFA"/>
                </a:solidFill>
              </a:rPr>
              <a:t>+10.3pp</a:t>
            </a:r>
            <a:endParaRPr lang="en-US" sz="2400" dirty="0"/>
          </a:p>
        </p:txBody>
      </p:sp>
      <p:sp>
        <p:nvSpPr>
          <p:cNvPr id="21" name="k1-s"/>
          <p:cNvSpPr txBox="1"/>
          <p:nvPr/>
        </p:nvSpPr>
        <p:spPr>
          <a:xfrm>
            <a:off x="996696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54.9% → 65.2%</a:t>
            </a:r>
            <a:endParaRPr lang="en-US" sz="1200" dirty="0"/>
          </a:p>
        </p:txBody>
      </p:sp>
      <p:sp>
        <p:nvSpPr>
          <p:cNvPr id="22" name="k2-card"/>
          <p:cNvSpPr/>
          <p:nvPr/>
        </p:nvSpPr>
        <p:spPr>
          <a:xfrm>
            <a:off x="9829800" y="434340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3" name="k2-l"/>
          <p:cNvSpPr txBox="1"/>
          <p:nvPr/>
        </p:nvSpPr>
        <p:spPr>
          <a:xfrm>
            <a:off x="9966960" y="4480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预期年化票增量</a:t>
            </a:r>
            <a:endParaRPr lang="en-US" sz="1200" dirty="0"/>
          </a:p>
        </p:txBody>
      </p:sp>
      <p:sp>
        <p:nvSpPr>
          <p:cNvPr id="24" name="k2-v"/>
          <p:cNvSpPr txBox="1"/>
          <p:nvPr/>
        </p:nvSpPr>
        <p:spPr>
          <a:xfrm>
            <a:off x="9966960" y="4846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87DFA"/>
                </a:solidFill>
              </a:rPr>
              <a:t>约 40 万张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p Defense">
  <a:themeElements>
    <a:clrScheme name="Trip Defense">
      <a:dk1>
        <a:srgbClr val="15315E"/>
      </a:dk1>
      <a:lt1>
        <a:srgbClr val="FFFFFF"/>
      </a:lt1>
      <a:dk2>
        <a:srgbClr val="3D4757"/>
      </a:dk2>
      <a:lt2>
        <a:srgbClr val="EEF4FF"/>
      </a:lt2>
      <a:accent1>
        <a:srgbClr val="287DFA"/>
      </a:accent1>
      <a:accent2>
        <a:srgbClr val="FF7A1A"/>
      </a:accent2>
      <a:accent3>
        <a:srgbClr val="15315E"/>
      </a:accent3>
      <a:accent4>
        <a:srgbClr val="8FB8F5"/>
      </a:accent4>
      <a:accent5>
        <a:srgbClr val="D9DEE7"/>
      </a:accent5>
      <a:accent6>
        <a:srgbClr val="5B6B80"/>
      </a:accent6>
      <a:hlink>
        <a:srgbClr val="287DFA"/>
      </a:hlink>
      <a:folHlink>
        <a:srgbClr val="15315E"/>
      </a:folHlink>
    </a:clrScheme>
    <a:fontScheme name="Trip Defen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2026-10-29T21:47:29Z</dcterms:created>
  <dcterms:modified xsi:type="dcterms:W3CDTF">2026-10-29T21:47:29Z</dcterms:modified>
</cp:coreProperties>
</file>