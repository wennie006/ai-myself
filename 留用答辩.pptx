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c7b5a682-f671-d094-2ee6-7b9cfbd6d435}">
          <p14:sldIdLst>
            <p14:sldId id="256"/>
            <p14:sldId id="257"/>
          </p14:sldIdLst>
        </p14:section>
        <p14:section name="个人介绍" id="{a91e130e-b40c-85e4-e00d-8c6c814b8525}">
          <p14:sldIdLst>
            <p14:sldId id="258"/>
          </p14:sldIdLst>
        </p14:section>
        <p14:section name="AI 专项" id="{a560ef22-b06e-ed69-2698-c1a8f5a451e8}">
          <p14:sldIdLst>
            <p14:sldId id="259"/>
            <p14:sldId id="260"/>
            <p14:sldId id="261"/>
          </p14:sldIdLst>
        </p14:section>
        <p14:section name="成功率专项" id="{a26d9ea7-0ea8-2184-9bd9-25462d6b6d6a}">
          <p14:sldIdLst>
            <p14:sldId id="262"/>
            <p14:sldId id="263"/>
            <p14:sldId id="264"/>
            <p14:sldId id="265"/>
          </p14:sldIdLst>
        </p14:section>
        <p14:section name="体验专项" id="{970cb198-c479-3b86-8f26-0b054116f7fa}">
          <p14:sldIdLst>
            <p14:sldId id="266"/>
          </p14:sldIdLst>
        </p14:section>
        <p14:section name="思考与规划" id="{4cb201cb-4b84-4649-4c48-efefc8115236}">
          <p14:sldIdLst>
            <p14:sldId id="267"/>
            <p14:sldId id="268"/>
          </p14:sldIdLst>
        </p14:section>
        <p14:section name="结束" id="{b3b74728-b21a-c86f-e10b-b31bc6e918c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lift</c:v>
                </c:pt>
              </c:strCache>
            </c:strRef>
          </c:tx>
          <c:spPr>
            <a:solidFill>
              <a:srgbClr val="287DFA"/>
            </a:solidFill>
            <a:effectLst/>
          </c:spPr>
          <c:invertIfNegative val="0"/>
          <c:dLbls>
            <c:numFmt formatCode="&quot;+&quot;0.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5315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正文完播率</c:v>
                  </c:pt>
                  <c:pt idx="1">
                    <c:v>总导流模块用户点击率</c:v>
                  </c:pt>
                  <c:pt idx="2">
                    <c:v>当天出票收益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7.7</c:v>
                </c:pt>
                <c:pt idx="1">
                  <c:v>12.2</c:v>
                </c:pt>
                <c:pt idx="2">
                  <c:v>14.4</c:v>
                </c:pt>
              </c:numCache>
            </c:numRef>
          </c:val>
        </c:ser>
        <c:dLbls>
          <c:numFmt formatCode="&quot;+&quot;0.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5315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D475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非火车问题占比</c:v>
                </c:pt>
              </c:strCache>
            </c:strRef>
          </c:tx>
          <c:spPr>
            <a:solidFill>
              <a:srgbClr val="287DFA"/>
            </a:solidFill>
            <a:ln w="25400" cap="flat">
              <a:solidFill>
                <a:srgbClr val="287DF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87DFA"/>
              </a:solidFill>
              <a:ln w="9525" cap="flat">
                <a:solidFill>
                  <a:srgbClr val="287DF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Sheet1!$A$2:$A$18</c:f>
              <c:multiLvlStrCache>
                <c:ptCount val="17"/>
                <c:lvl>
                  <c:pt idx="0">
                    <c:v>8.6</c:v>
                  </c:pt>
                  <c:pt idx="1">
                    <c:v>8.7</c:v>
                  </c:pt>
                  <c:pt idx="2">
                    <c:v>8.8</c:v>
                  </c:pt>
                  <c:pt idx="3">
                    <c:v>8.9</c:v>
                  </c:pt>
                  <c:pt idx="4">
                    <c:v>8.11</c:v>
                  </c:pt>
                  <c:pt idx="5">
                    <c:v>8.12</c:v>
                  </c:pt>
                  <c:pt idx="6">
                    <c:v>8.13</c:v>
                  </c:pt>
                  <c:pt idx="7">
                    <c:v>8.15</c:v>
                  </c:pt>
                  <c:pt idx="8">
                    <c:v>8.16</c:v>
                  </c:pt>
                  <c:pt idx="9">
                    <c:v>8.17</c:v>
                  </c:pt>
                  <c:pt idx="10">
                    <c:v>8.18</c:v>
                  </c:pt>
                  <c:pt idx="11">
                    <c:v>8.19</c:v>
                  </c:pt>
                  <c:pt idx="12">
                    <c:v>8.20</c:v>
                  </c:pt>
                  <c:pt idx="13">
                    <c:v>8.21</c:v>
                  </c:pt>
                  <c:pt idx="14">
                    <c:v>8.22</c:v>
                  </c:pt>
                  <c:pt idx="15">
                    <c:v>8.23</c:v>
                  </c:pt>
                  <c:pt idx="16">
                    <c:v>8.24</c:v>
                  </c:pt>
                </c:lvl>
              </c:multiLvlStrCache>
            </c:multiLvlStrRef>
          </c:cat>
          <c:val>
            <c:numRef>
              <c:f>Sheet1!$B$2:$B$18</c:f>
              <c:numCache>
                <c:formatCode>General</c:formatCode>
                <c:ptCount val="17"/>
                <c:pt idx="0">
                  <c:v>10.2</c:v>
                </c:pt>
                <c:pt idx="1">
                  <c:v>10.1</c:v>
                </c:pt>
                <c:pt idx="2">
                  <c:v>10.2</c:v>
                </c:pt>
                <c:pt idx="3">
                  <c:v>9.5</c:v>
                </c:pt>
                <c:pt idx="4">
                  <c:v>6.6</c:v>
                </c:pt>
                <c:pt idx="5">
                  <c:v>6.7</c:v>
                </c:pt>
                <c:pt idx="6">
                  <c:v>6.2</c:v>
                </c:pt>
                <c:pt idx="7">
                  <c:v>5.5</c:v>
                </c:pt>
                <c:pt idx="8">
                  <c:v>5.4</c:v>
                </c:pt>
                <c:pt idx="9">
                  <c:v>5.6</c:v>
                </c:pt>
                <c:pt idx="10">
                  <c:v>5</c:v>
                </c:pt>
                <c:pt idx="11">
                  <c:v>5</c:v>
                </c:pt>
                <c:pt idx="12">
                  <c:v>4.5</c:v>
                </c:pt>
                <c:pt idx="13">
                  <c:v>4</c:v>
                </c:pt>
                <c:pt idx="14">
                  <c:v>4</c:v>
                </c:pt>
                <c:pt idx="15">
                  <c:v>4.5</c:v>
                </c:pt>
                <c:pt idx="16">
                  <c:v>4.2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D475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D9DEE7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D475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平峰期成功率</c:v>
                </c:pt>
              </c:strCache>
            </c:strRef>
          </c:tx>
          <c:spPr>
            <a:solidFill>
              <a:srgbClr val="8FB8F5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5315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FB8F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87DFA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放开前</c:v>
                  </c:pt>
                  <c:pt idx="1">
                    <c:v>放开后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54.9</c:v>
                </c:pt>
                <c:pt idx="1">
                  <c:v>65.2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15315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D475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各位老师好，我是罗蕴文，很高兴能够参与这次的留用答辩
我先简单做一个自我介绍，我目前就读于复旦大学外国哲学专业，预计明年六月毕业。
我上一段产品实习在小红书，主要负责“点点”在幽默语境下的回答优化。我把这段工作总结为两件事：拓展模型的能力边界，限制模型的行为边界。这段实习让我对AI能力有切身体会的同时，培养了我熟练运用AI平台，本地部署AI工具提效的能力。
今年 4 月底我加入携程火车票，我所理解抢票的本质是，在无票时，由平台收取用户的出行需求和票款后生单，并通过各种能力尝试完成出票，所以抢票的下单和成交是分开的，出票量由开抢订单量和抢票成功率共同决定。并且由于支付风控原因，当前在扣位成功后，还可能出现需要限时召回用户确认的场景，如何有效地挽回由于风控导致的票量损失，并且在此过程中平衡抢票时的用户体验。实习期间我的工作也是围绕AI专项、支付成功率专项以及用户体验专项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先讲AI专项，这是我们从3月开始和集团问道对接的项目。一条问题依次经过四层：问道将被判定为火车的问题分发给火车agent、火车 Agent 对这个问题进行第二次的意图识别，根据意图识别标准判断它属于具体的哪一类场景，并调用对应的能力承接，无法承接的问题会被 Agent 拒答，并且退回给问道做兜底回答。
火车 Agent 的目标呈现为提升承接率和促进出票转化，也就是让问道分过来的问题能尽可能被回答，并且用贴合业务形态的方式促进出票转化；长期来看，能够让用户愿意持续使用，以火车agent为起点，让AI功能作为用户留存和转化的钩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负责的是"承接"这一环：即问题有没有正确分给火车，分到之后有没有被正确识别。在一期上线前，对比1000余条agent和算法的分类结果，补齐业务标准明确、但判定规则没覆盖的地方，修订意图识别框架，在一期上线前将火车agent的意图识别准确率从94.6%提升到98%；意图识别是承接的基础，上线后，实验组正文完播率 +7.7%，总导流模块用户点击率+12.2%，当天出票收益 +14.4%，也从用户行为侧面印证了意图识别工作的有效性。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火车agent上线后拒答率较高，一期上线时拒答率50.3%。原因有两类：一部分问题被错误识别成了当前不支持的类型，另一部分是问道错误分发过来的非火车问题。因此拒答治理也分两个思路。
一是继续细化火车的意图识别分类，我核查了火车票agent上线首日的600余条拒答情况，排查其中出现的意图识别错误的场景，推动由于意图识别分类错误导致的拒答从约5.1%下降到不到1%；
二是优化问道的分发策略。重点是既减少非火车问题的分发，又要避免误伤那些当前尚未支持，但后续计划支持的问题类型，造成火车问题的流量损失以及更长期的票量和收益损失。我复核了7.22-8.5的1000余条拒答原因为属于非火车问题的场景，逐条判断归属，整理出火车问题的边界标准，问道据此调整分发策略之后非火车问题占比从10%降到4.6%，剩余的拒答场景集中于agent能力缺口，可以直接作为下一步能力建设的依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背景】成功率专项关注已下单的订单能不能出票，支付挽回的核心目标是挽回由风控导致的票量损失。除转线下票之外，抢票出票都需要都要经过扣位成功后向12306支付的环节，但由于风控影响，只有带有支付宝标记的订单才能够通过代付成功出票；而召回用户重新直付的过程存在流失漏斗，这也是携程成功率优势收窄的原因之一。
【目标】所以支付挽回主要是沿着两条路径，一是引导支付宝，在扣位之前让更多订单具备代付条件，二是提供直付兜底，让代付不了的订单，尤其是在四月直付改造之后遗留的一些长尾场景，在扣位之后仍有机会出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引导支付宝上，我们做了第二期的用低价产品引导用户使用支付宝支付。之前我们做过在抢票中用低价产品吸引用户使用支付宝的策略，但转换率较低，为了进一步降低非支付宝订单数，提高大盘抢票成功率，我们扩大了补贴范围，需求上线后，日均目标订单数约 10,916 单，转化订单数约 232 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月抢票的主流程直付改造之后，还有一些长尾场景需要覆盖。直付的成本和主要的痛点就在于召回用户的过程中存在的流失漏斗，于是在引导直付这一链路上，我们倾向于在那些原本就需要用户确认的节点接直付。8 月份，我们先后对智能第二程、非支付宝以及支付宝黑名单订单行程冲突、票款不足补款等场景进行直付改造，合计年化挽回票量约 11.6 万张。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另外针对票量方面，并且对出票方式进行拓展，由于支付风控原因关闭抢转买后，用户在改单选择有票方案时只能通过捡漏出票，平峰期成功率约54.9%，8月我们放开了能够正常代付出票的支付宝（非黑名单）订单在该场景下的抢转买，上线后平峰期成功率从54.9%上升到65.2%，预期年化票增量约40万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体验专项的目标是在抢票的各个环节给出准确、及时、适度的信息触达和操作链路。 在订前转化方面，我们落地了双节活动日历，以促进用户提早下预约订单，在火车票开售前预热时期日均访问4.2w次，活动→列表页转化率16.6%，开售后日均PV6.1w，活动页到列表页转化率28.8%。在订前阶段，针对由于夜间无感出票导致的客诉，我优化了夜间出行车次的默认抢票截止时间；订后的体验优化主要集中在微信小程序的直付改造，受风控影响微信小程序只能够跳转客服之后再走直付，对用户的体验感较差。因此，我们将这些场景在微信小程序中直接拉起微信直付；此外，优化订后的外呼策略；在出票后阶段，我们也对在线换座的首页弹窗进行策略优化，只保留四种有明确换位价值的场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看这几个月，我更深刻地理解了产品工作的核心在于把问题归因清楚，归因的质量直接决定了后续投入的方向是否正确。以支付挽回场景为例，只有在我按场景拆分清楚了当前支付相关的背景和优化思路后，我才对当前现状以及未来的业务方向有了更清楚的思考。
正是在这个归因的过程中，我才发现了当前微信小程序中面临的结构性问题，小程序由于无法使用支付宝而无法让订单获得代付条件，小程序每天触发直付的订单约 1 万单，规模相当于同期小程序开抢订单的一半左右；在召回的漏斗方面存在票量的损失，频繁的直付召回对用户来说体验感较差。所以接下来我会想要在持续对于票量的探索中，重点考虑小程序抢票订单的成功率。一方面优化小程序内的功能与支付流程，另一方面从从小程序与 APP 的交叉人群、支付方式结构入手，探索小程序订单获得代付条件的路径，让小程序的成功率逐步回到风控前的水平。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另一方面则是Ai和业务方面的结合，对 AI native 的产品来说，模型本身就是产品，衡量的是模型表现得好不好；但在更多领域，AI是服务业务的手段，衡量的是业务结果。例如火车agent二期把对话改成直接操作列表页后，这种更符合用户原有行为链路的做法使得票量明显提升。但我们无法否认的是，AI时代的魅力也正在于颠覆性的产品和创造，如何让AI融入进抢票已有的链路之中，以一个平台用户心智能够接受的方式展现出来，让用户以最低的学习成本认可携程的AI价值，这也是另一个我想探索的AI+业务的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以上就是我的分享，谢谢各位老师。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11274552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</a:rPr>
              <a:t>© Trip.com All rights reserved.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7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logo" descr="logo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508760" cy="365760"/>
          </a:xfrm>
          <a:prstGeom prst="rect">
            <a:avLst/>
          </a:prstGeom>
        </p:spPr>
      </p:pic>
      <p:sp>
        <p:nvSpPr>
          <p:cNvPr id="3" name="cover-title"/>
          <p:cNvSpPr txBox="1"/>
          <p:nvPr/>
        </p:nvSpPr>
        <p:spPr>
          <a:xfrm>
            <a:off x="548640" y="22402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留用答辩</a:t>
            </a:r>
            <a:endParaRPr lang="en-US" sz="4800" dirty="0"/>
          </a:p>
        </p:txBody>
      </p:sp>
      <p:sp>
        <p:nvSpPr>
          <p:cNvPr id="4" name="cover-sub"/>
          <p:cNvSpPr txBox="1"/>
          <p:nvPr/>
        </p:nvSpPr>
        <p:spPr>
          <a:xfrm>
            <a:off x="548640" y="3291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汇报人：罗蕴文　｜　携程火车票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c-title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87DFA"/>
                </a:solidFill>
              </a:rPr>
              <a:t>目录</a:t>
            </a:r>
            <a:endParaRPr lang="en-US" sz="3200" dirty="0"/>
          </a:p>
        </p:txBody>
      </p:sp>
      <p:sp>
        <p:nvSpPr>
          <p:cNvPr id="3" name="toc-dot0"/>
          <p:cNvSpPr/>
          <p:nvPr/>
        </p:nvSpPr>
        <p:spPr>
          <a:xfrm>
            <a:off x="2528316" y="274320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B8F5"/>
            </a:solidFill>
            <a:prstDash val="solid"/>
          </a:ln>
          <a:effectLst>
            <a:outerShdw sx="100000" sy="100000" kx="0" ky="0" algn="bl" rotWithShape="0" blurRad="76200" dist="25400" dir="5400000">
              <a:srgbClr val="8FB8F5">
                <a:alpha val="35000"/>
              </a:srgbClr>
            </a:outerShdw>
          </a:effectLst>
        </p:spPr>
      </p:sp>
      <p:sp>
        <p:nvSpPr>
          <p:cNvPr id="4" name="toc-n0"/>
          <p:cNvSpPr txBox="1"/>
          <p:nvPr/>
        </p:nvSpPr>
        <p:spPr>
          <a:xfrm>
            <a:off x="2528316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7DFA"/>
                </a:solidFill>
              </a:rPr>
              <a:t>01</a:t>
            </a:r>
            <a:endParaRPr lang="en-US" sz="2000" dirty="0"/>
          </a:p>
        </p:txBody>
      </p:sp>
      <p:sp>
        <p:nvSpPr>
          <p:cNvPr id="5" name="toc-t0"/>
          <p:cNvSpPr txBox="1"/>
          <p:nvPr/>
        </p:nvSpPr>
        <p:spPr>
          <a:xfrm>
            <a:off x="1431036" y="3840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15E"/>
                </a:solidFill>
              </a:rPr>
              <a:t>个人介绍</a:t>
            </a:r>
            <a:endParaRPr lang="en-US" sz="1800" dirty="0"/>
          </a:p>
        </p:txBody>
      </p:sp>
      <p:sp>
        <p:nvSpPr>
          <p:cNvPr id="6" name="toc-sep0"/>
          <p:cNvSpPr/>
          <p:nvPr/>
        </p:nvSpPr>
        <p:spPr>
          <a:xfrm>
            <a:off x="4539996" y="2743200"/>
            <a:ext cx="0" cy="1828800"/>
          </a:xfrm>
          <a:prstGeom prst="line">
            <a:avLst/>
          </a:prstGeom>
          <a:noFill/>
          <a:ln w="12700">
            <a:solidFill>
              <a:srgbClr val="8FB8F5"/>
            </a:solidFill>
            <a:prstDash val="dash"/>
          </a:ln>
        </p:spPr>
      </p:sp>
      <p:sp>
        <p:nvSpPr>
          <p:cNvPr id="7" name="toc-dot1"/>
          <p:cNvSpPr/>
          <p:nvPr/>
        </p:nvSpPr>
        <p:spPr>
          <a:xfrm>
            <a:off x="5637276" y="274320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B8F5"/>
            </a:solidFill>
            <a:prstDash val="solid"/>
          </a:ln>
          <a:effectLst>
            <a:outerShdw sx="100000" sy="100000" kx="0" ky="0" algn="bl" rotWithShape="0" blurRad="76200" dist="25400" dir="5400000">
              <a:srgbClr val="8FB8F5">
                <a:alpha val="35000"/>
              </a:srgbClr>
            </a:outerShdw>
          </a:effectLst>
        </p:spPr>
      </p:sp>
      <p:sp>
        <p:nvSpPr>
          <p:cNvPr id="8" name="toc-n1"/>
          <p:cNvSpPr txBox="1"/>
          <p:nvPr/>
        </p:nvSpPr>
        <p:spPr>
          <a:xfrm>
            <a:off x="5637276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7DFA"/>
                </a:solidFill>
              </a:rPr>
              <a:t>02</a:t>
            </a:r>
            <a:endParaRPr lang="en-US" sz="2000" dirty="0"/>
          </a:p>
        </p:txBody>
      </p:sp>
      <p:sp>
        <p:nvSpPr>
          <p:cNvPr id="9" name="toc-t1"/>
          <p:cNvSpPr txBox="1"/>
          <p:nvPr/>
        </p:nvSpPr>
        <p:spPr>
          <a:xfrm>
            <a:off x="4539996" y="3840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15E"/>
                </a:solidFill>
              </a:rPr>
              <a:t>主要项目</a:t>
            </a:r>
            <a:endParaRPr lang="en-US" sz="1800" dirty="0"/>
          </a:p>
        </p:txBody>
      </p:sp>
      <p:sp>
        <p:nvSpPr>
          <p:cNvPr id="10" name="toc-d1"/>
          <p:cNvSpPr txBox="1"/>
          <p:nvPr/>
        </p:nvSpPr>
        <p:spPr>
          <a:xfrm>
            <a:off x="4539996" y="4297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0"/>
                </a:solidFill>
              </a:rPr>
              <a:t>AI 专项 · 成功率专项 · 体验专项</a:t>
            </a:r>
            <a:endParaRPr lang="en-US" sz="1200" dirty="0"/>
          </a:p>
        </p:txBody>
      </p:sp>
      <p:sp>
        <p:nvSpPr>
          <p:cNvPr id="11" name="toc-sep1"/>
          <p:cNvSpPr/>
          <p:nvPr/>
        </p:nvSpPr>
        <p:spPr>
          <a:xfrm>
            <a:off x="7648956" y="2743200"/>
            <a:ext cx="0" cy="1828800"/>
          </a:xfrm>
          <a:prstGeom prst="line">
            <a:avLst/>
          </a:prstGeom>
          <a:noFill/>
          <a:ln w="12700">
            <a:solidFill>
              <a:srgbClr val="8FB8F5"/>
            </a:solidFill>
            <a:prstDash val="dash"/>
          </a:ln>
        </p:spPr>
      </p:sp>
      <p:sp>
        <p:nvSpPr>
          <p:cNvPr id="12" name="toc-dot2"/>
          <p:cNvSpPr/>
          <p:nvPr/>
        </p:nvSpPr>
        <p:spPr>
          <a:xfrm>
            <a:off x="8746236" y="274320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FB8F5"/>
            </a:solidFill>
            <a:prstDash val="solid"/>
          </a:ln>
          <a:effectLst>
            <a:outerShdw sx="100000" sy="100000" kx="0" ky="0" algn="bl" rotWithShape="0" blurRad="76200" dist="25400" dir="5400000">
              <a:srgbClr val="8FB8F5">
                <a:alpha val="35000"/>
              </a:srgbClr>
            </a:outerShdw>
          </a:effectLst>
        </p:spPr>
      </p:sp>
      <p:sp>
        <p:nvSpPr>
          <p:cNvPr id="13" name="toc-n2"/>
          <p:cNvSpPr txBox="1"/>
          <p:nvPr/>
        </p:nvSpPr>
        <p:spPr>
          <a:xfrm>
            <a:off x="8746236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7DFA"/>
                </a:solidFill>
              </a:rPr>
              <a:t>03</a:t>
            </a:r>
            <a:endParaRPr lang="en-US" sz="2000" dirty="0"/>
          </a:p>
        </p:txBody>
      </p:sp>
      <p:sp>
        <p:nvSpPr>
          <p:cNvPr id="14" name="toc-t2"/>
          <p:cNvSpPr txBox="1"/>
          <p:nvPr/>
        </p:nvSpPr>
        <p:spPr>
          <a:xfrm>
            <a:off x="7648956" y="3840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315E"/>
                </a:solidFill>
              </a:rPr>
              <a:t>思考与规划</a:t>
            </a:r>
            <a:endParaRPr lang="en-US" sz="1800" dirty="0"/>
          </a:p>
        </p:txBody>
      </p:sp>
      <p:pic>
        <p:nvPicPr>
          <p:cNvPr id="15" name="toc-logo" descr="logo_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172200"/>
            <a:ext cx="1517904" cy="365760"/>
          </a:xfrm>
          <a:prstGeom prst="rect">
            <a:avLst/>
          </a:prstGeom>
        </p:spPr>
      </p:pic>
      <p:sp>
        <p:nvSpPr>
          <p:cNvPr id="16" name="toc-foot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</a:rPr>
              <a:t>© Trip.com All rights reserved.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1、个人介绍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抢票的下单和成交是分开的：出票量由开抢订单量和抢票成功率共同决定</a:t>
            </a:r>
            <a:endParaRPr lang="en-US" sz="1700" dirty="0"/>
          </a:p>
        </p:txBody>
      </p:sp>
      <p:sp>
        <p:nvSpPr>
          <p:cNvPr id="4" name="me-card"/>
          <p:cNvSpPr/>
          <p:nvPr/>
        </p:nvSpPr>
        <p:spPr>
          <a:xfrm>
            <a:off x="457200" y="1554480"/>
            <a:ext cx="3383280" cy="4709160"/>
          </a:xfrm>
          <a:prstGeom prst="roundRect">
            <a:avLst>
              <a:gd name="adj" fmla="val 216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me-name"/>
          <p:cNvSpPr txBox="1"/>
          <p:nvPr/>
        </p:nvSpPr>
        <p:spPr>
          <a:xfrm>
            <a:off x="731520" y="17830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5315E"/>
                </a:solidFill>
              </a:rPr>
              <a:t>罗蕴文</a:t>
            </a:r>
            <a:endParaRPr lang="en-US" sz="2600" dirty="0"/>
          </a:p>
        </p:txBody>
      </p:sp>
      <p:sp>
        <p:nvSpPr>
          <p:cNvPr id="6" name="me-edu"/>
          <p:cNvSpPr txBox="1"/>
          <p:nvPr/>
        </p:nvSpPr>
        <p:spPr>
          <a:xfrm>
            <a:off x="731520" y="24231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D4757"/>
                </a:solidFill>
              </a:rPr>
              <a:t>复旦大学 · 外国哲学硕士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D4757"/>
                </a:solidFill>
              </a:rPr>
              <a:t>预计 2027 年 6 月毕业</a:t>
            </a:r>
            <a:endParaRPr lang="en-US" sz="1250" dirty="0"/>
          </a:p>
        </p:txBody>
      </p:sp>
      <p:sp>
        <p:nvSpPr>
          <p:cNvPr id="7" name="me-div"/>
          <p:cNvSpPr/>
          <p:nvPr/>
        </p:nvSpPr>
        <p:spPr>
          <a:xfrm>
            <a:off x="731520" y="3182112"/>
            <a:ext cx="2834640" cy="0"/>
          </a:xfrm>
          <a:prstGeom prst="line">
            <a:avLst/>
          </a:prstGeom>
          <a:noFill/>
          <a:ln w="9525">
            <a:solidFill>
              <a:srgbClr val="D9DEE7"/>
            </a:solidFill>
            <a:prstDash val="solid"/>
          </a:ln>
        </p:spPr>
      </p:sp>
      <p:sp>
        <p:nvSpPr>
          <p:cNvPr id="8" name="me-exp-h"/>
          <p:cNvSpPr txBox="1"/>
          <p:nvPr/>
        </p:nvSpPr>
        <p:spPr>
          <a:xfrm>
            <a:off x="731520" y="33101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</a:rPr>
              <a:t>实习经历</a:t>
            </a:r>
            <a:endParaRPr lang="en-US" sz="1200" dirty="0"/>
          </a:p>
        </p:txBody>
      </p:sp>
      <p:sp>
        <p:nvSpPr>
          <p:cNvPr id="9" name="me-exp0-dot"/>
          <p:cNvSpPr/>
          <p:nvPr/>
        </p:nvSpPr>
        <p:spPr>
          <a:xfrm>
            <a:off x="731520" y="3749040"/>
            <a:ext cx="128016" cy="128016"/>
          </a:xfrm>
          <a:prstGeom prst="ellipse">
            <a:avLst/>
          </a:prstGeom>
          <a:solidFill>
            <a:srgbClr val="5B6B80"/>
          </a:solidFill>
          <a:ln w="12700">
            <a:solidFill>
              <a:srgbClr val="5B6B80"/>
            </a:solidFill>
            <a:prstDash val="solid"/>
          </a:ln>
        </p:spPr>
      </p:sp>
      <p:sp>
        <p:nvSpPr>
          <p:cNvPr id="10" name="me-exp0"/>
          <p:cNvSpPr txBox="1"/>
          <p:nvPr/>
        </p:nvSpPr>
        <p:spPr>
          <a:xfrm>
            <a:off x="960120" y="3675888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5315E"/>
                </a:solidFill>
              </a:rPr>
              <a:t>小红书 · 产品经理实习生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</a:rPr>
              <a:t>2025.7 – 2025.9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D4757"/>
                </a:solidFill>
              </a:rPr>
              <a:t>大模型“点点”幽默语境回答优化：拓展模型的能力边界，限制模型的行为边界</a:t>
            </a:r>
            <a:endParaRPr lang="en-US" sz="1400" dirty="0"/>
          </a:p>
        </p:txBody>
      </p:sp>
      <p:sp>
        <p:nvSpPr>
          <p:cNvPr id="11" name="me-exp1-dot"/>
          <p:cNvSpPr/>
          <p:nvPr/>
        </p:nvSpPr>
        <p:spPr>
          <a:xfrm>
            <a:off x="731520" y="5029200"/>
            <a:ext cx="128016" cy="128016"/>
          </a:xfrm>
          <a:prstGeom prst="ellipse">
            <a:avLst/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12" name="me-exp1"/>
          <p:cNvSpPr txBox="1"/>
          <p:nvPr/>
        </p:nvSpPr>
        <p:spPr>
          <a:xfrm>
            <a:off x="960120" y="4956048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5315E"/>
                </a:solidFill>
              </a:rPr>
              <a:t>携程 · 产品经理实习生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</a:rPr>
              <a:t>2026.4 – 至今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D4757"/>
                </a:solidFill>
              </a:rPr>
              <a:t>火车票：AI 专项、支付成功率专项、用户体验专项</a:t>
            </a:r>
            <a:endParaRPr lang="en-US" sz="1400" dirty="0"/>
          </a:p>
        </p:txBody>
      </p:sp>
      <p:sp>
        <p:nvSpPr>
          <p:cNvPr id="13" name="qp-h"/>
          <p:cNvSpPr txBox="1"/>
          <p:nvPr/>
        </p:nvSpPr>
        <p:spPr>
          <a:xfrm>
            <a:off x="4160520" y="1554480"/>
            <a:ext cx="7571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87DFA"/>
                </a:solidFill>
              </a:rPr>
              <a:t>我对抢票的理解</a:t>
            </a:r>
            <a:endParaRPr lang="en-US" sz="1600" dirty="0"/>
          </a:p>
        </p:txBody>
      </p:sp>
      <p:sp>
        <p:nvSpPr>
          <p:cNvPr id="14" name="qp-step0"/>
          <p:cNvSpPr/>
          <p:nvPr/>
        </p:nvSpPr>
        <p:spPr>
          <a:xfrm>
            <a:off x="4160520" y="201168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5" name="qp-step0-t"/>
          <p:cNvSpPr txBox="1"/>
          <p:nvPr/>
        </p:nvSpPr>
        <p:spPr>
          <a:xfrm>
            <a:off x="4343400" y="20116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5E"/>
                </a:solidFill>
              </a:rPr>
              <a:t>无票时下单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D4757"/>
                </a:solidFill>
              </a:rPr>
              <a:t>平台收取用户的出行需求和票款后生单</a:t>
            </a:r>
            <a:endParaRPr lang="en-US" sz="1400" dirty="0"/>
          </a:p>
        </p:txBody>
      </p:sp>
      <p:sp>
        <p:nvSpPr>
          <p:cNvPr id="16" name="qp-step1"/>
          <p:cNvSpPr/>
          <p:nvPr/>
        </p:nvSpPr>
        <p:spPr>
          <a:xfrm>
            <a:off x="8046720" y="2011680"/>
            <a:ext cx="3611880" cy="868680"/>
          </a:xfrm>
          <a:prstGeom prst="roundRect">
            <a:avLst>
              <a:gd name="adj" fmla="val 8421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7" name="qp-step1-t"/>
          <p:cNvSpPr txBox="1"/>
          <p:nvPr/>
        </p:nvSpPr>
        <p:spPr>
          <a:xfrm>
            <a:off x="8229600" y="20116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5E"/>
                </a:solidFill>
              </a:rPr>
              <a:t>尝试出票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3D4757"/>
                </a:solidFill>
              </a:rPr>
              <a:t>通过各种能力尝试完成出票</a:t>
            </a:r>
            <a:endParaRPr lang="en-US" sz="1400" dirty="0"/>
          </a:p>
        </p:txBody>
      </p:sp>
      <p:sp>
        <p:nvSpPr>
          <p:cNvPr id="18" name="qp-arrow"/>
          <p:cNvSpPr/>
          <p:nvPr/>
        </p:nvSpPr>
        <p:spPr>
          <a:xfrm>
            <a:off x="7799832" y="2286000"/>
            <a:ext cx="219456" cy="320040"/>
          </a:xfrm>
          <a:prstGeom prst="rightArrow">
            <a:avLst/>
          </a:prstGeom>
          <a:solidFill>
            <a:srgbClr val="8FB8F5"/>
          </a:solidFill>
          <a:ln w="12700">
            <a:solidFill>
              <a:srgbClr val="8FB8F5"/>
            </a:solidFill>
            <a:prstDash val="solid"/>
          </a:ln>
        </p:spPr>
      </p:sp>
      <p:sp>
        <p:nvSpPr>
          <p:cNvPr id="19" name="qp-formula"/>
          <p:cNvSpPr/>
          <p:nvPr/>
        </p:nvSpPr>
        <p:spPr>
          <a:xfrm>
            <a:off x="4160520" y="3154680"/>
            <a:ext cx="7571232" cy="868680"/>
          </a:xfrm>
          <a:prstGeom prst="roundRect">
            <a:avLst>
              <a:gd name="adj" fmla="val 8421"/>
            </a:avLst>
          </a:prstGeom>
          <a:solidFill>
            <a:srgbClr val="15315E"/>
          </a:solidFill>
          <a:ln w="12700">
            <a:solidFill>
              <a:srgbClr val="15315E"/>
            </a:solidFill>
            <a:prstDash val="solid"/>
          </a:ln>
        </p:spPr>
      </p:sp>
      <p:sp>
        <p:nvSpPr>
          <p:cNvPr id="20" name="qp-formula-t"/>
          <p:cNvSpPr txBox="1"/>
          <p:nvPr/>
        </p:nvSpPr>
        <p:spPr>
          <a:xfrm>
            <a:off x="4160520" y="3154680"/>
            <a:ext cx="7571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出票量</a:t>
            </a:r>
            <a:pPr algn="ctr" indent="0" marL="0">
              <a:buNone/>
            </a:pPr>
            <a:r>
              <a:rPr lang="en-US" sz="2400" dirty="0">
                <a:solidFill>
                  <a:srgbClr val="8FB8F5"/>
                </a:solidFill>
              </a:rPr>
              <a:t>  =  </a:t>
            </a:r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开抢订单量</a:t>
            </a:r>
            <a:pPr algn="ctr" indent="0" marL="0">
              <a:buNone/>
            </a:pPr>
            <a:r>
              <a:rPr lang="en-US" sz="2400" dirty="0">
                <a:solidFill>
                  <a:srgbClr val="8FB8F5"/>
                </a:solidFill>
              </a:rPr>
              <a:t>  ×  </a:t>
            </a:r>
            <a:pPr algn="ctr" indent="0" marL="0">
              <a:buNone/>
            </a:pPr>
            <a:r>
              <a:rPr lang="en-US" sz="2400" b="1" dirty="0">
                <a:solidFill>
                  <a:srgbClr val="FFD9BF"/>
                </a:solidFill>
              </a:rPr>
              <a:t>抢票成功率</a:t>
            </a:r>
            <a:endParaRPr lang="en-US" sz="2400" dirty="0"/>
          </a:p>
        </p:txBody>
      </p:sp>
      <p:sp>
        <p:nvSpPr>
          <p:cNvPr id="21" name="qp-risk-bar"/>
          <p:cNvSpPr/>
          <p:nvPr/>
        </p:nvSpPr>
        <p:spPr>
          <a:xfrm>
            <a:off x="4160520" y="4297680"/>
            <a:ext cx="64008" cy="54864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2" name="qp-risk"/>
          <p:cNvSpPr txBox="1"/>
          <p:nvPr/>
        </p:nvSpPr>
        <p:spPr>
          <a:xfrm>
            <a:off x="4361688" y="4297680"/>
            <a:ext cx="7370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7A1A"/>
                </a:solidFill>
              </a:rPr>
              <a:t>支付风控：</a:t>
            </a:r>
            <a:pPr indent="0" marL="0">
              <a:buNone/>
            </a:pPr>
            <a:r>
              <a:rPr lang="en-US" sz="1350" dirty="0">
                <a:solidFill>
                  <a:srgbClr val="3D4757"/>
                </a:solidFill>
              </a:rPr>
              <a:t>扣位成功后，还可能出现需要限时召回用户确认的场景</a:t>
            </a:r>
            <a:endParaRPr lang="en-US" sz="1350" dirty="0"/>
          </a:p>
        </p:txBody>
      </p:sp>
      <p:sp>
        <p:nvSpPr>
          <p:cNvPr id="23" name="qp-goal0"/>
          <p:cNvSpPr/>
          <p:nvPr/>
        </p:nvSpPr>
        <p:spPr>
          <a:xfrm>
            <a:off x="4361688" y="498348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24" name="qp-goal0-t"/>
          <p:cNvSpPr txBox="1"/>
          <p:nvPr/>
        </p:nvSpPr>
        <p:spPr>
          <a:xfrm>
            <a:off x="4361688" y="4983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1A"/>
                </a:solidFill>
              </a:rPr>
              <a:t>挽回由风控导致的票量损失</a:t>
            </a:r>
            <a:endParaRPr lang="en-US" sz="1300" dirty="0"/>
          </a:p>
        </p:txBody>
      </p:sp>
      <p:sp>
        <p:nvSpPr>
          <p:cNvPr id="25" name="qp-goal1"/>
          <p:cNvSpPr/>
          <p:nvPr/>
        </p:nvSpPr>
        <p:spPr>
          <a:xfrm>
            <a:off x="8065008" y="4983480"/>
            <a:ext cx="3474720" cy="457200"/>
          </a:xfrm>
          <a:prstGeom prst="roundRect">
            <a:avLst>
              <a:gd name="adj" fmla="val 16000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26" name="qp-goal1-t"/>
          <p:cNvSpPr txBox="1"/>
          <p:nvPr/>
        </p:nvSpPr>
        <p:spPr>
          <a:xfrm>
            <a:off x="8065008" y="4983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1A"/>
                </a:solidFill>
              </a:rPr>
              <a:t>平衡抢票过程中的用户体验</a:t>
            </a:r>
            <a:endParaRPr lang="en-US" sz="1300" dirty="0"/>
          </a:p>
        </p:txBody>
      </p:sp>
      <p:sp>
        <p:nvSpPr>
          <p:cNvPr id="27" name="zx-l"/>
          <p:cNvSpPr txBox="1"/>
          <p:nvPr/>
        </p:nvSpPr>
        <p:spPr>
          <a:xfrm>
            <a:off x="4160520" y="5715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</a:rPr>
              <a:t>工作围绕</a:t>
            </a:r>
            <a:endParaRPr lang="en-US" sz="1300" dirty="0"/>
          </a:p>
        </p:txBody>
      </p:sp>
      <p:sp>
        <p:nvSpPr>
          <p:cNvPr id="28" name="zx0"/>
          <p:cNvSpPr/>
          <p:nvPr/>
        </p:nvSpPr>
        <p:spPr>
          <a:xfrm>
            <a:off x="5074920" y="571500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29" name="zx0-t"/>
          <p:cNvSpPr txBox="1"/>
          <p:nvPr/>
        </p:nvSpPr>
        <p:spPr>
          <a:xfrm>
            <a:off x="5074920" y="5715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AI 专项</a:t>
            </a:r>
            <a:endParaRPr lang="en-US" sz="1350" dirty="0"/>
          </a:p>
        </p:txBody>
      </p:sp>
      <p:sp>
        <p:nvSpPr>
          <p:cNvPr id="30" name="zx1"/>
          <p:cNvSpPr/>
          <p:nvPr/>
        </p:nvSpPr>
        <p:spPr>
          <a:xfrm>
            <a:off x="7315200" y="571500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31" name="zx1-t"/>
          <p:cNvSpPr txBox="1"/>
          <p:nvPr/>
        </p:nvSpPr>
        <p:spPr>
          <a:xfrm>
            <a:off x="7315200" y="5715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支付成功率专项</a:t>
            </a:r>
            <a:endParaRPr lang="en-US" sz="1350" dirty="0"/>
          </a:p>
        </p:txBody>
      </p:sp>
      <p:sp>
        <p:nvSpPr>
          <p:cNvPr id="32" name="zx2"/>
          <p:cNvSpPr/>
          <p:nvPr/>
        </p:nvSpPr>
        <p:spPr>
          <a:xfrm>
            <a:off x="9555480" y="571500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33" name="zx2-t"/>
          <p:cNvSpPr txBox="1"/>
          <p:nvPr/>
        </p:nvSpPr>
        <p:spPr>
          <a:xfrm>
            <a:off x="9555480" y="57150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用户体验专项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2、主要项目 · AI 专项：火车 Agent 接入问道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我负责“承接”这一环：问题有没有正确分给火车，分到之后有没有被正确识别</a:t>
            </a:r>
            <a:endParaRPr lang="en-US" sz="1700" dirty="0"/>
          </a:p>
        </p:txBody>
      </p:sp>
      <p:sp>
        <p:nvSpPr>
          <p:cNvPr id="4" name="chain-label"/>
          <p:cNvSpPr txBox="1"/>
          <p:nvPr/>
        </p:nvSpPr>
        <p:spPr>
          <a:xfrm>
            <a:off x="45720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87DFA"/>
                </a:solidFill>
              </a:rPr>
              <a:t>项目链路</a:t>
            </a:r>
            <a:endParaRPr lang="en-US" sz="1600" dirty="0"/>
          </a:p>
        </p:txBody>
      </p:sp>
      <p:sp>
        <p:nvSpPr>
          <p:cNvPr id="5" name="chain-node-0"/>
          <p:cNvSpPr/>
          <p:nvPr/>
        </p:nvSpPr>
        <p:spPr>
          <a:xfrm>
            <a:off x="457200" y="1965960"/>
            <a:ext cx="1481328" cy="868680"/>
          </a:xfrm>
          <a:prstGeom prst="roundRect">
            <a:avLst>
              <a:gd name="adj" fmla="val 8421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6" name="chain-text-0"/>
          <p:cNvSpPr txBox="1"/>
          <p:nvPr/>
        </p:nvSpPr>
        <p:spPr>
          <a:xfrm>
            <a:off x="502920" y="196596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用户在问道提问</a:t>
            </a:r>
            <a:endParaRPr lang="en-US" sz="1300" dirty="0"/>
          </a:p>
        </p:txBody>
      </p:sp>
      <p:sp>
        <p:nvSpPr>
          <p:cNvPr id="7" name="chain-arrow-0"/>
          <p:cNvSpPr/>
          <p:nvPr/>
        </p:nvSpPr>
        <p:spPr>
          <a:xfrm>
            <a:off x="1993392" y="2299716"/>
            <a:ext cx="219456" cy="201168"/>
          </a:xfrm>
          <a:prstGeom prst="rightArrow">
            <a:avLst/>
          </a:prstGeom>
          <a:solidFill>
            <a:srgbClr val="8FB8F5"/>
          </a:solidFill>
          <a:ln w="12700">
            <a:solidFill>
              <a:srgbClr val="8FB8F5"/>
            </a:solidFill>
            <a:prstDash val="solid"/>
          </a:ln>
        </p:spPr>
      </p:sp>
      <p:sp>
        <p:nvSpPr>
          <p:cNvPr id="8" name="chain-node-1"/>
          <p:cNvSpPr/>
          <p:nvPr/>
        </p:nvSpPr>
        <p:spPr>
          <a:xfrm>
            <a:off x="2267712" y="1965960"/>
            <a:ext cx="1481328" cy="868680"/>
          </a:xfrm>
          <a:prstGeom prst="roundRect">
            <a:avLst>
              <a:gd name="adj" fmla="val 8421"/>
            </a:avLst>
          </a:prstGeom>
          <a:solidFill>
            <a:srgbClr val="FFF1E6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9" name="chain-text-1"/>
          <p:cNvSpPr txBox="1"/>
          <p:nvPr/>
        </p:nvSpPr>
        <p:spPr>
          <a:xfrm>
            <a:off x="2313432" y="196596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1A"/>
                </a:solidFill>
              </a:rPr>
              <a:t>问道分发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7A1A"/>
                </a:solidFill>
              </a:rPr>
              <a:t>判断是否属于火车</a:t>
            </a:r>
            <a:endParaRPr lang="en-US" sz="1300" dirty="0"/>
          </a:p>
        </p:txBody>
      </p:sp>
      <p:sp>
        <p:nvSpPr>
          <p:cNvPr id="10" name="chain-arrow-1"/>
          <p:cNvSpPr/>
          <p:nvPr/>
        </p:nvSpPr>
        <p:spPr>
          <a:xfrm>
            <a:off x="3803904" y="2299716"/>
            <a:ext cx="219456" cy="201168"/>
          </a:xfrm>
          <a:prstGeom prst="rightArrow">
            <a:avLst/>
          </a:prstGeom>
          <a:solidFill>
            <a:srgbClr val="8FB8F5"/>
          </a:solidFill>
          <a:ln w="12700">
            <a:solidFill>
              <a:srgbClr val="8FB8F5"/>
            </a:solidFill>
            <a:prstDash val="solid"/>
          </a:ln>
        </p:spPr>
      </p:sp>
      <p:sp>
        <p:nvSpPr>
          <p:cNvPr id="11" name="chain-node-2"/>
          <p:cNvSpPr/>
          <p:nvPr/>
        </p:nvSpPr>
        <p:spPr>
          <a:xfrm>
            <a:off x="4078224" y="1965960"/>
            <a:ext cx="1481328" cy="868680"/>
          </a:xfrm>
          <a:prstGeom prst="roundRect">
            <a:avLst>
              <a:gd name="adj" fmla="val 8421"/>
            </a:avLst>
          </a:prstGeom>
          <a:solidFill>
            <a:srgbClr val="FFF1E6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12" name="chain-text-2"/>
          <p:cNvSpPr txBox="1"/>
          <p:nvPr/>
        </p:nvSpPr>
        <p:spPr>
          <a:xfrm>
            <a:off x="4123944" y="196596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1A"/>
                </a:solidFill>
              </a:rPr>
              <a:t>火车 Agent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7A1A"/>
                </a:solidFill>
              </a:rPr>
              <a:t>意图识别</a:t>
            </a:r>
            <a:endParaRPr lang="en-US" sz="1300" dirty="0"/>
          </a:p>
        </p:txBody>
      </p:sp>
      <p:sp>
        <p:nvSpPr>
          <p:cNvPr id="13" name="chain-arrow-2"/>
          <p:cNvSpPr/>
          <p:nvPr/>
        </p:nvSpPr>
        <p:spPr>
          <a:xfrm>
            <a:off x="5614416" y="2299716"/>
            <a:ext cx="219456" cy="201168"/>
          </a:xfrm>
          <a:prstGeom prst="rightArrow">
            <a:avLst/>
          </a:prstGeom>
          <a:solidFill>
            <a:srgbClr val="8FB8F5"/>
          </a:solidFill>
          <a:ln w="12700">
            <a:solidFill>
              <a:srgbClr val="8FB8F5"/>
            </a:solidFill>
            <a:prstDash val="solid"/>
          </a:ln>
        </p:spPr>
      </p:sp>
      <p:sp>
        <p:nvSpPr>
          <p:cNvPr id="14" name="chain-node-3"/>
          <p:cNvSpPr/>
          <p:nvPr/>
        </p:nvSpPr>
        <p:spPr>
          <a:xfrm>
            <a:off x="5888736" y="1965960"/>
            <a:ext cx="1481328" cy="868680"/>
          </a:xfrm>
          <a:prstGeom prst="roundRect">
            <a:avLst>
              <a:gd name="adj" fmla="val 8421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5" name="chain-text-3"/>
          <p:cNvSpPr txBox="1"/>
          <p:nvPr/>
        </p:nvSpPr>
        <p:spPr>
          <a:xfrm>
            <a:off x="5934456" y="196596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调用能力承接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LUI 商卡 / GUI</a:t>
            </a:r>
            <a:endParaRPr lang="en-US" sz="1300" dirty="0"/>
          </a:p>
        </p:txBody>
      </p:sp>
      <p:sp>
        <p:nvSpPr>
          <p:cNvPr id="16" name="mine-label"/>
          <p:cNvSpPr txBox="1"/>
          <p:nvPr/>
        </p:nvSpPr>
        <p:spPr>
          <a:xfrm>
            <a:off x="2267712" y="16550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7A1A"/>
                </a:solidFill>
              </a:rPr>
              <a:t>我负责</a:t>
            </a:r>
            <a:endParaRPr lang="en-US" sz="1200" dirty="0"/>
          </a:p>
        </p:txBody>
      </p:sp>
      <p:sp>
        <p:nvSpPr>
          <p:cNvPr id="17" name="refuse-arrow"/>
          <p:cNvSpPr/>
          <p:nvPr/>
        </p:nvSpPr>
        <p:spPr>
          <a:xfrm>
            <a:off x="4718304" y="2889504"/>
            <a:ext cx="201168" cy="274320"/>
          </a:xfrm>
          <a:prstGeom prst="downArrow">
            <a:avLst/>
          </a:prstGeom>
          <a:solidFill>
            <a:srgbClr val="8FB8F5"/>
          </a:solidFill>
          <a:ln w="12700">
            <a:solidFill>
              <a:srgbClr val="8FB8F5"/>
            </a:solidFill>
            <a:prstDash val="solid"/>
          </a:ln>
        </p:spPr>
      </p:sp>
      <p:sp>
        <p:nvSpPr>
          <p:cNvPr id="18" name="refuse-box"/>
          <p:cNvSpPr/>
          <p:nvPr/>
        </p:nvSpPr>
        <p:spPr>
          <a:xfrm>
            <a:off x="3575304" y="3218688"/>
            <a:ext cx="2487168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refuse-text"/>
          <p:cNvSpPr txBox="1"/>
          <p:nvPr/>
        </p:nvSpPr>
        <p:spPr>
          <a:xfrm>
            <a:off x="3575304" y="3218688"/>
            <a:ext cx="2487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无法承接 → 拒答，退回问道兜底</a:t>
            </a:r>
            <a:endParaRPr lang="en-US" sz="1200" dirty="0"/>
          </a:p>
        </p:txBody>
      </p:sp>
      <p:sp>
        <p:nvSpPr>
          <p:cNvPr id="20" name="goal-label"/>
          <p:cNvSpPr txBox="1"/>
          <p:nvPr/>
        </p:nvSpPr>
        <p:spPr>
          <a:xfrm>
            <a:off x="786384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87DFA"/>
                </a:solidFill>
              </a:rPr>
              <a:t>项目目标与团队做法</a:t>
            </a:r>
            <a:endParaRPr lang="en-US" sz="1600" dirty="0"/>
          </a:p>
        </p:txBody>
      </p:sp>
      <p:graphicFrame>
        <p:nvGraphicFramePr>
          <p:cNvPr id="5" name="goal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920240"/>
          <a:ext cx="386791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6334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目标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7D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团队做法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7DF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315E"/>
                          </a:solidFill>
                        </a:rPr>
                        <a:t>提升承接率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</a:rPr>
                        <a:t>细化意图识别；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</a:rPr>
                        <a:t>扩充可回答范围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315E"/>
                          </a:solidFill>
                        </a:rPr>
                        <a:t>促进出票转化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</a:rPr>
                        <a:t>LUI 车次商卡；GUI 直接操作列表页；首页和列表页语音悬浮球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F"/>
                    </a:solidFill>
                  </a:tcPr>
                </a:tc>
              </a:tr>
            </a:tbl>
          </a:graphicData>
        </a:graphic>
      </p:graphicFrame>
      <p:sp>
        <p:nvSpPr>
          <p:cNvPr id="22" name="tl-label"/>
          <p:cNvSpPr txBox="1"/>
          <p:nvPr/>
        </p:nvSpPr>
        <p:spPr>
          <a:xfrm>
            <a:off x="45720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87DFA"/>
                </a:solidFill>
              </a:rPr>
              <a:t>专项进展</a:t>
            </a:r>
            <a:endParaRPr lang="en-US" sz="1600" dirty="0"/>
          </a:p>
        </p:txBody>
      </p:sp>
      <p:sp>
        <p:nvSpPr>
          <p:cNvPr id="23" name="tl-axis"/>
          <p:cNvSpPr/>
          <p:nvPr/>
        </p:nvSpPr>
        <p:spPr>
          <a:xfrm>
            <a:off x="822960" y="5074920"/>
            <a:ext cx="10515600" cy="0"/>
          </a:xfrm>
          <a:prstGeom prst="line">
            <a:avLst/>
          </a:prstGeom>
          <a:noFill/>
          <a:ln w="25400">
            <a:solidFill>
              <a:srgbClr val="8FB8F5"/>
            </a:solidFill>
            <a:prstDash val="solid"/>
            <a:tailEnd type="triangle"/>
          </a:ln>
        </p:spPr>
      </p:sp>
      <p:sp>
        <p:nvSpPr>
          <p:cNvPr id="24" name="tl-dot-0"/>
          <p:cNvSpPr/>
          <p:nvPr/>
        </p:nvSpPr>
        <p:spPr>
          <a:xfrm>
            <a:off x="877824" y="4992624"/>
            <a:ext cx="164592" cy="164592"/>
          </a:xfrm>
          <a:prstGeom prst="ellipse">
            <a:avLst/>
          </a:prstGeom>
          <a:solidFill>
            <a:srgbClr val="287D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l-date-0"/>
          <p:cNvSpPr txBox="1"/>
          <p:nvPr/>
        </p:nvSpPr>
        <p:spPr>
          <a:xfrm>
            <a:off x="137160" y="4507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3 月</a:t>
            </a:r>
            <a:endParaRPr lang="en-US" sz="1300" dirty="0"/>
          </a:p>
        </p:txBody>
      </p:sp>
      <p:sp>
        <p:nvSpPr>
          <p:cNvPr id="26" name="tl-text-0"/>
          <p:cNvSpPr txBox="1"/>
          <p:nvPr/>
        </p:nvSpPr>
        <p:spPr>
          <a:xfrm>
            <a:off x="91440" y="52395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与问道对接，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项目启动</a:t>
            </a:r>
            <a:endParaRPr lang="en-US" sz="1100" dirty="0"/>
          </a:p>
        </p:txBody>
      </p:sp>
      <p:sp>
        <p:nvSpPr>
          <p:cNvPr id="27" name="tl-dot-1"/>
          <p:cNvSpPr/>
          <p:nvPr/>
        </p:nvSpPr>
        <p:spPr>
          <a:xfrm>
            <a:off x="2871216" y="4992624"/>
            <a:ext cx="164592" cy="164592"/>
          </a:xfrm>
          <a:prstGeom prst="ellipse">
            <a:avLst/>
          </a:prstGeom>
          <a:solidFill>
            <a:srgbClr val="287D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l-date-1"/>
          <p:cNvSpPr txBox="1"/>
          <p:nvPr/>
        </p:nvSpPr>
        <p:spPr>
          <a:xfrm>
            <a:off x="2130552" y="4507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6.8</a:t>
            </a:r>
            <a:endParaRPr lang="en-US" sz="1300" dirty="0"/>
          </a:p>
        </p:txBody>
      </p:sp>
      <p:sp>
        <p:nvSpPr>
          <p:cNvPr id="29" name="tl-text-1"/>
          <p:cNvSpPr txBox="1"/>
          <p:nvPr/>
        </p:nvSpPr>
        <p:spPr>
          <a:xfrm>
            <a:off x="2084832" y="52395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一期接入问道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订前线路查询</a:t>
            </a:r>
            <a:endParaRPr lang="en-US" sz="1100" dirty="0"/>
          </a:p>
        </p:txBody>
      </p:sp>
      <p:sp>
        <p:nvSpPr>
          <p:cNvPr id="30" name="tl-dot-2"/>
          <p:cNvSpPr/>
          <p:nvPr/>
        </p:nvSpPr>
        <p:spPr>
          <a:xfrm>
            <a:off x="4864608" y="4992624"/>
            <a:ext cx="164592" cy="164592"/>
          </a:xfrm>
          <a:prstGeom prst="ellipse">
            <a:avLst/>
          </a:prstGeom>
          <a:solidFill>
            <a:srgbClr val="287D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l-date-2"/>
          <p:cNvSpPr txBox="1"/>
          <p:nvPr/>
        </p:nvSpPr>
        <p:spPr>
          <a:xfrm>
            <a:off x="4123944" y="4507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7.15</a:t>
            </a:r>
            <a:endParaRPr lang="en-US" sz="1300" dirty="0"/>
          </a:p>
        </p:txBody>
      </p:sp>
      <p:sp>
        <p:nvSpPr>
          <p:cNvPr id="32" name="tl-text-2"/>
          <p:cNvSpPr txBox="1"/>
          <p:nvPr/>
        </p:nvSpPr>
        <p:spPr>
          <a:xfrm>
            <a:off x="4078224" y="52395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一期全量</a:t>
            </a:r>
            <a:endParaRPr lang="en-US" sz="1100" dirty="0"/>
          </a:p>
        </p:txBody>
      </p:sp>
      <p:sp>
        <p:nvSpPr>
          <p:cNvPr id="33" name="tl-dot-3"/>
          <p:cNvSpPr/>
          <p:nvPr/>
        </p:nvSpPr>
        <p:spPr>
          <a:xfrm>
            <a:off x="6858000" y="4992624"/>
            <a:ext cx="164592" cy="164592"/>
          </a:xfrm>
          <a:prstGeom prst="ellipse">
            <a:avLst/>
          </a:prstGeom>
          <a:solidFill>
            <a:srgbClr val="287D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l-date-3"/>
          <p:cNvSpPr txBox="1"/>
          <p:nvPr/>
        </p:nvSpPr>
        <p:spPr>
          <a:xfrm>
            <a:off x="6117336" y="4507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7.16</a:t>
            </a:r>
            <a:endParaRPr lang="en-US" sz="1300" dirty="0"/>
          </a:p>
        </p:txBody>
      </p:sp>
      <p:sp>
        <p:nvSpPr>
          <p:cNvPr id="35" name="tl-text-3"/>
          <p:cNvSpPr txBox="1"/>
          <p:nvPr/>
        </p:nvSpPr>
        <p:spPr>
          <a:xfrm>
            <a:off x="6071616" y="52395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二期接入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语音助手 + GUI</a:t>
            </a:r>
            <a:endParaRPr lang="en-US" sz="1100" dirty="0"/>
          </a:p>
        </p:txBody>
      </p:sp>
      <p:sp>
        <p:nvSpPr>
          <p:cNvPr id="36" name="tl-dot-4"/>
          <p:cNvSpPr/>
          <p:nvPr/>
        </p:nvSpPr>
        <p:spPr>
          <a:xfrm>
            <a:off x="8851392" y="4992624"/>
            <a:ext cx="164592" cy="164592"/>
          </a:xfrm>
          <a:prstGeom prst="ellipse">
            <a:avLst/>
          </a:prstGeom>
          <a:solidFill>
            <a:srgbClr val="287D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l-date-4"/>
          <p:cNvSpPr txBox="1"/>
          <p:nvPr/>
        </p:nvSpPr>
        <p:spPr>
          <a:xfrm>
            <a:off x="8110728" y="4507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8.10</a:t>
            </a:r>
            <a:endParaRPr lang="en-US" sz="1300" dirty="0"/>
          </a:p>
        </p:txBody>
      </p:sp>
      <p:sp>
        <p:nvSpPr>
          <p:cNvPr id="38" name="tl-text-4"/>
          <p:cNvSpPr txBox="1"/>
          <p:nvPr/>
        </p:nvSpPr>
        <p:spPr>
          <a:xfrm>
            <a:off x="8065008" y="52395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问道调整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分发策略</a:t>
            </a:r>
            <a:endParaRPr lang="en-US" sz="1100" dirty="0"/>
          </a:p>
        </p:txBody>
      </p:sp>
      <p:sp>
        <p:nvSpPr>
          <p:cNvPr id="39" name="tl-dot-5"/>
          <p:cNvSpPr/>
          <p:nvPr/>
        </p:nvSpPr>
        <p:spPr>
          <a:xfrm>
            <a:off x="10844784" y="4992624"/>
            <a:ext cx="164592" cy="164592"/>
          </a:xfrm>
          <a:prstGeom prst="ellipse">
            <a:avLst/>
          </a:prstGeom>
          <a:solidFill>
            <a:srgbClr val="287D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l-date-5"/>
          <p:cNvSpPr txBox="1"/>
          <p:nvPr/>
        </p:nvSpPr>
        <p:spPr>
          <a:xfrm>
            <a:off x="10104120" y="4507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8 月中</a:t>
            </a:r>
            <a:endParaRPr lang="en-US" sz="1300" dirty="0"/>
          </a:p>
        </p:txBody>
      </p:sp>
      <p:sp>
        <p:nvSpPr>
          <p:cNvPr id="41" name="tl-text-5"/>
          <p:cNvSpPr txBox="1"/>
          <p:nvPr/>
        </p:nvSpPr>
        <p:spPr>
          <a:xfrm>
            <a:off x="10058400" y="523951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完成交接</a:t>
            </a:r>
            <a:endParaRPr lang="en-US" sz="1100" dirty="0"/>
          </a:p>
        </p:txBody>
      </p:sp>
      <p:sp>
        <p:nvSpPr>
          <p:cNvPr id="42" name="mine-box-0"/>
          <p:cNvSpPr/>
          <p:nvPr/>
        </p:nvSpPr>
        <p:spPr>
          <a:xfrm>
            <a:off x="1042416" y="5833872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1E6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3" name="mine-text-0"/>
          <p:cNvSpPr txBox="1"/>
          <p:nvPr/>
        </p:nvSpPr>
        <p:spPr>
          <a:xfrm>
            <a:off x="1042416" y="5833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7A1A"/>
                </a:solidFill>
              </a:rPr>
              <a:t>上线前：意图识别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7A1A"/>
                </a:solidFill>
              </a:rPr>
              <a:t>交叉验证与框架修订</a:t>
            </a:r>
            <a:endParaRPr lang="en-US" sz="1050" dirty="0"/>
          </a:p>
        </p:txBody>
      </p:sp>
      <p:sp>
        <p:nvSpPr>
          <p:cNvPr id="44" name="mine-box-1"/>
          <p:cNvSpPr/>
          <p:nvPr/>
        </p:nvSpPr>
        <p:spPr>
          <a:xfrm>
            <a:off x="3035808" y="5833872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1E6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5" name="mine-text-1"/>
          <p:cNvSpPr txBox="1"/>
          <p:nvPr/>
        </p:nvSpPr>
        <p:spPr>
          <a:xfrm>
            <a:off x="3035808" y="5833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7A1A"/>
                </a:solidFill>
              </a:rPr>
              <a:t>上线首日：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7A1A"/>
                </a:solidFill>
              </a:rPr>
              <a:t>拒答核查</a:t>
            </a:r>
            <a:endParaRPr lang="en-US" sz="1050" dirty="0"/>
          </a:p>
        </p:txBody>
      </p:sp>
      <p:sp>
        <p:nvSpPr>
          <p:cNvPr id="46" name="mine-box-2"/>
          <p:cNvSpPr/>
          <p:nvPr/>
        </p:nvSpPr>
        <p:spPr>
          <a:xfrm>
            <a:off x="7022592" y="5833872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1E6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47" name="mine-text-2"/>
          <p:cNvSpPr txBox="1"/>
          <p:nvPr/>
        </p:nvSpPr>
        <p:spPr>
          <a:xfrm>
            <a:off x="7022592" y="58338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7A1A"/>
                </a:solidFill>
              </a:rPr>
              <a:t>7.22–8.5：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7A1A"/>
                </a:solidFill>
              </a:rPr>
              <a:t>非火车类拒答复核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2、主要项目 · AI 专项：意图识别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意图识别是承接的基础：分类准，问题才能调用合适的能力回答</a:t>
            </a:r>
            <a:endParaRPr lang="en-US" sz="1700" dirty="0"/>
          </a:p>
        </p:txBody>
      </p:sp>
      <p:sp>
        <p:nvSpPr>
          <p:cNvPr id="4" name="left-card"/>
          <p:cNvSpPr/>
          <p:nvPr/>
        </p:nvSpPr>
        <p:spPr>
          <a:xfrm>
            <a:off x="457200" y="1554480"/>
            <a:ext cx="5486400" cy="4663440"/>
          </a:xfrm>
          <a:prstGeom prst="roundRect">
            <a:avLst>
              <a:gd name="adj" fmla="val 1569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left-head"/>
          <p:cNvSpPr txBox="1"/>
          <p:nvPr/>
        </p:nvSpPr>
        <p:spPr>
          <a:xfrm>
            <a:off x="7315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87DFA"/>
                </a:solidFill>
              </a:rPr>
              <a:t>我做了什么（一期上线前）</a:t>
            </a:r>
            <a:endParaRPr lang="en-US" sz="1600" dirty="0"/>
          </a:p>
        </p:txBody>
      </p:sp>
      <p:sp>
        <p:nvSpPr>
          <p:cNvPr id="6" name="step-dot-0"/>
          <p:cNvSpPr/>
          <p:nvPr/>
        </p:nvSpPr>
        <p:spPr>
          <a:xfrm>
            <a:off x="731520" y="2240280"/>
            <a:ext cx="457200" cy="457200"/>
          </a:xfrm>
          <a:prstGeom prst="ellipse">
            <a:avLst/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7" name="step-num-0"/>
          <p:cNvSpPr txBox="1"/>
          <p:nvPr/>
        </p:nvSpPr>
        <p:spPr>
          <a:xfrm>
            <a:off x="73152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tep-head-0"/>
          <p:cNvSpPr txBox="1"/>
          <p:nvPr/>
        </p:nvSpPr>
        <p:spPr>
          <a:xfrm>
            <a:off x="1371600" y="222199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315E"/>
                </a:solidFill>
              </a:rPr>
              <a:t>交叉对比</a:t>
            </a:r>
            <a:endParaRPr lang="en-US" sz="1400" dirty="0"/>
          </a:p>
        </p:txBody>
      </p:sp>
      <p:sp>
        <p:nvSpPr>
          <p:cNvPr id="9" name="step-body-0"/>
          <p:cNvSpPr txBox="1"/>
          <p:nvPr/>
        </p:nvSpPr>
        <p:spPr>
          <a:xfrm>
            <a:off x="1371600" y="24963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对比 1000 余条线上 query 中 Agent 与算法的分类结果</a:t>
            </a:r>
            <a:endParaRPr lang="en-US" sz="1200" dirty="0"/>
          </a:p>
        </p:txBody>
      </p:sp>
      <p:sp>
        <p:nvSpPr>
          <p:cNvPr id="10" name="step-dot-1"/>
          <p:cNvSpPr/>
          <p:nvPr/>
        </p:nvSpPr>
        <p:spPr>
          <a:xfrm>
            <a:off x="731520" y="2990088"/>
            <a:ext cx="457200" cy="457200"/>
          </a:xfrm>
          <a:prstGeom prst="ellipse">
            <a:avLst/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11" name="step-num-1"/>
          <p:cNvSpPr txBox="1"/>
          <p:nvPr/>
        </p:nvSpPr>
        <p:spPr>
          <a:xfrm>
            <a:off x="73152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tep-head-1"/>
          <p:cNvSpPr txBox="1"/>
          <p:nvPr/>
        </p:nvSpPr>
        <p:spPr>
          <a:xfrm>
            <a:off x="1371600" y="2971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315E"/>
                </a:solidFill>
              </a:rPr>
              <a:t>定位缺口</a:t>
            </a:r>
            <a:endParaRPr lang="en-US" sz="1400" dirty="0"/>
          </a:p>
        </p:txBody>
      </p:sp>
      <p:sp>
        <p:nvSpPr>
          <p:cNvPr id="13" name="step-body-1"/>
          <p:cNvSpPr txBox="1"/>
          <p:nvPr/>
        </p:nvSpPr>
        <p:spPr>
          <a:xfrm>
            <a:off x="1371600" y="3246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找出业务标准明确、但判定规则没有覆盖的场景</a:t>
            </a:r>
            <a:endParaRPr lang="en-US" sz="1200" dirty="0"/>
          </a:p>
        </p:txBody>
      </p:sp>
      <p:sp>
        <p:nvSpPr>
          <p:cNvPr id="14" name="step-dot-2"/>
          <p:cNvSpPr/>
          <p:nvPr/>
        </p:nvSpPr>
        <p:spPr>
          <a:xfrm>
            <a:off x="731520" y="3739896"/>
            <a:ext cx="457200" cy="457200"/>
          </a:xfrm>
          <a:prstGeom prst="ellipse">
            <a:avLst/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15" name="step-num-2"/>
          <p:cNvSpPr txBox="1"/>
          <p:nvPr/>
        </p:nvSpPr>
        <p:spPr>
          <a:xfrm>
            <a:off x="731520" y="3739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tep-head-2"/>
          <p:cNvSpPr txBox="1"/>
          <p:nvPr/>
        </p:nvSpPr>
        <p:spPr>
          <a:xfrm>
            <a:off x="1371600" y="37216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315E"/>
                </a:solidFill>
              </a:rPr>
              <a:t>修订框架</a:t>
            </a:r>
            <a:endParaRPr lang="en-US" sz="1400" dirty="0"/>
          </a:p>
        </p:txBody>
      </p:sp>
      <p:sp>
        <p:nvSpPr>
          <p:cNvPr id="17" name="step-body-2"/>
          <p:cNvSpPr txBox="1"/>
          <p:nvPr/>
        </p:nvSpPr>
        <p:spPr>
          <a:xfrm>
            <a:off x="1371600" y="39959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补齐判定规则，修订意图识别框架并多轮验证</a:t>
            </a:r>
            <a:endParaRPr lang="en-US" sz="1200" dirty="0"/>
          </a:p>
        </p:txBody>
      </p:sp>
      <p:sp>
        <p:nvSpPr>
          <p:cNvPr id="18" name="kpi-card"/>
          <p:cNvSpPr/>
          <p:nvPr/>
        </p:nvSpPr>
        <p:spPr>
          <a:xfrm>
            <a:off x="731520" y="4617720"/>
            <a:ext cx="49377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kpi-label"/>
          <p:cNvSpPr txBox="1"/>
          <p:nvPr/>
        </p:nvSpPr>
        <p:spPr>
          <a:xfrm>
            <a:off x="96012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757"/>
                </a:solidFill>
              </a:rPr>
              <a:t>意图识别准确率</a:t>
            </a:r>
            <a:endParaRPr lang="en-US" sz="1300" dirty="0"/>
          </a:p>
        </p:txBody>
      </p:sp>
      <p:sp>
        <p:nvSpPr>
          <p:cNvPr id="20" name="kpi-value"/>
          <p:cNvSpPr txBox="1"/>
          <p:nvPr/>
        </p:nvSpPr>
        <p:spPr>
          <a:xfrm>
            <a:off x="960120" y="50749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87DFA"/>
                </a:solidFill>
              </a:rPr>
              <a:t>94.6%  →  98%</a:t>
            </a:r>
            <a:endParaRPr lang="en-US" sz="4000" dirty="0"/>
          </a:p>
        </p:txBody>
      </p:sp>
      <p:sp>
        <p:nvSpPr>
          <p:cNvPr id="21" name="right-head"/>
          <p:cNvSpPr txBox="1"/>
          <p:nvPr/>
        </p:nvSpPr>
        <p:spPr>
          <a:xfrm>
            <a:off x="6309360" y="17373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87DFA"/>
                </a:solidFill>
              </a:rPr>
              <a:t>上线后：一期实验组 vs 问道 Agent</a:t>
            </a:r>
            <a:endParaRPr lang="en-US" sz="1600" dirty="0"/>
          </a:p>
        </p:txBody>
      </p:sp>
      <p:sp>
        <p:nvSpPr>
          <p:cNvPr id="22" name="right-cap"/>
          <p:cNvSpPr txBox="1"/>
          <p:nvPr/>
        </p:nvSpPr>
        <p:spPr>
          <a:xfrm>
            <a:off x="6309360" y="20848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</a:rPr>
              <a:t>实验周期 6.11–7.7，各指标 lift</a:t>
            </a:r>
            <a:endParaRPr lang="en-US" sz="1100" dirty="0"/>
          </a:p>
        </p:txBody>
      </p:sp>
      <p:graphicFrame>
        <p:nvGraphicFramePr>
          <p:cNvPr id="23" name="lift-chart" descr=""/>
          <p:cNvGraphicFramePr/>
          <p:nvPr/>
        </p:nvGraphicFramePr>
        <p:xfrm>
          <a:off x="6217920" y="237744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concl-card"/>
          <p:cNvSpPr/>
          <p:nvPr/>
        </p:nvSpPr>
        <p:spPr>
          <a:xfrm>
            <a:off x="6309360" y="5669280"/>
            <a:ext cx="5394960" cy="548640"/>
          </a:xfrm>
          <a:prstGeom prst="roundRect">
            <a:avLst>
              <a:gd name="adj" fmla="val 13333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5" name="concl-text"/>
          <p:cNvSpPr txBox="1"/>
          <p:nvPr/>
        </p:nvSpPr>
        <p:spPr>
          <a:xfrm>
            <a:off x="6492240" y="56692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从用户行为侧面印证了意图识别工作的有效性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2、主要项目 · AI 专项：拒答治理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一期上线时拒答率 </a:t>
            </a:r>
            <a:pPr algn="l" indent="0" marL="0">
              <a:buNone/>
            </a:pPr>
            <a:r>
              <a:rPr lang="en-US" sz="1700" b="1" dirty="0">
                <a:solidFill>
                  <a:srgbClr val="FF7A1A"/>
                </a:solidFill>
              </a:rPr>
              <a:t>50.3%</a:t>
            </a:r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：一部分问题被错误识别为当前不支持的类型，一部分是问道错误分发的非火车问题</a:t>
            </a:r>
            <a:endParaRPr lang="en-US" sz="1700" dirty="0"/>
          </a:p>
        </p:txBody>
      </p:sp>
      <p:sp>
        <p:nvSpPr>
          <p:cNvPr id="4" name="col-head-bg-0"/>
          <p:cNvSpPr/>
          <p:nvPr/>
        </p:nvSpPr>
        <p:spPr>
          <a:xfrm>
            <a:off x="457200" y="1508760"/>
            <a:ext cx="5486400" cy="502920"/>
          </a:xfrm>
          <a:prstGeom prst="rect">
            <a:avLst/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5" name="col-head-0"/>
          <p:cNvSpPr txBox="1"/>
          <p:nvPr/>
        </p:nvSpPr>
        <p:spPr>
          <a:xfrm>
            <a:off x="457200" y="1508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思路一：细化火车的意图识别分类</a:t>
            </a:r>
            <a:endParaRPr lang="en-US" sz="1700" dirty="0"/>
          </a:p>
        </p:txBody>
      </p:sp>
      <p:sp>
        <p:nvSpPr>
          <p:cNvPr id="6" name="col-head-bg-1"/>
          <p:cNvSpPr/>
          <p:nvPr/>
        </p:nvSpPr>
        <p:spPr>
          <a:xfrm>
            <a:off x="6245352" y="1508760"/>
            <a:ext cx="5486400" cy="502920"/>
          </a:xfrm>
          <a:prstGeom prst="rect">
            <a:avLst/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7" name="col-head-1"/>
          <p:cNvSpPr txBox="1"/>
          <p:nvPr/>
        </p:nvSpPr>
        <p:spPr>
          <a:xfrm>
            <a:off x="6245352" y="15087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思路二：优化问道的分发策略</a:t>
            </a:r>
            <a:endParaRPr lang="en-US" sz="1700" dirty="0"/>
          </a:p>
        </p:txBody>
      </p:sp>
      <p:sp>
        <p:nvSpPr>
          <p:cNvPr id="8" name="c1-do-h"/>
          <p:cNvSpPr txBox="1"/>
          <p:nvPr/>
        </p:nvSpPr>
        <p:spPr>
          <a:xfrm>
            <a:off x="54864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315E"/>
                </a:solidFill>
              </a:rPr>
              <a:t>做法</a:t>
            </a:r>
            <a:endParaRPr lang="en-US" sz="1400" dirty="0"/>
          </a:p>
        </p:txBody>
      </p:sp>
      <p:sp>
        <p:nvSpPr>
          <p:cNvPr id="9" name="c1-do"/>
          <p:cNvSpPr txBox="1"/>
          <p:nvPr/>
        </p:nvSpPr>
        <p:spPr>
          <a:xfrm>
            <a:off x="548640" y="25146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4757"/>
                </a:solidFill>
              </a:rPr>
              <a:t>核查火车票 Agent 上线首日 600 余条拒答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4757"/>
                </a:solidFill>
              </a:rPr>
              <a:t>排查其中出现意图识别错误的场景，修订分类规则</a:t>
            </a:r>
            <a:endParaRPr lang="en-US" sz="1300" dirty="0"/>
          </a:p>
        </p:txBody>
      </p:sp>
      <p:sp>
        <p:nvSpPr>
          <p:cNvPr id="10" name="c1-res-card"/>
          <p:cNvSpPr/>
          <p:nvPr/>
        </p:nvSpPr>
        <p:spPr>
          <a:xfrm>
            <a:off x="457200" y="3520440"/>
            <a:ext cx="5486400" cy="2697480"/>
          </a:xfrm>
          <a:prstGeom prst="roundRect">
            <a:avLst>
              <a:gd name="adj" fmla="val 271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1" name="c1-res-h"/>
          <p:cNvSpPr txBox="1"/>
          <p:nvPr/>
        </p:nvSpPr>
        <p:spPr>
          <a:xfrm>
            <a:off x="731520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7DFA"/>
                </a:solidFill>
              </a:rPr>
              <a:t>结果</a:t>
            </a:r>
            <a:endParaRPr lang="en-US" sz="1400" dirty="0"/>
          </a:p>
        </p:txBody>
      </p:sp>
      <p:sp>
        <p:nvSpPr>
          <p:cNvPr id="12" name="c1-kpi-label"/>
          <p:cNvSpPr txBox="1"/>
          <p:nvPr/>
        </p:nvSpPr>
        <p:spPr>
          <a:xfrm>
            <a:off x="731520" y="4069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757"/>
                </a:solidFill>
              </a:rPr>
              <a:t>由于意图识别分类错误导致的拒答</a:t>
            </a:r>
            <a:endParaRPr lang="en-US" sz="1300" dirty="0"/>
          </a:p>
        </p:txBody>
      </p:sp>
      <p:sp>
        <p:nvSpPr>
          <p:cNvPr id="13" name="c1-kpi"/>
          <p:cNvSpPr txBox="1"/>
          <p:nvPr/>
        </p:nvSpPr>
        <p:spPr>
          <a:xfrm>
            <a:off x="731520" y="44805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87DFA"/>
                </a:solidFill>
              </a:rPr>
              <a:t>约 5.1%  →  &lt;1%</a:t>
            </a:r>
            <a:endParaRPr lang="en-US" sz="4000" dirty="0"/>
          </a:p>
        </p:txBody>
      </p:sp>
      <p:sp>
        <p:nvSpPr>
          <p:cNvPr id="14" name="c2-do-h"/>
          <p:cNvSpPr txBox="1"/>
          <p:nvPr/>
        </p:nvSpPr>
        <p:spPr>
          <a:xfrm>
            <a:off x="6336792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5315E"/>
                </a:solidFill>
              </a:rPr>
              <a:t>做法</a:t>
            </a:r>
            <a:endParaRPr lang="en-US" sz="1400" dirty="0"/>
          </a:p>
        </p:txBody>
      </p:sp>
      <p:sp>
        <p:nvSpPr>
          <p:cNvPr id="15" name="c2-do"/>
          <p:cNvSpPr txBox="1"/>
          <p:nvPr/>
        </p:nvSpPr>
        <p:spPr>
          <a:xfrm>
            <a:off x="6336792" y="25146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4757"/>
                </a:solidFill>
              </a:rPr>
              <a:t>目标：减少非火车问题的分发，同时避免误伤当前尚未支持、后续计划支持的火车问题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D4757"/>
                </a:solidFill>
              </a:rPr>
              <a:t>复核 7.22–8.5 的 1000 余条非火车类拒答，逐条判断归属，整理火车问题的边界标准</a:t>
            </a:r>
            <a:endParaRPr lang="en-US" sz="1300" dirty="0"/>
          </a:p>
        </p:txBody>
      </p:sp>
      <p:sp>
        <p:nvSpPr>
          <p:cNvPr id="16" name="c2-res-card"/>
          <p:cNvSpPr/>
          <p:nvPr/>
        </p:nvSpPr>
        <p:spPr>
          <a:xfrm>
            <a:off x="6245352" y="3520440"/>
            <a:ext cx="5486400" cy="2697480"/>
          </a:xfrm>
          <a:prstGeom prst="roundRect">
            <a:avLst>
              <a:gd name="adj" fmla="val 271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7" name="c2-res-h"/>
          <p:cNvSpPr txBox="1"/>
          <p:nvPr/>
        </p:nvSpPr>
        <p:spPr>
          <a:xfrm>
            <a:off x="6519672" y="3657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7DFA"/>
                </a:solidFill>
              </a:rPr>
              <a:t>结果</a:t>
            </a:r>
            <a:endParaRPr lang="en-US" sz="1400" dirty="0"/>
          </a:p>
        </p:txBody>
      </p:sp>
      <p:sp>
        <p:nvSpPr>
          <p:cNvPr id="18" name="c2-kpi-label"/>
          <p:cNvSpPr txBox="1"/>
          <p:nvPr/>
        </p:nvSpPr>
        <p:spPr>
          <a:xfrm>
            <a:off x="6519672" y="4069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757"/>
                </a:solidFill>
              </a:rPr>
              <a:t>分给火车的问题中，非火车问题占比</a:t>
            </a:r>
            <a:endParaRPr lang="en-US" sz="1300" dirty="0"/>
          </a:p>
        </p:txBody>
      </p:sp>
      <p:sp>
        <p:nvSpPr>
          <p:cNvPr id="19" name="c2-kpi"/>
          <p:cNvSpPr txBox="1"/>
          <p:nvPr/>
        </p:nvSpPr>
        <p:spPr>
          <a:xfrm>
            <a:off x="6519672" y="4663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87DFA"/>
                </a:solidFill>
              </a:rPr>
              <a:t>10% → 4.6%</a:t>
            </a:r>
            <a:endParaRPr lang="en-US" sz="2800" dirty="0"/>
          </a:p>
        </p:txBody>
      </p:sp>
      <p:sp>
        <p:nvSpPr>
          <p:cNvPr id="20" name="c2-note"/>
          <p:cNvSpPr txBox="1"/>
          <p:nvPr/>
        </p:nvSpPr>
        <p:spPr>
          <a:xfrm>
            <a:off x="6519672" y="534924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</a:rPr>
              <a:t>剩余拒答集中于 Agent 能力缺口，可直接作为下一步能力建设的依据</a:t>
            </a:r>
            <a:endParaRPr lang="en-US" sz="1100" dirty="0"/>
          </a:p>
        </p:txBody>
      </p:sp>
      <p:sp>
        <p:nvSpPr>
          <p:cNvPr id="21" name="c2-chart-cap"/>
          <p:cNvSpPr txBox="1"/>
          <p:nvPr/>
        </p:nvSpPr>
        <p:spPr>
          <a:xfrm>
            <a:off x="9235440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D4757"/>
                </a:solidFill>
              </a:rPr>
              <a:t>逐日非火车问题占比   </a:t>
            </a:r>
            <a:pPr indent="0" marL="0">
              <a:buNone/>
            </a:pPr>
            <a:r>
              <a:rPr lang="en-US" sz="1000" b="1" dirty="0">
                <a:solidFill>
                  <a:srgbClr val="FF7A1A"/>
                </a:solidFill>
              </a:rPr>
              <a:t>8.10 问道调整分发</a:t>
            </a:r>
            <a:endParaRPr lang="en-US" sz="1000" dirty="0"/>
          </a:p>
        </p:txBody>
      </p:sp>
      <p:graphicFrame>
        <p:nvGraphicFramePr>
          <p:cNvPr id="22" name="c2-chart" descr=""/>
          <p:cNvGraphicFramePr/>
          <p:nvPr/>
        </p:nvGraphicFramePr>
        <p:xfrm>
          <a:off x="9098280" y="3977640"/>
          <a:ext cx="256032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2、主要项目 · 成功率专项：支付挽回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核心目标：挽回由支付风控导致的票量损失</a:t>
            </a:r>
            <a:endParaRPr lang="en-US" sz="1700" dirty="0"/>
          </a:p>
        </p:txBody>
      </p:sp>
      <p:sp>
        <p:nvSpPr>
          <p:cNvPr id="4" name="bg-chip"/>
          <p:cNvSpPr/>
          <p:nvPr/>
        </p:nvSpPr>
        <p:spPr>
          <a:xfrm>
            <a:off x="457200" y="1508760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5" name="bg-chip-t"/>
          <p:cNvSpPr txBox="1"/>
          <p:nvPr/>
        </p:nvSpPr>
        <p:spPr>
          <a:xfrm>
            <a:off x="457200" y="150876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背景</a:t>
            </a:r>
            <a:endParaRPr lang="en-US" sz="1300" dirty="0"/>
          </a:p>
        </p:txBody>
      </p:sp>
      <p:sp>
        <p:nvSpPr>
          <p:cNvPr id="6" name="bg-text"/>
          <p:cNvSpPr txBox="1"/>
          <p:nvPr/>
        </p:nvSpPr>
        <p:spPr>
          <a:xfrm>
            <a:off x="1325880" y="15087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757"/>
                </a:solidFill>
              </a:rPr>
              <a:t>抢票出票都要经过扣位成功后向 12306 支付；风控后只有支付宝订单能代付，其余订单需召回用户直付</a:t>
            </a:r>
            <a:endParaRPr lang="en-US" sz="1300" dirty="0"/>
          </a:p>
        </p:txBody>
      </p:sp>
      <p:sp>
        <p:nvSpPr>
          <p:cNvPr id="7" name="node-0"/>
          <p:cNvSpPr/>
          <p:nvPr/>
        </p:nvSpPr>
        <p:spPr>
          <a:xfrm>
            <a:off x="457200" y="214884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8" name="node-t-0"/>
          <p:cNvSpPr txBox="1"/>
          <p:nvPr/>
        </p:nvSpPr>
        <p:spPr>
          <a:xfrm>
            <a:off x="457200" y="2148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用户下单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预付 / 授权</a:t>
            </a:r>
            <a:endParaRPr lang="en-US" sz="1300" dirty="0"/>
          </a:p>
        </p:txBody>
      </p:sp>
      <p:sp>
        <p:nvSpPr>
          <p:cNvPr id="9" name="arrow-0"/>
          <p:cNvSpPr/>
          <p:nvPr/>
        </p:nvSpPr>
        <p:spPr>
          <a:xfrm>
            <a:off x="1984248" y="2414016"/>
            <a:ext cx="219456" cy="201168"/>
          </a:xfrm>
          <a:prstGeom prst="rightArrow">
            <a:avLst/>
          </a:prstGeom>
          <a:solidFill>
            <a:srgbClr val="8FB8F5"/>
          </a:solidFill>
          <a:ln w="12700">
            <a:solidFill>
              <a:srgbClr val="8FB8F5"/>
            </a:solidFill>
            <a:prstDash val="solid"/>
          </a:ln>
        </p:spPr>
      </p:sp>
      <p:sp>
        <p:nvSpPr>
          <p:cNvPr id="10" name="node-1"/>
          <p:cNvSpPr/>
          <p:nvPr/>
        </p:nvSpPr>
        <p:spPr>
          <a:xfrm>
            <a:off x="2267712" y="214884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1" name="node-t-1"/>
          <p:cNvSpPr txBox="1"/>
          <p:nvPr/>
        </p:nvSpPr>
        <p:spPr>
          <a:xfrm>
            <a:off x="2267712" y="2148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扣位成功</a:t>
            </a:r>
            <a:endParaRPr lang="en-US" sz="1300" dirty="0"/>
          </a:p>
        </p:txBody>
      </p:sp>
      <p:sp>
        <p:nvSpPr>
          <p:cNvPr id="12" name="arrow-1"/>
          <p:cNvSpPr/>
          <p:nvPr/>
        </p:nvSpPr>
        <p:spPr>
          <a:xfrm>
            <a:off x="3794760" y="2414016"/>
            <a:ext cx="219456" cy="201168"/>
          </a:xfrm>
          <a:prstGeom prst="rightArrow">
            <a:avLst/>
          </a:prstGeom>
          <a:solidFill>
            <a:srgbClr val="8FB8F5"/>
          </a:solidFill>
          <a:ln w="12700">
            <a:solidFill>
              <a:srgbClr val="8FB8F5"/>
            </a:solidFill>
            <a:prstDash val="solid"/>
          </a:ln>
        </p:spPr>
      </p:sp>
      <p:sp>
        <p:nvSpPr>
          <p:cNvPr id="13" name="node-2"/>
          <p:cNvSpPr/>
          <p:nvPr/>
        </p:nvSpPr>
        <p:spPr>
          <a:xfrm>
            <a:off x="4078224" y="214884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FFF1E6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14" name="node-t-2"/>
          <p:cNvSpPr txBox="1"/>
          <p:nvPr/>
        </p:nvSpPr>
        <p:spPr>
          <a:xfrm>
            <a:off x="4078224" y="2148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1A"/>
                </a:solidFill>
              </a:rPr>
              <a:t>向 12306 支付</a:t>
            </a:r>
            <a:endParaRPr lang="en-US" sz="1300" dirty="0"/>
          </a:p>
        </p:txBody>
      </p:sp>
      <p:sp>
        <p:nvSpPr>
          <p:cNvPr id="15" name="arrow-2"/>
          <p:cNvSpPr/>
          <p:nvPr/>
        </p:nvSpPr>
        <p:spPr>
          <a:xfrm>
            <a:off x="5605272" y="2414016"/>
            <a:ext cx="219456" cy="201168"/>
          </a:xfrm>
          <a:prstGeom prst="rightArrow">
            <a:avLst/>
          </a:prstGeom>
          <a:solidFill>
            <a:srgbClr val="8FB8F5"/>
          </a:solidFill>
          <a:ln w="12700">
            <a:solidFill>
              <a:srgbClr val="8FB8F5"/>
            </a:solidFill>
            <a:prstDash val="solid"/>
          </a:ln>
        </p:spPr>
      </p:sp>
      <p:sp>
        <p:nvSpPr>
          <p:cNvPr id="16" name="node-3"/>
          <p:cNvSpPr/>
          <p:nvPr/>
        </p:nvSpPr>
        <p:spPr>
          <a:xfrm>
            <a:off x="5888736" y="2148840"/>
            <a:ext cx="1463040" cy="731520"/>
          </a:xfrm>
          <a:prstGeom prst="roundRect">
            <a:avLst>
              <a:gd name="adj" fmla="val 1000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7" name="node-t-3"/>
          <p:cNvSpPr txBox="1"/>
          <p:nvPr/>
        </p:nvSpPr>
        <p:spPr>
          <a:xfrm>
            <a:off x="5888736" y="21488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出票</a:t>
            </a:r>
            <a:endParaRPr lang="en-US" sz="1300" dirty="0"/>
          </a:p>
        </p:txBody>
      </p:sp>
      <p:sp>
        <p:nvSpPr>
          <p:cNvPr id="18" name="split-stem"/>
          <p:cNvSpPr/>
          <p:nvPr/>
        </p:nvSpPr>
        <p:spPr>
          <a:xfrm>
            <a:off x="4809744" y="2880360"/>
            <a:ext cx="0" cy="228600"/>
          </a:xfrm>
          <a:prstGeom prst="line">
            <a:avLst/>
          </a:prstGeom>
          <a:noFill/>
          <a:ln w="19050">
            <a:solidFill>
              <a:srgbClr val="8FB8F5"/>
            </a:solidFill>
            <a:prstDash val="solid"/>
          </a:ln>
        </p:spPr>
      </p:sp>
      <p:sp>
        <p:nvSpPr>
          <p:cNvPr id="19" name="split-bar"/>
          <p:cNvSpPr/>
          <p:nvPr/>
        </p:nvSpPr>
        <p:spPr>
          <a:xfrm>
            <a:off x="2103120" y="3108960"/>
            <a:ext cx="3566160" cy="0"/>
          </a:xfrm>
          <a:prstGeom prst="line">
            <a:avLst/>
          </a:prstGeom>
          <a:noFill/>
          <a:ln w="19050">
            <a:solidFill>
              <a:srgbClr val="8FB8F5"/>
            </a:solidFill>
            <a:prstDash val="solid"/>
          </a:ln>
        </p:spPr>
      </p:sp>
      <p:sp>
        <p:nvSpPr>
          <p:cNvPr id="20" name="split-l"/>
          <p:cNvSpPr/>
          <p:nvPr/>
        </p:nvSpPr>
        <p:spPr>
          <a:xfrm>
            <a:off x="2103120" y="3108960"/>
            <a:ext cx="0" cy="201168"/>
          </a:xfrm>
          <a:prstGeom prst="line">
            <a:avLst/>
          </a:prstGeom>
          <a:noFill/>
          <a:ln w="19050">
            <a:solidFill>
              <a:srgbClr val="8FB8F5"/>
            </a:solidFill>
            <a:prstDash val="solid"/>
          </a:ln>
        </p:spPr>
      </p:sp>
      <p:sp>
        <p:nvSpPr>
          <p:cNvPr id="21" name="split-r"/>
          <p:cNvSpPr/>
          <p:nvPr/>
        </p:nvSpPr>
        <p:spPr>
          <a:xfrm>
            <a:off x="5669280" y="3108960"/>
            <a:ext cx="0" cy="201168"/>
          </a:xfrm>
          <a:prstGeom prst="line">
            <a:avLst/>
          </a:prstGeom>
          <a:noFill/>
          <a:ln w="19050">
            <a:solidFill>
              <a:srgbClr val="8FB8F5"/>
            </a:solidFill>
            <a:prstDash val="solid"/>
          </a:ln>
        </p:spPr>
      </p:sp>
      <p:sp>
        <p:nvSpPr>
          <p:cNvPr id="22" name="ok-box"/>
          <p:cNvSpPr/>
          <p:nvPr/>
        </p:nvSpPr>
        <p:spPr>
          <a:xfrm>
            <a:off x="457200" y="3310128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23" name="ok-text"/>
          <p:cNvSpPr txBox="1"/>
          <p:nvPr/>
        </p:nvSpPr>
        <p:spPr>
          <a:xfrm>
            <a:off x="594360" y="331012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7DFA"/>
                </a:solidFill>
              </a:rPr>
              <a:t>支付宝（非黑名单）订单 → 代付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4757"/>
                </a:solidFill>
              </a:rPr>
              <a:t>携程直接付款，无需用户在场</a:t>
            </a:r>
            <a:endParaRPr lang="en-US" sz="1300" dirty="0"/>
          </a:p>
        </p:txBody>
      </p:sp>
      <p:sp>
        <p:nvSpPr>
          <p:cNvPr id="24" name="bad-box"/>
          <p:cNvSpPr/>
          <p:nvPr/>
        </p:nvSpPr>
        <p:spPr>
          <a:xfrm>
            <a:off x="4023360" y="3310128"/>
            <a:ext cx="3291840" cy="868680"/>
          </a:xfrm>
          <a:prstGeom prst="roundRect">
            <a:avLst>
              <a:gd name="adj" fmla="val 8421"/>
            </a:avLst>
          </a:prstGeom>
          <a:solidFill>
            <a:srgbClr val="FFF1E6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5" name="bad-text"/>
          <p:cNvSpPr txBox="1"/>
          <p:nvPr/>
        </p:nvSpPr>
        <p:spPr>
          <a:xfrm>
            <a:off x="4160520" y="331012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1A"/>
                </a:solidFill>
              </a:rPr>
              <a:t>其他订单 → 代付失败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D4757"/>
                </a:solidFill>
              </a:rPr>
              <a:t>召回用户直付，存在流失漏斗</a:t>
            </a:r>
            <a:endParaRPr lang="en-US" sz="1300" dirty="0"/>
          </a:p>
        </p:txBody>
      </p:sp>
      <p:sp>
        <p:nvSpPr>
          <p:cNvPr id="26" name="trend-frame"/>
          <p:cNvSpPr/>
          <p:nvPr/>
        </p:nvSpPr>
        <p:spPr>
          <a:xfrm>
            <a:off x="7772400" y="1508760"/>
            <a:ext cx="3959352" cy="2697480"/>
          </a:xfrm>
          <a:prstGeom prst="rect">
            <a:avLst/>
          </a:prstGeom>
          <a:solidFill>
            <a:srgbClr val="FAFBFD"/>
          </a:solidFill>
          <a:ln w="15875">
            <a:solidFill>
              <a:srgbClr val="A9B4C2"/>
            </a:solidFill>
            <a:prstDash val="dash"/>
          </a:ln>
        </p:spPr>
      </p:sp>
      <p:sp>
        <p:nvSpPr>
          <p:cNvPr id="27" name="trend-label"/>
          <p:cNvSpPr txBox="1"/>
          <p:nvPr/>
        </p:nvSpPr>
        <p:spPr>
          <a:xfrm>
            <a:off x="7909560" y="1508760"/>
            <a:ext cx="368503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80"/>
                </a:solidFill>
              </a:rPr>
              <a:t>待补充：风控前后抢票成功率走势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80"/>
                </a:solidFill>
              </a:rPr>
              <a:t>（标注支付风控时间点、携程成功率优势收窄）</a:t>
            </a:r>
            <a:endParaRPr lang="en-US" sz="1200" dirty="0"/>
          </a:p>
        </p:txBody>
      </p:sp>
      <p:sp>
        <p:nvSpPr>
          <p:cNvPr id="28" name="st-chip"/>
          <p:cNvSpPr/>
          <p:nvPr/>
        </p:nvSpPr>
        <p:spPr>
          <a:xfrm>
            <a:off x="457200" y="4434840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29" name="st-chip-t"/>
          <p:cNvSpPr txBox="1"/>
          <p:nvPr/>
        </p:nvSpPr>
        <p:spPr>
          <a:xfrm>
            <a:off x="457200" y="443484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策略</a:t>
            </a:r>
            <a:endParaRPr lang="en-US" sz="1300" dirty="0"/>
          </a:p>
        </p:txBody>
      </p:sp>
      <p:sp>
        <p:nvSpPr>
          <p:cNvPr id="30" name="st-text"/>
          <p:cNvSpPr txBox="1"/>
          <p:nvPr/>
        </p:nvSpPr>
        <p:spPr>
          <a:xfrm>
            <a:off x="1325880" y="443484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757"/>
                </a:solidFill>
              </a:rPr>
              <a:t>沿两条路径挽回</a:t>
            </a:r>
            <a:endParaRPr lang="en-US" sz="1300" dirty="0"/>
          </a:p>
        </p:txBody>
      </p:sp>
      <p:sp>
        <p:nvSpPr>
          <p:cNvPr id="31" name="path-card-0"/>
          <p:cNvSpPr/>
          <p:nvPr/>
        </p:nvSpPr>
        <p:spPr>
          <a:xfrm>
            <a:off x="457200" y="489204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2" name="path-dot-0"/>
          <p:cNvSpPr/>
          <p:nvPr/>
        </p:nvSpPr>
        <p:spPr>
          <a:xfrm>
            <a:off x="731520" y="5074920"/>
            <a:ext cx="457200" cy="457200"/>
          </a:xfrm>
          <a:prstGeom prst="ellipse">
            <a:avLst/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33" name="path-num-0"/>
          <p:cNvSpPr txBox="1"/>
          <p:nvPr/>
        </p:nvSpPr>
        <p:spPr>
          <a:xfrm>
            <a:off x="73152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34" name="path-h-0"/>
          <p:cNvSpPr txBox="1"/>
          <p:nvPr/>
        </p:nvSpPr>
        <p:spPr>
          <a:xfrm>
            <a:off x="1371600" y="5074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315E"/>
                </a:solidFill>
              </a:rPr>
              <a:t>引导支付宝（扣位之前）</a:t>
            </a:r>
            <a:endParaRPr lang="en-US" sz="1600" dirty="0"/>
          </a:p>
        </p:txBody>
      </p:sp>
      <p:sp>
        <p:nvSpPr>
          <p:cNvPr id="35" name="path-b-0"/>
          <p:cNvSpPr txBox="1"/>
          <p:nvPr/>
        </p:nvSpPr>
        <p:spPr>
          <a:xfrm>
            <a:off x="1371600" y="54864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757"/>
                </a:solidFill>
              </a:rPr>
              <a:t>让更多订单在扣位前具备代付条件</a:t>
            </a:r>
            <a:endParaRPr lang="en-US" sz="1300" dirty="0"/>
          </a:p>
        </p:txBody>
      </p:sp>
      <p:sp>
        <p:nvSpPr>
          <p:cNvPr id="36" name="path-card-1"/>
          <p:cNvSpPr/>
          <p:nvPr/>
        </p:nvSpPr>
        <p:spPr>
          <a:xfrm>
            <a:off x="6245352" y="489204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7" name="path-dot-1"/>
          <p:cNvSpPr/>
          <p:nvPr/>
        </p:nvSpPr>
        <p:spPr>
          <a:xfrm>
            <a:off x="6519672" y="5074920"/>
            <a:ext cx="457200" cy="457200"/>
          </a:xfrm>
          <a:prstGeom prst="ellipse">
            <a:avLst/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38" name="path-num-1"/>
          <p:cNvSpPr txBox="1"/>
          <p:nvPr/>
        </p:nvSpPr>
        <p:spPr>
          <a:xfrm>
            <a:off x="6519672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39" name="path-h-1"/>
          <p:cNvSpPr txBox="1"/>
          <p:nvPr/>
        </p:nvSpPr>
        <p:spPr>
          <a:xfrm>
            <a:off x="7159752" y="5074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5315E"/>
                </a:solidFill>
              </a:rPr>
              <a:t>直付兜底（扣位之后）</a:t>
            </a:r>
            <a:endParaRPr lang="en-US" sz="1600" dirty="0"/>
          </a:p>
        </p:txBody>
      </p:sp>
      <p:sp>
        <p:nvSpPr>
          <p:cNvPr id="40" name="path-b-1"/>
          <p:cNvSpPr txBox="1"/>
          <p:nvPr/>
        </p:nvSpPr>
        <p:spPr>
          <a:xfrm>
            <a:off x="7159752" y="54864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757"/>
                </a:solidFill>
              </a:rPr>
              <a:t>让代付不了的订单，尤其是 4 月直付改造后遗留的长尾场景，在扣位之后仍有机会出票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2、主要项目 · 成功率专项：引导支付宝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低价产品引导支付宝 · 二期：在扣位之前让更多订单具备代付条件</a:t>
            </a:r>
            <a:endParaRPr lang="en-US" sz="1700" dirty="0"/>
          </a:p>
        </p:txBody>
      </p:sp>
      <p:sp>
        <p:nvSpPr>
          <p:cNvPr id="4" name="bg-chip"/>
          <p:cNvSpPr/>
          <p:nvPr/>
        </p:nvSpPr>
        <p:spPr>
          <a:xfrm>
            <a:off x="457200" y="1554480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5" name="bg-chip-t"/>
          <p:cNvSpPr txBox="1"/>
          <p:nvPr/>
        </p:nvSpPr>
        <p:spPr>
          <a:xfrm>
            <a:off x="457200" y="155448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背景</a:t>
            </a:r>
            <a:endParaRPr lang="en-US" sz="1300" dirty="0"/>
          </a:p>
        </p:txBody>
      </p:sp>
      <p:sp>
        <p:nvSpPr>
          <p:cNvPr id="6" name="bg-text"/>
          <p:cNvSpPr txBox="1"/>
          <p:nvPr/>
        </p:nvSpPr>
        <p:spPr>
          <a:xfrm>
            <a:off x="457200" y="19659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757"/>
                </a:solidFill>
              </a:rPr>
              <a:t>一期在抢票中用低价产品吸引用户使用支付宝，但转化率较低；需要进一步降低非支付宝订单数，提高大盘抢票成功率</a:t>
            </a:r>
            <a:endParaRPr lang="en-US" sz="1300" dirty="0"/>
          </a:p>
        </p:txBody>
      </p:sp>
      <p:sp>
        <p:nvSpPr>
          <p:cNvPr id="7" name="st-chip"/>
          <p:cNvSpPr/>
          <p:nvPr/>
        </p:nvSpPr>
        <p:spPr>
          <a:xfrm>
            <a:off x="457200" y="2880360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8" name="st-chip-t"/>
          <p:cNvSpPr txBox="1"/>
          <p:nvPr/>
        </p:nvSpPr>
        <p:spPr>
          <a:xfrm>
            <a:off x="457200" y="288036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策略</a:t>
            </a:r>
            <a:endParaRPr lang="en-US" sz="1300" dirty="0"/>
          </a:p>
        </p:txBody>
      </p:sp>
      <p:sp>
        <p:nvSpPr>
          <p:cNvPr id="9" name="st-text"/>
          <p:cNvSpPr txBox="1"/>
          <p:nvPr/>
        </p:nvSpPr>
        <p:spPr>
          <a:xfrm>
            <a:off x="457200" y="32918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757"/>
                </a:solidFill>
              </a:rPr>
              <a:t>扩大补贴范围：非支付宝订单可特惠升级托管，仅支持支付宝支付（见右侧截图）</a:t>
            </a:r>
            <a:endParaRPr lang="en-US" sz="1300" dirty="0"/>
          </a:p>
        </p:txBody>
      </p:sp>
      <p:sp>
        <p:nvSpPr>
          <p:cNvPr id="10" name="ef-chip"/>
          <p:cNvSpPr/>
          <p:nvPr/>
        </p:nvSpPr>
        <p:spPr>
          <a:xfrm>
            <a:off x="457200" y="4023360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11" name="ef-chip-t"/>
          <p:cNvSpPr txBox="1"/>
          <p:nvPr/>
        </p:nvSpPr>
        <p:spPr>
          <a:xfrm>
            <a:off x="457200" y="402336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效果</a:t>
            </a:r>
            <a:endParaRPr lang="en-US" sz="1300" dirty="0"/>
          </a:p>
        </p:txBody>
      </p:sp>
      <p:sp>
        <p:nvSpPr>
          <p:cNvPr id="12" name="ef-card"/>
          <p:cNvSpPr/>
          <p:nvPr/>
        </p:nvSpPr>
        <p:spPr>
          <a:xfrm>
            <a:off x="457200" y="4434840"/>
            <a:ext cx="4937760" cy="1783080"/>
          </a:xfrm>
          <a:prstGeom prst="roundRect">
            <a:avLst>
              <a:gd name="adj" fmla="val 4103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3" name="kpi-t-l"/>
          <p:cNvSpPr txBox="1"/>
          <p:nvPr/>
        </p:nvSpPr>
        <p:spPr>
          <a:xfrm>
            <a:off x="731520" y="45720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757"/>
                </a:solidFill>
              </a:rPr>
              <a:t>日均目标订单数</a:t>
            </a:r>
            <a:endParaRPr lang="en-US" sz="1400" dirty="0"/>
          </a:p>
        </p:txBody>
      </p:sp>
      <p:sp>
        <p:nvSpPr>
          <p:cNvPr id="14" name="kpi-t-v"/>
          <p:cNvSpPr txBox="1"/>
          <p:nvPr/>
        </p:nvSpPr>
        <p:spPr>
          <a:xfrm>
            <a:off x="2468880" y="4572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315E"/>
                </a:solidFill>
              </a:rPr>
              <a:t>约 10,916 单</a:t>
            </a:r>
            <a:endParaRPr lang="en-US" sz="2800" dirty="0"/>
          </a:p>
        </p:txBody>
      </p:sp>
      <p:sp>
        <p:nvSpPr>
          <p:cNvPr id="15" name="kpi-c-l"/>
          <p:cNvSpPr txBox="1"/>
          <p:nvPr/>
        </p:nvSpPr>
        <p:spPr>
          <a:xfrm>
            <a:off x="731520" y="53949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757"/>
                </a:solidFill>
              </a:rPr>
              <a:t>日均转化订单数</a:t>
            </a:r>
            <a:endParaRPr lang="en-US" sz="1400" dirty="0"/>
          </a:p>
        </p:txBody>
      </p:sp>
      <p:sp>
        <p:nvSpPr>
          <p:cNvPr id="16" name="kpi-c-v"/>
          <p:cNvSpPr txBox="1"/>
          <p:nvPr/>
        </p:nvSpPr>
        <p:spPr>
          <a:xfrm>
            <a:off x="2468880" y="5394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87DFA"/>
                </a:solidFill>
              </a:rPr>
              <a:t>约 232 单</a:t>
            </a:r>
            <a:endParaRPr lang="en-US" sz="2800" dirty="0"/>
          </a:p>
        </p:txBody>
      </p:sp>
      <p:pic>
        <p:nvPicPr>
          <p:cNvPr id="17" name="shot-0" descr="① 特惠浮窗：非支付宝订单特惠升级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554480"/>
            <a:ext cx="1691640" cy="3718475"/>
          </a:xfrm>
          <a:prstGeom prst="rect">
            <a:avLst/>
          </a:prstGeom>
        </p:spPr>
      </p:pic>
      <p:sp>
        <p:nvSpPr>
          <p:cNvPr id="18" name="shot-frame-0"/>
          <p:cNvSpPr/>
          <p:nvPr/>
        </p:nvSpPr>
        <p:spPr>
          <a:xfrm>
            <a:off x="5760720" y="1554480"/>
            <a:ext cx="1691640" cy="371847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shot-cap-0"/>
          <p:cNvSpPr txBox="1"/>
          <p:nvPr/>
        </p:nvSpPr>
        <p:spPr>
          <a:xfrm>
            <a:off x="5623560" y="5364395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315E"/>
                </a:solidFill>
              </a:rPr>
              <a:t>① 特惠浮窗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非支付宝订单特惠升级</a:t>
            </a:r>
            <a:endParaRPr lang="en-US" sz="1200" dirty="0"/>
          </a:p>
        </p:txBody>
      </p:sp>
      <p:pic>
        <p:nvPicPr>
          <p:cNvPr id="20" name="shot-1" descr="② 托管等级页：展示限时特惠价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554480"/>
            <a:ext cx="1691640" cy="3718475"/>
          </a:xfrm>
          <a:prstGeom prst="rect">
            <a:avLst/>
          </a:prstGeom>
        </p:spPr>
      </p:pic>
      <p:sp>
        <p:nvSpPr>
          <p:cNvPr id="21" name="shot-frame-1"/>
          <p:cNvSpPr/>
          <p:nvPr/>
        </p:nvSpPr>
        <p:spPr>
          <a:xfrm>
            <a:off x="7772400" y="1554480"/>
            <a:ext cx="1691640" cy="371847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2" name="shot-cap-1"/>
          <p:cNvSpPr txBox="1"/>
          <p:nvPr/>
        </p:nvSpPr>
        <p:spPr>
          <a:xfrm>
            <a:off x="7635240" y="5364395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315E"/>
                </a:solidFill>
              </a:rPr>
              <a:t>② 托管等级页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展示限时特惠价</a:t>
            </a:r>
            <a:endParaRPr lang="en-US" sz="1200" dirty="0"/>
          </a:p>
        </p:txBody>
      </p:sp>
      <p:pic>
        <p:nvPicPr>
          <p:cNvPr id="23" name="shot-2" descr="③ 收银台：仅保留支付宝支付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1554480"/>
            <a:ext cx="1691640" cy="3718475"/>
          </a:xfrm>
          <a:prstGeom prst="rect">
            <a:avLst/>
          </a:prstGeom>
        </p:spPr>
      </p:pic>
      <p:sp>
        <p:nvSpPr>
          <p:cNvPr id="24" name="shot-frame-2"/>
          <p:cNvSpPr/>
          <p:nvPr/>
        </p:nvSpPr>
        <p:spPr>
          <a:xfrm>
            <a:off x="9784080" y="1554480"/>
            <a:ext cx="1691640" cy="371847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5" name="shot-cap-2"/>
          <p:cNvSpPr txBox="1"/>
          <p:nvPr/>
        </p:nvSpPr>
        <p:spPr>
          <a:xfrm>
            <a:off x="9646920" y="5364395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315E"/>
                </a:solidFill>
              </a:rPr>
              <a:t>③ 收银台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仅保留支付宝支付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2、主要项目 · 成功率专项：直付兜底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覆盖 4 月主流程直付改造后遗留的长尾场景</a:t>
            </a:r>
            <a:endParaRPr lang="en-US" sz="1700" dirty="0"/>
          </a:p>
        </p:txBody>
      </p:sp>
      <p:sp>
        <p:nvSpPr>
          <p:cNvPr id="4" name="bg-chip"/>
          <p:cNvSpPr/>
          <p:nvPr/>
        </p:nvSpPr>
        <p:spPr>
          <a:xfrm>
            <a:off x="457200" y="1554480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5" name="bg-chip-t"/>
          <p:cNvSpPr txBox="1"/>
          <p:nvPr/>
        </p:nvSpPr>
        <p:spPr>
          <a:xfrm>
            <a:off x="457200" y="155448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背景</a:t>
            </a:r>
            <a:endParaRPr lang="en-US" sz="1300" dirty="0"/>
          </a:p>
        </p:txBody>
      </p:sp>
      <p:sp>
        <p:nvSpPr>
          <p:cNvPr id="6" name="bg-text"/>
          <p:cNvSpPr txBox="1"/>
          <p:nvPr/>
        </p:nvSpPr>
        <p:spPr>
          <a:xfrm>
            <a:off x="45720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757"/>
                </a:solidFill>
              </a:rPr>
              <a:t>4 月主流程直付改造后，仍有长尾场景无法出票；直付的成本和主要痛点在于召回用户过程中的流失漏斗</a:t>
            </a:r>
            <a:endParaRPr lang="en-US" sz="1300" dirty="0"/>
          </a:p>
        </p:txBody>
      </p:sp>
      <p:sp>
        <p:nvSpPr>
          <p:cNvPr id="7" name="st-chip"/>
          <p:cNvSpPr/>
          <p:nvPr/>
        </p:nvSpPr>
        <p:spPr>
          <a:xfrm>
            <a:off x="457200" y="2788920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8" name="st-chip-t"/>
          <p:cNvSpPr txBox="1"/>
          <p:nvPr/>
        </p:nvSpPr>
        <p:spPr>
          <a:xfrm>
            <a:off x="457200" y="278892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策略</a:t>
            </a:r>
            <a:endParaRPr lang="en-US" sz="1300" dirty="0"/>
          </a:p>
        </p:txBody>
      </p:sp>
      <p:sp>
        <p:nvSpPr>
          <p:cNvPr id="9" name="st-text"/>
          <p:cNvSpPr txBox="1"/>
          <p:nvPr/>
        </p:nvSpPr>
        <p:spPr>
          <a:xfrm>
            <a:off x="45720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757"/>
                </a:solidFill>
              </a:rPr>
              <a:t>在原本就需要用户确认的节点接直付，8 月完成以下场景改造：</a:t>
            </a:r>
            <a:endParaRPr lang="en-US" sz="1300" dirty="0"/>
          </a:p>
        </p:txBody>
      </p:sp>
      <p:sp>
        <p:nvSpPr>
          <p:cNvPr id="10" name="scn-dot-0"/>
          <p:cNvSpPr/>
          <p:nvPr/>
        </p:nvSpPr>
        <p:spPr>
          <a:xfrm>
            <a:off x="502920" y="3712464"/>
            <a:ext cx="365760" cy="365760"/>
          </a:xfrm>
          <a:prstGeom prst="ellipse">
            <a:avLst/>
          </a:prstGeom>
          <a:solidFill>
            <a:srgbClr val="8FB8F5"/>
          </a:solidFill>
          <a:ln w="12700">
            <a:solidFill>
              <a:srgbClr val="8FB8F5"/>
            </a:solidFill>
            <a:prstDash val="solid"/>
          </a:ln>
        </p:spPr>
      </p:sp>
      <p:sp>
        <p:nvSpPr>
          <p:cNvPr id="11" name="scn-num-0"/>
          <p:cNvSpPr txBox="1"/>
          <p:nvPr/>
        </p:nvSpPr>
        <p:spPr>
          <a:xfrm>
            <a:off x="502920" y="3712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scn-k-0"/>
          <p:cNvSpPr txBox="1"/>
          <p:nvPr/>
        </p:nvSpPr>
        <p:spPr>
          <a:xfrm>
            <a:off x="1005840" y="36576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5E"/>
                </a:solidFill>
              </a:rPr>
              <a:t>智能第二程</a:t>
            </a:r>
            <a:endParaRPr lang="en-US" sz="1400" dirty="0"/>
          </a:p>
        </p:txBody>
      </p:sp>
      <p:sp>
        <p:nvSpPr>
          <p:cNvPr id="13" name="scn-v-0"/>
          <p:cNvSpPr txBox="1"/>
          <p:nvPr/>
        </p:nvSpPr>
        <p:spPr>
          <a:xfrm>
            <a:off x="2468880" y="365760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757"/>
                </a:solidFill>
              </a:rPr>
              <a:t>用户确认第二程方案后，由代付改为直付</a:t>
            </a:r>
            <a:endParaRPr lang="en-US" sz="1250" dirty="0"/>
          </a:p>
        </p:txBody>
      </p:sp>
      <p:sp>
        <p:nvSpPr>
          <p:cNvPr id="14" name="scn-dot-1"/>
          <p:cNvSpPr/>
          <p:nvPr/>
        </p:nvSpPr>
        <p:spPr>
          <a:xfrm>
            <a:off x="502920" y="4261104"/>
            <a:ext cx="365760" cy="365760"/>
          </a:xfrm>
          <a:prstGeom prst="ellipse">
            <a:avLst/>
          </a:prstGeom>
          <a:solidFill>
            <a:srgbClr val="8FB8F5"/>
          </a:solidFill>
          <a:ln w="12700">
            <a:solidFill>
              <a:srgbClr val="8FB8F5"/>
            </a:solidFill>
            <a:prstDash val="solid"/>
          </a:ln>
        </p:spPr>
      </p:sp>
      <p:sp>
        <p:nvSpPr>
          <p:cNvPr id="15" name="scn-num-1"/>
          <p:cNvSpPr txBox="1"/>
          <p:nvPr/>
        </p:nvSpPr>
        <p:spPr>
          <a:xfrm>
            <a:off x="502920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6" name="scn-k-1"/>
          <p:cNvSpPr txBox="1"/>
          <p:nvPr/>
        </p:nvSpPr>
        <p:spPr>
          <a:xfrm>
            <a:off x="1005840" y="42062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5E"/>
                </a:solidFill>
              </a:rPr>
              <a:t>行程冲突</a:t>
            </a:r>
            <a:endParaRPr lang="en-US" sz="1400" dirty="0"/>
          </a:p>
        </p:txBody>
      </p:sp>
      <p:sp>
        <p:nvSpPr>
          <p:cNvPr id="17" name="scn-v-1"/>
          <p:cNvSpPr txBox="1"/>
          <p:nvPr/>
        </p:nvSpPr>
        <p:spPr>
          <a:xfrm>
            <a:off x="2468880" y="420624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757"/>
                </a:solidFill>
              </a:rPr>
              <a:t>非支付宝及支付宝黑名单订单，确认出票时走直付</a:t>
            </a:r>
            <a:endParaRPr lang="en-US" sz="1250" dirty="0"/>
          </a:p>
        </p:txBody>
      </p:sp>
      <p:sp>
        <p:nvSpPr>
          <p:cNvPr id="18" name="scn-dot-2"/>
          <p:cNvSpPr/>
          <p:nvPr/>
        </p:nvSpPr>
        <p:spPr>
          <a:xfrm>
            <a:off x="502920" y="4809744"/>
            <a:ext cx="365760" cy="365760"/>
          </a:xfrm>
          <a:prstGeom prst="ellipse">
            <a:avLst/>
          </a:prstGeom>
          <a:solidFill>
            <a:srgbClr val="8FB8F5"/>
          </a:solidFill>
          <a:ln w="12700">
            <a:solidFill>
              <a:srgbClr val="8FB8F5"/>
            </a:solidFill>
            <a:prstDash val="solid"/>
          </a:ln>
        </p:spPr>
      </p:sp>
      <p:sp>
        <p:nvSpPr>
          <p:cNvPr id="19" name="scn-num-2"/>
          <p:cNvSpPr txBox="1"/>
          <p:nvPr/>
        </p:nvSpPr>
        <p:spPr>
          <a:xfrm>
            <a:off x="502920" y="4809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scn-k-2"/>
          <p:cNvSpPr txBox="1"/>
          <p:nvPr/>
        </p:nvSpPr>
        <p:spPr>
          <a:xfrm>
            <a:off x="1005840" y="47548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15E"/>
                </a:solidFill>
              </a:rPr>
              <a:t>票款不足补款</a:t>
            </a:r>
            <a:endParaRPr lang="en-US" sz="1400" dirty="0"/>
          </a:p>
        </p:txBody>
      </p:sp>
      <p:sp>
        <p:nvSpPr>
          <p:cNvPr id="21" name="scn-v-2"/>
          <p:cNvSpPr txBox="1"/>
          <p:nvPr/>
        </p:nvSpPr>
        <p:spPr>
          <a:xfrm>
            <a:off x="2468880" y="475488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757"/>
                </a:solidFill>
              </a:rPr>
              <a:t>非支付宝及支付宝黑名单订单，补款时走直付</a:t>
            </a:r>
            <a:endParaRPr lang="en-US" sz="1250" dirty="0"/>
          </a:p>
        </p:txBody>
      </p:sp>
      <p:sp>
        <p:nvSpPr>
          <p:cNvPr id="22" name="ef-chip"/>
          <p:cNvSpPr/>
          <p:nvPr/>
        </p:nvSpPr>
        <p:spPr>
          <a:xfrm>
            <a:off x="457200" y="5440680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23" name="ef-chip-t"/>
          <p:cNvSpPr txBox="1"/>
          <p:nvPr/>
        </p:nvSpPr>
        <p:spPr>
          <a:xfrm>
            <a:off x="457200" y="544068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效果</a:t>
            </a:r>
            <a:endParaRPr lang="en-US" sz="1300" dirty="0"/>
          </a:p>
        </p:txBody>
      </p:sp>
      <p:sp>
        <p:nvSpPr>
          <p:cNvPr id="24" name="ef-text"/>
          <p:cNvSpPr txBox="1"/>
          <p:nvPr/>
        </p:nvSpPr>
        <p:spPr>
          <a:xfrm>
            <a:off x="1325880" y="5303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4757"/>
                </a:solidFill>
              </a:rPr>
              <a:t>合计年化挽回票量  </a:t>
            </a:r>
            <a:pPr indent="0" marL="0">
              <a:buNone/>
            </a:pPr>
            <a:r>
              <a:rPr lang="en-US" sz="2800" b="1" dirty="0">
                <a:solidFill>
                  <a:srgbClr val="287DFA"/>
                </a:solidFill>
              </a:rPr>
              <a:t>约 11.6 万张</a:t>
            </a:r>
            <a:endParaRPr lang="en-US" sz="1400" dirty="0"/>
          </a:p>
        </p:txBody>
      </p:sp>
      <p:pic>
        <p:nvPicPr>
          <p:cNvPr id="25" name="flow-shot-0" descr="智能第二程：车票待确认页，用户确认出票后走直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554480"/>
            <a:ext cx="1788742" cy="3931920"/>
          </a:xfrm>
          <a:prstGeom prst="rect">
            <a:avLst/>
          </a:prstGeom>
        </p:spPr>
      </p:pic>
      <p:sp>
        <p:nvSpPr>
          <p:cNvPr id="26" name="flow-frame-0"/>
          <p:cNvSpPr/>
          <p:nvPr/>
        </p:nvSpPr>
        <p:spPr>
          <a:xfrm>
            <a:off x="6400800" y="1554480"/>
            <a:ext cx="1788742" cy="3931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7" name="flow-cap-0"/>
          <p:cNvSpPr txBox="1"/>
          <p:nvPr/>
        </p:nvSpPr>
        <p:spPr>
          <a:xfrm>
            <a:off x="6126480" y="5577840"/>
            <a:ext cx="23373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315E"/>
                </a:solidFill>
              </a:rPr>
              <a:t>智能第二程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车票待确认页，用户确认出票后走直付</a:t>
            </a:r>
            <a:endParaRPr lang="en-US" sz="1200" dirty="0"/>
          </a:p>
        </p:txBody>
      </p:sp>
      <p:pic>
        <p:nvPicPr>
          <p:cNvPr id="28" name="flow-shot-1" descr="行程冲突：提示行程冲突，用户确认出票后走直付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554480"/>
            <a:ext cx="1788742" cy="3931920"/>
          </a:xfrm>
          <a:prstGeom prst="rect">
            <a:avLst/>
          </a:prstGeom>
        </p:spPr>
      </p:pic>
      <p:sp>
        <p:nvSpPr>
          <p:cNvPr id="29" name="flow-frame-1"/>
          <p:cNvSpPr/>
          <p:nvPr/>
        </p:nvSpPr>
        <p:spPr>
          <a:xfrm>
            <a:off x="9144000" y="1554480"/>
            <a:ext cx="1788742" cy="3931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0" name="flow-cap-1"/>
          <p:cNvSpPr txBox="1"/>
          <p:nvPr/>
        </p:nvSpPr>
        <p:spPr>
          <a:xfrm>
            <a:off x="8869680" y="5577840"/>
            <a:ext cx="233738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315E"/>
                </a:solidFill>
              </a:rPr>
              <a:t>行程冲突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提示行程冲突，用户确认出票后走直付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2、主要项目 · 成功率专项：放开抢转买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拓展出票方式：对能够正常代付的支付宝（非黑名单）订单重新开放抢转买</a:t>
            </a:r>
            <a:endParaRPr lang="en-US" sz="1700" dirty="0"/>
          </a:p>
        </p:txBody>
      </p:sp>
      <p:sp>
        <p:nvSpPr>
          <p:cNvPr id="4" name="bg-chip"/>
          <p:cNvSpPr/>
          <p:nvPr/>
        </p:nvSpPr>
        <p:spPr>
          <a:xfrm>
            <a:off x="457200" y="1554480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5" name="bg-chip-t"/>
          <p:cNvSpPr txBox="1"/>
          <p:nvPr/>
        </p:nvSpPr>
        <p:spPr>
          <a:xfrm>
            <a:off x="457200" y="155448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背景</a:t>
            </a:r>
            <a:endParaRPr lang="en-US" sz="1300" dirty="0"/>
          </a:p>
        </p:txBody>
      </p:sp>
      <p:sp>
        <p:nvSpPr>
          <p:cNvPr id="6" name="bg-text"/>
          <p:cNvSpPr txBox="1"/>
          <p:nvPr/>
        </p:nvSpPr>
        <p:spPr>
          <a:xfrm>
            <a:off x="457200" y="196596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757"/>
                </a:solidFill>
              </a:rPr>
              <a:t>支付风控后抢转买关闭，用户改单选择有票方案时只能通过捡漏出票，平峰期成功率约 54.9%</a:t>
            </a:r>
            <a:endParaRPr lang="en-US" sz="1300" dirty="0"/>
          </a:p>
        </p:txBody>
      </p:sp>
      <p:sp>
        <p:nvSpPr>
          <p:cNvPr id="7" name="st-chip"/>
          <p:cNvSpPr/>
          <p:nvPr/>
        </p:nvSpPr>
        <p:spPr>
          <a:xfrm>
            <a:off x="457200" y="2788920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8" name="st-chip-t"/>
          <p:cNvSpPr txBox="1"/>
          <p:nvPr/>
        </p:nvSpPr>
        <p:spPr>
          <a:xfrm>
            <a:off x="457200" y="278892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策略</a:t>
            </a:r>
            <a:endParaRPr lang="en-US" sz="1300" dirty="0"/>
          </a:p>
        </p:txBody>
      </p:sp>
      <p:sp>
        <p:nvSpPr>
          <p:cNvPr id="9" name="st-text"/>
          <p:cNvSpPr txBox="1"/>
          <p:nvPr/>
        </p:nvSpPr>
        <p:spPr>
          <a:xfrm>
            <a:off x="457200" y="32004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757"/>
                </a:solidFill>
              </a:rPr>
              <a:t>8 月放开支付宝（非黑名单）订单在该场景下的抢转买，选择有票方案后可走买票通道出票</a:t>
            </a:r>
            <a:endParaRPr lang="en-US" sz="1300" dirty="0"/>
          </a:p>
        </p:txBody>
      </p:sp>
      <p:pic>
        <p:nvPicPr>
          <p:cNvPr id="10" name="ba-shot" descr="订单详情页添加方案：有票方案入口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977640"/>
            <a:ext cx="2849826" cy="2240280"/>
          </a:xfrm>
          <a:prstGeom prst="rect">
            <a:avLst/>
          </a:prstGeom>
        </p:spPr>
      </p:pic>
      <p:sp>
        <p:nvSpPr>
          <p:cNvPr id="11" name="ba-frame"/>
          <p:cNvSpPr/>
          <p:nvPr/>
        </p:nvSpPr>
        <p:spPr>
          <a:xfrm>
            <a:off x="457200" y="3977640"/>
            <a:ext cx="2849826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ba-cap"/>
          <p:cNvSpPr txBox="1"/>
          <p:nvPr/>
        </p:nvSpPr>
        <p:spPr>
          <a:xfrm>
            <a:off x="3535626" y="4389120"/>
            <a:ext cx="268229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5315E"/>
                </a:solidFill>
              </a:rPr>
              <a:t>订单详情页 · 添加方案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D4757"/>
                </a:solidFill>
              </a:rPr>
              <a:t>「有票方案」入口：选择后可立即出票</a:t>
            </a:r>
            <a:endParaRPr lang="en-US" sz="1250" dirty="0"/>
          </a:p>
        </p:txBody>
      </p:sp>
      <p:sp>
        <p:nvSpPr>
          <p:cNvPr id="13" name="ef-chip"/>
          <p:cNvSpPr/>
          <p:nvPr/>
        </p:nvSpPr>
        <p:spPr>
          <a:xfrm>
            <a:off x="6583680" y="1554480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14" name="ef-chip-t"/>
          <p:cNvSpPr txBox="1"/>
          <p:nvPr/>
        </p:nvSpPr>
        <p:spPr>
          <a:xfrm>
            <a:off x="6583680" y="155448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效果</a:t>
            </a:r>
            <a:endParaRPr lang="en-US" sz="1300" dirty="0"/>
          </a:p>
        </p:txBody>
      </p:sp>
      <p:sp>
        <p:nvSpPr>
          <p:cNvPr id="15" name="chart-cap"/>
          <p:cNvSpPr txBox="1"/>
          <p:nvPr/>
        </p:nvSpPr>
        <p:spPr>
          <a:xfrm>
            <a:off x="658368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</a:rPr>
              <a:t>平峰期成功率</a:t>
            </a:r>
            <a:endParaRPr lang="en-US" sz="1200" dirty="0"/>
          </a:p>
        </p:txBody>
      </p:sp>
      <p:graphicFrame>
        <p:nvGraphicFramePr>
          <p:cNvPr id="16" name="sr-chart" descr=""/>
          <p:cNvGraphicFramePr/>
          <p:nvPr/>
        </p:nvGraphicFramePr>
        <p:xfrm>
          <a:off x="6492240" y="2286000"/>
          <a:ext cx="3108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k1-card"/>
          <p:cNvSpPr/>
          <p:nvPr/>
        </p:nvSpPr>
        <p:spPr>
          <a:xfrm>
            <a:off x="9829800" y="2286000"/>
            <a:ext cx="1901952" cy="1828800"/>
          </a:xfrm>
          <a:prstGeom prst="roundRect">
            <a:avLst>
              <a:gd name="adj" fmla="val 400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8" name="k1-l"/>
          <p:cNvSpPr txBox="1"/>
          <p:nvPr/>
        </p:nvSpPr>
        <p:spPr>
          <a:xfrm>
            <a:off x="9966960" y="2423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平峰期成功率</a:t>
            </a:r>
            <a:endParaRPr lang="en-US" sz="1200" dirty="0"/>
          </a:p>
        </p:txBody>
      </p:sp>
      <p:sp>
        <p:nvSpPr>
          <p:cNvPr id="19" name="k1-v"/>
          <p:cNvSpPr txBox="1"/>
          <p:nvPr/>
        </p:nvSpPr>
        <p:spPr>
          <a:xfrm>
            <a:off x="9966960" y="27889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287DFA"/>
                </a:solidFill>
              </a:rPr>
              <a:t>+10.3pp</a:t>
            </a:r>
            <a:endParaRPr lang="en-US" sz="2400" dirty="0"/>
          </a:p>
        </p:txBody>
      </p:sp>
      <p:sp>
        <p:nvSpPr>
          <p:cNvPr id="20" name="k1-s"/>
          <p:cNvSpPr txBox="1"/>
          <p:nvPr/>
        </p:nvSpPr>
        <p:spPr>
          <a:xfrm>
            <a:off x="9966960" y="34290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80"/>
                </a:solidFill>
              </a:rPr>
              <a:t>54.9% → 65.2%</a:t>
            </a:r>
            <a:endParaRPr lang="en-US" sz="1200" dirty="0"/>
          </a:p>
        </p:txBody>
      </p:sp>
      <p:sp>
        <p:nvSpPr>
          <p:cNvPr id="21" name="k2-card"/>
          <p:cNvSpPr/>
          <p:nvPr/>
        </p:nvSpPr>
        <p:spPr>
          <a:xfrm>
            <a:off x="9829800" y="4389120"/>
            <a:ext cx="1901952" cy="1828800"/>
          </a:xfrm>
          <a:prstGeom prst="roundRect">
            <a:avLst>
              <a:gd name="adj" fmla="val 400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2" name="k2-l"/>
          <p:cNvSpPr txBox="1"/>
          <p:nvPr/>
        </p:nvSpPr>
        <p:spPr>
          <a:xfrm>
            <a:off x="9966960" y="45262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预期年化票增量</a:t>
            </a:r>
            <a:endParaRPr lang="en-US" sz="1200" dirty="0"/>
          </a:p>
        </p:txBody>
      </p:sp>
      <p:sp>
        <p:nvSpPr>
          <p:cNvPr id="23" name="k2-v"/>
          <p:cNvSpPr txBox="1"/>
          <p:nvPr/>
        </p:nvSpPr>
        <p:spPr>
          <a:xfrm>
            <a:off x="9966960" y="4892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87DFA"/>
                </a:solidFill>
              </a:rPr>
              <a:t>约 40 万张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2、主要项目 · 体验专项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目标：在抢票各环节给出准确、及时、适度的信息触达和操作链路</a:t>
            </a:r>
            <a:endParaRPr lang="en-US" sz="1700" dirty="0"/>
          </a:p>
        </p:txBody>
      </p:sp>
      <p:sp>
        <p:nvSpPr>
          <p:cNvPr id="4" name="xp-1-stage"/>
          <p:cNvSpPr/>
          <p:nvPr/>
        </p:nvSpPr>
        <p:spPr>
          <a:xfrm>
            <a:off x="457200" y="1463040"/>
            <a:ext cx="2679192" cy="457200"/>
          </a:xfrm>
          <a:prstGeom prst="homePlate">
            <a:avLst/>
          </a:prstGeom>
          <a:solidFill>
            <a:srgbClr val="287D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xp-1-stage-t"/>
          <p:cNvSpPr txBox="1"/>
          <p:nvPr/>
        </p:nvSpPr>
        <p:spPr>
          <a:xfrm>
            <a:off x="594360" y="1463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订前转化</a:t>
            </a:r>
            <a:endParaRPr lang="en-US" sz="1500" dirty="0"/>
          </a:p>
        </p:txBody>
      </p:sp>
      <p:sp>
        <p:nvSpPr>
          <p:cNvPr id="6" name="xp-1-name"/>
          <p:cNvSpPr txBox="1"/>
          <p:nvPr/>
        </p:nvSpPr>
        <p:spPr>
          <a:xfrm>
            <a:off x="502920" y="20848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双节活动日历</a:t>
            </a:r>
            <a:endParaRPr lang="en-US" sz="1500" dirty="0"/>
          </a:p>
        </p:txBody>
      </p:sp>
      <p:sp>
        <p:nvSpPr>
          <p:cNvPr id="7" name="xp-1-desc"/>
          <p:cNvSpPr txBox="1"/>
          <p:nvPr/>
        </p:nvSpPr>
        <p:spPr>
          <a:xfrm>
            <a:off x="502920" y="241401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D4757"/>
                </a:solidFill>
              </a:rPr>
              <a:t>开售前预约 + 早鸟价日历，促进用户提早下预约订单</a:t>
            </a:r>
            <a:endParaRPr lang="en-US" sz="1150" dirty="0"/>
          </a:p>
        </p:txBody>
      </p:sp>
      <p:pic>
        <p:nvPicPr>
          <p:cNvPr id="8" name="xp-1-img" descr="xp_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0"/>
            <a:ext cx="1188720" cy="2094569"/>
          </a:xfrm>
          <a:prstGeom prst="rect">
            <a:avLst/>
          </a:prstGeom>
        </p:spPr>
      </p:pic>
      <p:sp>
        <p:nvSpPr>
          <p:cNvPr id="9" name="xp-1-img-frame"/>
          <p:cNvSpPr/>
          <p:nvPr/>
        </p:nvSpPr>
        <p:spPr>
          <a:xfrm>
            <a:off x="502920" y="3200400"/>
            <a:ext cx="1188720" cy="2094569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xp-1-kpi0-card"/>
          <p:cNvSpPr/>
          <p:nvPr/>
        </p:nvSpPr>
        <p:spPr>
          <a:xfrm>
            <a:off x="1801368" y="3200400"/>
            <a:ext cx="1078992" cy="1417320"/>
          </a:xfrm>
          <a:prstGeom prst="roundRect">
            <a:avLst>
              <a:gd name="adj" fmla="val 678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1" name="xp-1-kpi0-p"/>
          <p:cNvSpPr txBox="1"/>
          <p:nvPr/>
        </p:nvSpPr>
        <p:spPr>
          <a:xfrm>
            <a:off x="1892808" y="327355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87DFA"/>
                </a:solidFill>
              </a:rPr>
              <a:t>开售前预热</a:t>
            </a:r>
            <a:endParaRPr lang="en-US" sz="1100" dirty="0"/>
          </a:p>
        </p:txBody>
      </p:sp>
      <p:sp>
        <p:nvSpPr>
          <p:cNvPr id="12" name="xp-1-kpi0-v"/>
          <p:cNvSpPr txBox="1"/>
          <p:nvPr/>
        </p:nvSpPr>
        <p:spPr>
          <a:xfrm>
            <a:off x="1892808" y="3511296"/>
            <a:ext cx="941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315E"/>
                </a:solidFill>
              </a:rPr>
              <a:t>4.2w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5B6B80"/>
                </a:solidFill>
              </a:rPr>
              <a:t>日均访问</a:t>
            </a:r>
            <a:endParaRPr lang="en-US" sz="1400" dirty="0"/>
          </a:p>
        </p:txBody>
      </p:sp>
      <p:sp>
        <p:nvSpPr>
          <p:cNvPr id="13" name="xp-1-kpi0-r"/>
          <p:cNvSpPr txBox="1"/>
          <p:nvPr/>
        </p:nvSpPr>
        <p:spPr>
          <a:xfrm>
            <a:off x="1892808" y="4050792"/>
            <a:ext cx="941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A1A"/>
                </a:solidFill>
              </a:rPr>
              <a:t>16.6%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5B6B80"/>
                </a:solidFill>
              </a:rPr>
              <a:t>转化至列表页</a:t>
            </a:r>
            <a:endParaRPr lang="en-US" sz="1400" dirty="0"/>
          </a:p>
        </p:txBody>
      </p:sp>
      <p:sp>
        <p:nvSpPr>
          <p:cNvPr id="14" name="xp-1-kpi1-card"/>
          <p:cNvSpPr/>
          <p:nvPr/>
        </p:nvSpPr>
        <p:spPr>
          <a:xfrm>
            <a:off x="1801368" y="4754880"/>
            <a:ext cx="1078992" cy="1417320"/>
          </a:xfrm>
          <a:prstGeom prst="roundRect">
            <a:avLst>
              <a:gd name="adj" fmla="val 678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5" name="xp-1-kpi1-p"/>
          <p:cNvSpPr txBox="1"/>
          <p:nvPr/>
        </p:nvSpPr>
        <p:spPr>
          <a:xfrm>
            <a:off x="1892808" y="482803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87DFA"/>
                </a:solidFill>
              </a:rPr>
              <a:t>开售后</a:t>
            </a:r>
            <a:endParaRPr lang="en-US" sz="1100" dirty="0"/>
          </a:p>
        </p:txBody>
      </p:sp>
      <p:sp>
        <p:nvSpPr>
          <p:cNvPr id="16" name="xp-1-kpi1-v"/>
          <p:cNvSpPr txBox="1"/>
          <p:nvPr/>
        </p:nvSpPr>
        <p:spPr>
          <a:xfrm>
            <a:off x="1892808" y="5065776"/>
            <a:ext cx="941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5315E"/>
                </a:solidFill>
              </a:rPr>
              <a:t>6.1w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5B6B80"/>
                </a:solidFill>
              </a:rPr>
              <a:t>日均 PV</a:t>
            </a:r>
            <a:endParaRPr lang="en-US" sz="1400" dirty="0"/>
          </a:p>
        </p:txBody>
      </p:sp>
      <p:sp>
        <p:nvSpPr>
          <p:cNvPr id="17" name="xp-1-kpi1-r"/>
          <p:cNvSpPr txBox="1"/>
          <p:nvPr/>
        </p:nvSpPr>
        <p:spPr>
          <a:xfrm>
            <a:off x="1892808" y="5605272"/>
            <a:ext cx="941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7A1A"/>
                </a:solidFill>
              </a:rPr>
              <a:t>28.8%</a:t>
            </a:r>
            <a:endParaRPr lang="en-US" sz="1400" dirty="0"/>
          </a:p>
          <a:p>
            <a:pPr indent="0" marL="0">
              <a:buNone/>
            </a:pPr>
            <a:r>
              <a:rPr lang="en-US" sz="950" dirty="0">
                <a:solidFill>
                  <a:srgbClr val="5B6B80"/>
                </a:solidFill>
              </a:rPr>
              <a:t>转化至列表页</a:t>
            </a:r>
            <a:endParaRPr lang="en-US" sz="1400" dirty="0"/>
          </a:p>
        </p:txBody>
      </p:sp>
      <p:sp>
        <p:nvSpPr>
          <p:cNvPr id="18" name="xp-2-stage"/>
          <p:cNvSpPr/>
          <p:nvPr/>
        </p:nvSpPr>
        <p:spPr>
          <a:xfrm>
            <a:off x="3108960" y="1463040"/>
            <a:ext cx="2679192" cy="457200"/>
          </a:xfrm>
          <a:prstGeom prst="chevron">
            <a:avLst/>
          </a:prstGeom>
          <a:solidFill>
            <a:srgbClr val="8FB8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xp-2-stage-t"/>
          <p:cNvSpPr txBox="1"/>
          <p:nvPr/>
        </p:nvSpPr>
        <p:spPr>
          <a:xfrm>
            <a:off x="3383280" y="1463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订前 · 下单</a:t>
            </a:r>
            <a:endParaRPr lang="en-US" sz="1500" dirty="0"/>
          </a:p>
        </p:txBody>
      </p:sp>
      <p:sp>
        <p:nvSpPr>
          <p:cNvPr id="20" name="xp-2-name"/>
          <p:cNvSpPr txBox="1"/>
          <p:nvPr/>
        </p:nvSpPr>
        <p:spPr>
          <a:xfrm>
            <a:off x="3154680" y="20848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夜间车次默认截止时间</a:t>
            </a:r>
            <a:endParaRPr lang="en-US" sz="1500" dirty="0"/>
          </a:p>
        </p:txBody>
      </p:sp>
      <p:sp>
        <p:nvSpPr>
          <p:cNvPr id="21" name="xp-2-desc"/>
          <p:cNvSpPr txBox="1"/>
          <p:nvPr/>
        </p:nvSpPr>
        <p:spPr>
          <a:xfrm>
            <a:off x="3154680" y="241401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D4757"/>
                </a:solidFill>
              </a:rPr>
              <a:t>针对夜间无感出票引发的客诉，深夜—凌晨发车车次的默认截止时间按下单时间动态计算</a:t>
            </a:r>
            <a:endParaRPr lang="en-US" sz="1150" dirty="0"/>
          </a:p>
        </p:txBody>
      </p:sp>
      <p:pic>
        <p:nvPicPr>
          <p:cNvPr id="22" name="xp-2-img" descr="xp_dead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3200400"/>
            <a:ext cx="2377440" cy="2685627"/>
          </a:xfrm>
          <a:prstGeom prst="rect">
            <a:avLst/>
          </a:prstGeom>
        </p:spPr>
      </p:pic>
      <p:sp>
        <p:nvSpPr>
          <p:cNvPr id="23" name="xp-2-img-frame"/>
          <p:cNvSpPr/>
          <p:nvPr/>
        </p:nvSpPr>
        <p:spPr>
          <a:xfrm>
            <a:off x="3154680" y="3200400"/>
            <a:ext cx="2377440" cy="2685627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4" name="xp-3-stage"/>
          <p:cNvSpPr/>
          <p:nvPr/>
        </p:nvSpPr>
        <p:spPr>
          <a:xfrm>
            <a:off x="5760720" y="1463040"/>
            <a:ext cx="3456432" cy="457200"/>
          </a:xfrm>
          <a:prstGeom prst="chevron">
            <a:avLst/>
          </a:prstGeom>
          <a:solidFill>
            <a:srgbClr val="287DF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xp-3-stage-t"/>
          <p:cNvSpPr txBox="1"/>
          <p:nvPr/>
        </p:nvSpPr>
        <p:spPr>
          <a:xfrm>
            <a:off x="603504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订后 · 抢票中</a:t>
            </a:r>
            <a:endParaRPr lang="en-US" sz="1500" dirty="0"/>
          </a:p>
        </p:txBody>
      </p:sp>
      <p:sp>
        <p:nvSpPr>
          <p:cNvPr id="26" name="xp-3-name"/>
          <p:cNvSpPr txBox="1"/>
          <p:nvPr/>
        </p:nvSpPr>
        <p:spPr>
          <a:xfrm>
            <a:off x="5806440" y="2084832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小程序微信直付 · 外呼策略</a:t>
            </a:r>
            <a:endParaRPr lang="en-US" sz="1500" dirty="0"/>
          </a:p>
        </p:txBody>
      </p:sp>
      <p:sp>
        <p:nvSpPr>
          <p:cNvPr id="27" name="xp-3-desc"/>
          <p:cNvSpPr txBox="1"/>
          <p:nvPr/>
        </p:nvSpPr>
        <p:spPr>
          <a:xfrm>
            <a:off x="5806440" y="2414016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D4757"/>
                </a:solidFill>
              </a:rPr>
              <a:t>小程序直付场景直接拉起微信支付，不再跳转客服后支付；同时收敛订后外呼</a:t>
            </a:r>
            <a:endParaRPr lang="en-US" sz="1150" dirty="0"/>
          </a:p>
        </p:txBody>
      </p:sp>
      <p:pic>
        <p:nvPicPr>
          <p:cNvPr id="28" name="xp-3-img" descr="xp_w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3200400"/>
            <a:ext cx="1600200" cy="3007863"/>
          </a:xfrm>
          <a:prstGeom prst="rect">
            <a:avLst/>
          </a:prstGeom>
        </p:spPr>
      </p:pic>
      <p:sp>
        <p:nvSpPr>
          <p:cNvPr id="29" name="xp-3-img-frame"/>
          <p:cNvSpPr/>
          <p:nvPr/>
        </p:nvSpPr>
        <p:spPr>
          <a:xfrm>
            <a:off x="5806440" y="3200400"/>
            <a:ext cx="1600200" cy="3007863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30" name="xp-3-cap"/>
          <p:cNvSpPr txBox="1"/>
          <p:nvPr/>
        </p:nvSpPr>
        <p:spPr>
          <a:xfrm>
            <a:off x="5806440" y="62453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80"/>
                </a:solidFill>
              </a:rPr>
              <a:t>小程序内拉起微信支付</a:t>
            </a:r>
            <a:endParaRPr lang="en-US" sz="950" dirty="0"/>
          </a:p>
        </p:txBody>
      </p:sp>
      <p:sp>
        <p:nvSpPr>
          <p:cNvPr id="31" name="xp-3-call-card"/>
          <p:cNvSpPr/>
          <p:nvPr/>
        </p:nvSpPr>
        <p:spPr>
          <a:xfrm>
            <a:off x="7589520" y="3200400"/>
            <a:ext cx="1371600" cy="3017520"/>
          </a:xfrm>
          <a:prstGeom prst="roundRect">
            <a:avLst>
              <a:gd name="adj" fmla="val 5333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32" name="xp-3-call-h"/>
          <p:cNvSpPr txBox="1"/>
          <p:nvPr/>
        </p:nvSpPr>
        <p:spPr>
          <a:xfrm>
            <a:off x="7699248" y="3291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87DFA"/>
                </a:solidFill>
              </a:rPr>
              <a:t>外呼策略</a:t>
            </a:r>
            <a:endParaRPr lang="en-US" sz="1200" dirty="0"/>
          </a:p>
        </p:txBody>
      </p:sp>
      <p:sp>
        <p:nvSpPr>
          <p:cNvPr id="33" name="xp-3-call-list"/>
          <p:cNvSpPr txBox="1"/>
          <p:nvPr/>
        </p:nvSpPr>
        <p:spPr>
          <a:xfrm>
            <a:off x="7699248" y="3639312"/>
            <a:ext cx="1188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D4757"/>
                </a:solidFill>
              </a:rPr>
              <a:t>结果类通知不外呼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D4757"/>
                </a:solidFill>
              </a:rPr>
              <a:t>同开售点多订单只呼一次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D4757"/>
                </a:solidFill>
              </a:rPr>
              <a:t>同类事件每日只呼一次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3D4757"/>
                </a:solidFill>
              </a:rPr>
              <a:t>支持用户按订单关闭外呼</a:t>
            </a:r>
            <a:endParaRPr lang="en-US" sz="1100" dirty="0"/>
          </a:p>
        </p:txBody>
      </p:sp>
      <p:sp>
        <p:nvSpPr>
          <p:cNvPr id="34" name="xp-4-stage"/>
          <p:cNvSpPr/>
          <p:nvPr/>
        </p:nvSpPr>
        <p:spPr>
          <a:xfrm>
            <a:off x="9189720" y="1463040"/>
            <a:ext cx="2514600" cy="457200"/>
          </a:xfrm>
          <a:prstGeom prst="chevron">
            <a:avLst/>
          </a:prstGeom>
          <a:solidFill>
            <a:srgbClr val="8FB8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xp-4-stage-t"/>
          <p:cNvSpPr txBox="1"/>
          <p:nvPr/>
        </p:nvSpPr>
        <p:spPr>
          <a:xfrm>
            <a:off x="9464040" y="14630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出票后</a:t>
            </a:r>
            <a:endParaRPr lang="en-US" sz="1500" dirty="0"/>
          </a:p>
        </p:txBody>
      </p:sp>
      <p:sp>
        <p:nvSpPr>
          <p:cNvPr id="36" name="xp-4-name"/>
          <p:cNvSpPr txBox="1"/>
          <p:nvPr/>
        </p:nvSpPr>
        <p:spPr>
          <a:xfrm>
            <a:off x="9235440" y="20848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在线换座首页弹窗</a:t>
            </a:r>
            <a:endParaRPr lang="en-US" sz="1500" dirty="0"/>
          </a:p>
        </p:txBody>
      </p:sp>
      <p:sp>
        <p:nvSpPr>
          <p:cNvPr id="37" name="xp-4-desc"/>
          <p:cNvSpPr txBox="1"/>
          <p:nvPr/>
        </p:nvSpPr>
        <p:spPr>
          <a:xfrm>
            <a:off x="9235440" y="2414016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D4757"/>
                </a:solidFill>
              </a:rPr>
              <a:t>只保留 4 种有明确换位价值的场景：靠窗/过道、下铺、有座、同伴连座</a:t>
            </a:r>
            <a:endParaRPr lang="en-US" sz="1150" dirty="0"/>
          </a:p>
        </p:txBody>
      </p:sp>
      <p:pic>
        <p:nvPicPr>
          <p:cNvPr id="38" name="xp-4-img" descr="xp_se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0" y="3200400"/>
            <a:ext cx="2377440" cy="3007822"/>
          </a:xfrm>
          <a:prstGeom prst="rect">
            <a:avLst/>
          </a:prstGeom>
        </p:spPr>
      </p:pic>
      <p:sp>
        <p:nvSpPr>
          <p:cNvPr id="39" name="xp-4-img-frame"/>
          <p:cNvSpPr/>
          <p:nvPr/>
        </p:nvSpPr>
        <p:spPr>
          <a:xfrm>
            <a:off x="9235440" y="3200400"/>
            <a:ext cx="2377440" cy="300782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DEE7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3、思考与规划 · 把问题归因清楚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归因的质量，直接决定后续投入的方向是否正确</a:t>
            </a:r>
            <a:endParaRPr lang="en-US" sz="1700" dirty="0"/>
          </a:p>
        </p:txBody>
      </p:sp>
      <p:sp>
        <p:nvSpPr>
          <p:cNvPr id="4" name="th-card0"/>
          <p:cNvSpPr/>
          <p:nvPr/>
        </p:nvSpPr>
        <p:spPr>
          <a:xfrm>
            <a:off x="457200" y="1600200"/>
            <a:ext cx="4892040" cy="4526280"/>
          </a:xfrm>
          <a:prstGeom prst="roundRect">
            <a:avLst>
              <a:gd name="adj" fmla="val 1616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5" name="th-card1"/>
          <p:cNvSpPr/>
          <p:nvPr/>
        </p:nvSpPr>
        <p:spPr>
          <a:xfrm>
            <a:off x="5660136" y="1600200"/>
            <a:ext cx="2880360" cy="4526280"/>
          </a:xfrm>
          <a:prstGeom prst="roundRect">
            <a:avLst>
              <a:gd name="adj" fmla="val 254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6" name="th-card2"/>
          <p:cNvSpPr/>
          <p:nvPr/>
        </p:nvSpPr>
        <p:spPr>
          <a:xfrm>
            <a:off x="8851392" y="1600200"/>
            <a:ext cx="2880360" cy="4526280"/>
          </a:xfrm>
          <a:prstGeom prst="roundRect">
            <a:avLst>
              <a:gd name="adj" fmla="val 2540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7" name="th-arrow1"/>
          <p:cNvSpPr/>
          <p:nvPr/>
        </p:nvSpPr>
        <p:spPr>
          <a:xfrm>
            <a:off x="5394960" y="3680460"/>
            <a:ext cx="219456" cy="365760"/>
          </a:xfrm>
          <a:prstGeom prst="rightArrow">
            <a:avLst/>
          </a:prstGeom>
          <a:solidFill>
            <a:srgbClr val="8FB8F5"/>
          </a:solidFill>
          <a:ln w="12700">
            <a:solidFill>
              <a:srgbClr val="8FB8F5"/>
            </a:solidFill>
            <a:prstDash val="solid"/>
          </a:ln>
        </p:spPr>
      </p:sp>
      <p:sp>
        <p:nvSpPr>
          <p:cNvPr id="8" name="th-arrow2"/>
          <p:cNvSpPr/>
          <p:nvPr/>
        </p:nvSpPr>
        <p:spPr>
          <a:xfrm>
            <a:off x="8586216" y="3680460"/>
            <a:ext cx="219456" cy="365760"/>
          </a:xfrm>
          <a:prstGeom prst="rightArrow">
            <a:avLst/>
          </a:prstGeom>
          <a:solidFill>
            <a:srgbClr val="8FB8F5"/>
          </a:solidFill>
          <a:ln w="12700">
            <a:solidFill>
              <a:srgbClr val="8FB8F5"/>
            </a:solidFill>
            <a:prstDash val="solid"/>
          </a:ln>
        </p:spPr>
      </p:sp>
      <p:sp>
        <p:nvSpPr>
          <p:cNvPr id="9" name="th-a-chip"/>
          <p:cNvSpPr/>
          <p:nvPr/>
        </p:nvSpPr>
        <p:spPr>
          <a:xfrm>
            <a:off x="640080" y="1828800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10" name="th-a-chip-t"/>
          <p:cNvSpPr txBox="1"/>
          <p:nvPr/>
        </p:nvSpPr>
        <p:spPr>
          <a:xfrm>
            <a:off x="640080" y="182880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归因</a:t>
            </a:r>
            <a:endParaRPr lang="en-US" sz="1300" dirty="0"/>
          </a:p>
        </p:txBody>
      </p:sp>
      <p:sp>
        <p:nvSpPr>
          <p:cNvPr id="11" name="th-a-h"/>
          <p:cNvSpPr txBox="1"/>
          <p:nvPr/>
        </p:nvSpPr>
        <p:spPr>
          <a:xfrm>
            <a:off x="640080" y="228600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以支付挽回为例：什么情况下要走直付</a:t>
            </a:r>
            <a:endParaRPr lang="en-US" sz="1500" dirty="0"/>
          </a:p>
        </p:txBody>
      </p:sp>
      <p:graphicFrame>
        <p:nvGraphicFramePr>
          <p:cNvPr id="13" name="th-a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97480"/>
          <a:ext cx="45262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51560"/>
                <a:gridCol w="777240"/>
                <a:gridCol w="685800"/>
                <a:gridCol w="640080"/>
                <a:gridCol w="640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支付方式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1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支付渠道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1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下单/开售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时候补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1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抢票中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候补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1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捡漏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出票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1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智能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出票</a:t>
                      </a:r>
                      <a:endParaRPr lang="en-US" sz="9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15E"/>
                    </a:solidFill>
                  </a:tcPr>
                </a:tc>
              </a:tr>
              <a:tr h="329184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315E"/>
                          </a:solidFill>
                        </a:rPr>
                        <a:t>信用付</a:t>
                      </a:r>
                      <a:endParaRPr lang="en-US" sz="1050" dirty="0"/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315E"/>
                          </a:solidFill>
                        </a:rPr>
                        <a:t>70%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315E"/>
                          </a:solidFill>
                        </a:rPr>
                        <a:t>支付宝 80%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87DFA"/>
                          </a:solidFill>
                        </a:rPr>
                        <a:t>代付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87DFA"/>
                          </a:solidFill>
                        </a:rPr>
                        <a:t>代付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87DFA"/>
                          </a:solidFill>
                        </a:rPr>
                        <a:t>代付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87DFA"/>
                          </a:solidFill>
                        </a:rPr>
                        <a:t>代付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7A1A"/>
                          </a:solidFill>
                        </a:rPr>
                        <a:t>其他 20%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7A1A"/>
                          </a:solidFill>
                        </a:rPr>
                        <a:t>直付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7A1A"/>
                          </a:solidFill>
                        </a:rPr>
                        <a:t>直付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7A1A"/>
                          </a:solidFill>
                        </a:rPr>
                        <a:t>直付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7A1A"/>
                          </a:solidFill>
                        </a:rPr>
                        <a:t>直付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</a:tr>
              <a:tr h="329184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315E"/>
                          </a:solidFill>
                        </a:rPr>
                        <a:t>预付</a:t>
                      </a:r>
                      <a:endParaRPr lang="en-US" sz="1050" dirty="0"/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315E"/>
                          </a:solidFill>
                        </a:rPr>
                        <a:t>30%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5315E"/>
                          </a:solidFill>
                        </a:rPr>
                        <a:t>支付宝 80%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87DFA"/>
                          </a:solidFill>
                        </a:rPr>
                        <a:t>代付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87DFA"/>
                          </a:solidFill>
                        </a:rPr>
                        <a:t>代付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87DFA"/>
                          </a:solidFill>
                        </a:rPr>
                        <a:t>代付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87DFA"/>
                          </a:solidFill>
                        </a:rPr>
                        <a:t>代付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7A1A"/>
                          </a:solidFill>
                        </a:rPr>
                        <a:t>其他 20%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7A1A"/>
                          </a:solidFill>
                        </a:rPr>
                        <a:t>直付 *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7A1A"/>
                          </a:solidFill>
                        </a:rPr>
                        <a:t>直付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7A1A"/>
                          </a:solidFill>
                        </a:rPr>
                        <a:t>直付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7A1A"/>
                          </a:solidFill>
                        </a:rPr>
                        <a:t>直付</a:t>
                      </a:r>
                      <a:endParaRPr lang="en-US" sz="1050" dirty="0"/>
                    </a:p>
                  </a:txBody>
                  <a:tcPr marL="27432" marR="27432" marT="27432" marB="2743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</a:tr>
            </a:tbl>
          </a:graphicData>
        </a:graphic>
      </p:graphicFrame>
      <p:sp>
        <p:nvSpPr>
          <p:cNvPr id="13" name="th-a-note"/>
          <p:cNvSpPr txBox="1"/>
          <p:nvPr/>
        </p:nvSpPr>
        <p:spPr>
          <a:xfrm>
            <a:off x="640080" y="449884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0"/>
                </a:solidFill>
              </a:rPr>
              <a:t>预约 / 非预约、含 / 无套餐结论一致；* 非预约订单下单时无候补　小程序无法使用支付宝，订单全部落在「其他」</a:t>
            </a:r>
            <a:endParaRPr lang="en-US" sz="900" dirty="0"/>
          </a:p>
        </p:txBody>
      </p:sp>
      <p:sp>
        <p:nvSpPr>
          <p:cNvPr id="14" name="th-a-cost-h"/>
          <p:cNvSpPr txBox="1"/>
          <p:nvPr/>
        </p:nvSpPr>
        <p:spPr>
          <a:xfrm>
            <a:off x="640080" y="48920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7A1A"/>
                </a:solidFill>
              </a:rPr>
              <a:t>直付的代价</a:t>
            </a:r>
            <a:endParaRPr lang="en-US" sz="1200" dirty="0"/>
          </a:p>
        </p:txBody>
      </p:sp>
      <p:sp>
        <p:nvSpPr>
          <p:cNvPr id="15" name="th-a-cost0"/>
          <p:cNvSpPr txBox="1"/>
          <p:nvPr/>
        </p:nvSpPr>
        <p:spPr>
          <a:xfrm>
            <a:off x="640080" y="519379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315E"/>
                </a:solidFill>
              </a:rPr>
              <a:t>流程体验　</a:t>
            </a:r>
            <a:pPr indent="0" marL="0">
              <a:buNone/>
            </a:pPr>
            <a:r>
              <a:rPr lang="en-US" sz="1050" dirty="0">
                <a:solidFill>
                  <a:srgbClr val="3D4757"/>
                </a:solidFill>
              </a:rPr>
              <a:t>多一次召回，捡漏、智能需重复付款</a:t>
            </a:r>
            <a:endParaRPr lang="en-US" sz="1050" dirty="0"/>
          </a:p>
        </p:txBody>
      </p:sp>
      <p:sp>
        <p:nvSpPr>
          <p:cNvPr id="16" name="th-a-cost1"/>
          <p:cNvSpPr txBox="1"/>
          <p:nvPr/>
        </p:nvSpPr>
        <p:spPr>
          <a:xfrm>
            <a:off x="640080" y="54772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315E"/>
                </a:solidFill>
              </a:rPr>
              <a:t>扣位资源　</a:t>
            </a:r>
            <a:pPr indent="0" marL="0">
              <a:buNone/>
            </a:pPr>
            <a:r>
              <a:rPr lang="en-US" sz="1050" dirty="0">
                <a:solidFill>
                  <a:srgbClr val="3D4757"/>
                </a:solidFill>
              </a:rPr>
              <a:t>智能扣位消耗捡漏次数；未支付锁单 10h</a:t>
            </a:r>
            <a:endParaRPr lang="en-US" sz="1050" dirty="0"/>
          </a:p>
        </p:txBody>
      </p:sp>
      <p:sp>
        <p:nvSpPr>
          <p:cNvPr id="17" name="th-a-cost2"/>
          <p:cNvSpPr txBox="1"/>
          <p:nvPr/>
        </p:nvSpPr>
        <p:spPr>
          <a:xfrm>
            <a:off x="640080" y="57607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315E"/>
                </a:solidFill>
              </a:rPr>
              <a:t>外呼资源　</a:t>
            </a:r>
            <a:pPr indent="0" marL="0">
              <a:buNone/>
            </a:pPr>
            <a:r>
              <a:rPr lang="en-US" sz="1050" dirty="0">
                <a:solidFill>
                  <a:srgbClr val="3D4757"/>
                </a:solidFill>
              </a:rPr>
              <a:t>捡漏、智能、中断外呼叠加，过度打扰</a:t>
            </a:r>
            <a:endParaRPr lang="en-US" sz="1050" dirty="0"/>
          </a:p>
        </p:txBody>
      </p:sp>
      <p:sp>
        <p:nvSpPr>
          <p:cNvPr id="18" name="th-b-chip"/>
          <p:cNvSpPr/>
          <p:nvPr/>
        </p:nvSpPr>
        <p:spPr>
          <a:xfrm>
            <a:off x="5843016" y="1828800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19" name="th-b-chip-t"/>
          <p:cNvSpPr txBox="1"/>
          <p:nvPr/>
        </p:nvSpPr>
        <p:spPr>
          <a:xfrm>
            <a:off x="5843016" y="182880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发现</a:t>
            </a:r>
            <a:endParaRPr lang="en-US" sz="1300" dirty="0"/>
          </a:p>
        </p:txBody>
      </p:sp>
      <p:sp>
        <p:nvSpPr>
          <p:cNvPr id="20" name="th-b-h"/>
          <p:cNvSpPr txBox="1"/>
          <p:nvPr/>
        </p:nvSpPr>
        <p:spPr>
          <a:xfrm>
            <a:off x="5843016" y="2286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微信小程序的结构性问题</a:t>
            </a:r>
            <a:endParaRPr lang="en-US" sz="1500" dirty="0"/>
          </a:p>
        </p:txBody>
      </p:sp>
      <p:sp>
        <p:nvSpPr>
          <p:cNvPr id="21" name="th-b-k-l"/>
          <p:cNvSpPr txBox="1"/>
          <p:nvPr/>
        </p:nvSpPr>
        <p:spPr>
          <a:xfrm>
            <a:off x="5843016" y="2788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小程序每日触发直付订单</a:t>
            </a:r>
            <a:endParaRPr lang="en-US" sz="1200" dirty="0"/>
          </a:p>
        </p:txBody>
      </p:sp>
      <p:sp>
        <p:nvSpPr>
          <p:cNvPr id="22" name="th-b-k-v"/>
          <p:cNvSpPr txBox="1"/>
          <p:nvPr/>
        </p:nvSpPr>
        <p:spPr>
          <a:xfrm>
            <a:off x="5843016" y="30632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7A1A"/>
                </a:solidFill>
              </a:rPr>
              <a:t>约 1 万单</a:t>
            </a:r>
            <a:endParaRPr lang="en-US" sz="3600" dirty="0"/>
          </a:p>
        </p:txBody>
      </p:sp>
      <p:sp>
        <p:nvSpPr>
          <p:cNvPr id="23" name="th-b-k-n"/>
          <p:cNvSpPr txBox="1"/>
          <p:nvPr/>
        </p:nvSpPr>
        <p:spPr>
          <a:xfrm>
            <a:off x="5843016" y="374904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757"/>
                </a:solidFill>
              </a:rPr>
              <a:t>约为同期小程序开抢订单的一半</a:t>
            </a:r>
            <a:endParaRPr lang="en-US" sz="1200" dirty="0"/>
          </a:p>
        </p:txBody>
      </p:sp>
      <p:sp>
        <p:nvSpPr>
          <p:cNvPr id="24" name="th-b-bar0"/>
          <p:cNvSpPr/>
          <p:nvPr/>
        </p:nvSpPr>
        <p:spPr>
          <a:xfrm>
            <a:off x="5843016" y="4389120"/>
            <a:ext cx="54864" cy="658368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5" name="th-b-p0"/>
          <p:cNvSpPr txBox="1"/>
          <p:nvPr/>
        </p:nvSpPr>
        <p:spPr>
          <a:xfrm>
            <a:off x="6025896" y="438912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无法使用支付宝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订单无法获得代付条件</a:t>
            </a:r>
            <a:endParaRPr lang="en-US" sz="1400" dirty="0"/>
          </a:p>
        </p:txBody>
      </p:sp>
      <p:sp>
        <p:nvSpPr>
          <p:cNvPr id="26" name="th-b-bar1"/>
          <p:cNvSpPr/>
          <p:nvPr/>
        </p:nvSpPr>
        <p:spPr>
          <a:xfrm>
            <a:off x="5843016" y="5230368"/>
            <a:ext cx="54864" cy="658368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7" name="th-b-p1"/>
          <p:cNvSpPr txBox="1"/>
          <p:nvPr/>
        </p:nvSpPr>
        <p:spPr>
          <a:xfrm>
            <a:off x="6025896" y="5230368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召回漏斗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票量损失；频繁直付召回体验较差</a:t>
            </a:r>
            <a:endParaRPr lang="en-US" sz="1400" dirty="0"/>
          </a:p>
        </p:txBody>
      </p:sp>
      <p:sp>
        <p:nvSpPr>
          <p:cNvPr id="28" name="th-c-chip"/>
          <p:cNvSpPr/>
          <p:nvPr/>
        </p:nvSpPr>
        <p:spPr>
          <a:xfrm>
            <a:off x="9034272" y="1828800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29" name="th-c-chip-t"/>
          <p:cNvSpPr txBox="1"/>
          <p:nvPr/>
        </p:nvSpPr>
        <p:spPr>
          <a:xfrm>
            <a:off x="9034272" y="1828800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规划</a:t>
            </a:r>
            <a:endParaRPr lang="en-US" sz="1300" dirty="0"/>
          </a:p>
        </p:txBody>
      </p:sp>
      <p:sp>
        <p:nvSpPr>
          <p:cNvPr id="30" name="th-c-h"/>
          <p:cNvSpPr txBox="1"/>
          <p:nvPr/>
        </p:nvSpPr>
        <p:spPr>
          <a:xfrm>
            <a:off x="9034272" y="22860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重点提升小程序抢票成功率</a:t>
            </a:r>
            <a:endParaRPr lang="en-US" sz="1500" dirty="0"/>
          </a:p>
        </p:txBody>
      </p:sp>
      <p:sp>
        <p:nvSpPr>
          <p:cNvPr id="31" name="th-c-n0"/>
          <p:cNvSpPr/>
          <p:nvPr/>
        </p:nvSpPr>
        <p:spPr>
          <a:xfrm>
            <a:off x="9034272" y="2834640"/>
            <a:ext cx="384048" cy="384048"/>
          </a:xfrm>
          <a:prstGeom prst="ellipse">
            <a:avLst/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32" name="th-c-n0-t"/>
          <p:cNvSpPr txBox="1"/>
          <p:nvPr/>
        </p:nvSpPr>
        <p:spPr>
          <a:xfrm>
            <a:off x="9034272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3" name="th-c-p0"/>
          <p:cNvSpPr txBox="1"/>
          <p:nvPr/>
        </p:nvSpPr>
        <p:spPr>
          <a:xfrm>
            <a:off x="9537192" y="27889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小程序内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优化小程序内的功能与支付流程</a:t>
            </a:r>
            <a:endParaRPr lang="en-US" sz="1400" dirty="0"/>
          </a:p>
        </p:txBody>
      </p:sp>
      <p:sp>
        <p:nvSpPr>
          <p:cNvPr id="34" name="th-c-n1"/>
          <p:cNvSpPr/>
          <p:nvPr/>
        </p:nvSpPr>
        <p:spPr>
          <a:xfrm>
            <a:off x="9034272" y="3840480"/>
            <a:ext cx="384048" cy="384048"/>
          </a:xfrm>
          <a:prstGeom prst="ellipse">
            <a:avLst/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35" name="th-c-n1-t"/>
          <p:cNvSpPr txBox="1"/>
          <p:nvPr/>
        </p:nvSpPr>
        <p:spPr>
          <a:xfrm>
            <a:off x="903427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6" name="th-c-p1"/>
          <p:cNvSpPr txBox="1"/>
          <p:nvPr/>
        </p:nvSpPr>
        <p:spPr>
          <a:xfrm>
            <a:off x="9537192" y="379476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315E"/>
                </a:solidFill>
              </a:rPr>
              <a:t>人群与支付结构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3D4757"/>
                </a:solidFill>
              </a:rPr>
              <a:t>从小程序与 APP 交叉人群、支付方式结构入手，探索订单获得代付条件的路径</a:t>
            </a:r>
            <a:endParaRPr lang="en-US" sz="1400" dirty="0"/>
          </a:p>
        </p:txBody>
      </p:sp>
      <p:sp>
        <p:nvSpPr>
          <p:cNvPr id="37" name="th-c-goal"/>
          <p:cNvSpPr/>
          <p:nvPr/>
        </p:nvSpPr>
        <p:spPr>
          <a:xfrm>
            <a:off x="9034272" y="5212080"/>
            <a:ext cx="2514600" cy="658368"/>
          </a:xfrm>
          <a:prstGeom prst="roundRect">
            <a:avLst>
              <a:gd name="adj" fmla="val 8333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38" name="th-c-goal-t"/>
          <p:cNvSpPr txBox="1"/>
          <p:nvPr/>
        </p:nvSpPr>
        <p:spPr>
          <a:xfrm>
            <a:off x="9144000" y="521208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7A1A"/>
                </a:solidFill>
              </a:rPr>
              <a:t>目标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5315E"/>
                </a:solidFill>
              </a:rPr>
              <a:t>小程序成功率逐步回到风控前水平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3、思考与规划 · AI × 业务</a:t>
            </a:r>
            <a:endParaRPr lang="en-US" sz="30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在更多领域，AI 是服务业务的手段，衡量的是业务结果</a:t>
            </a:r>
            <a:endParaRPr lang="en-US" sz="1700" dirty="0"/>
          </a:p>
        </p:txBody>
      </p:sp>
      <p:sp>
        <p:nvSpPr>
          <p:cNvPr id="4" name="ai-0-card"/>
          <p:cNvSpPr/>
          <p:nvPr/>
        </p:nvSpPr>
        <p:spPr>
          <a:xfrm>
            <a:off x="457200" y="16002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ai-0-tag"/>
          <p:cNvSpPr txBox="1"/>
          <p:nvPr/>
        </p:nvSpPr>
        <p:spPr>
          <a:xfrm>
            <a:off x="731520" y="17647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B6B80"/>
                </a:solidFill>
              </a:rPr>
              <a:t>AI native</a:t>
            </a:r>
            <a:endParaRPr lang="en-US" sz="2000" dirty="0"/>
          </a:p>
        </p:txBody>
      </p:sp>
      <p:sp>
        <p:nvSpPr>
          <p:cNvPr id="6" name="ai-0-k0"/>
          <p:cNvSpPr txBox="1"/>
          <p:nvPr/>
        </p:nvSpPr>
        <p:spPr>
          <a:xfrm>
            <a:off x="731520" y="23134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</a:rPr>
              <a:t>定位</a:t>
            </a:r>
            <a:endParaRPr lang="en-US" sz="1300" dirty="0"/>
          </a:p>
        </p:txBody>
      </p:sp>
      <p:sp>
        <p:nvSpPr>
          <p:cNvPr id="7" name="ai-0-v0"/>
          <p:cNvSpPr txBox="1"/>
          <p:nvPr/>
        </p:nvSpPr>
        <p:spPr>
          <a:xfrm>
            <a:off x="1463040" y="23134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模型本身就是产品</a:t>
            </a:r>
            <a:endParaRPr lang="en-US" sz="1500" dirty="0"/>
          </a:p>
        </p:txBody>
      </p:sp>
      <p:sp>
        <p:nvSpPr>
          <p:cNvPr id="8" name="ai-0-k1"/>
          <p:cNvSpPr txBox="1"/>
          <p:nvPr/>
        </p:nvSpPr>
        <p:spPr>
          <a:xfrm>
            <a:off x="731520" y="28163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</a:rPr>
              <a:t>衡量</a:t>
            </a:r>
            <a:endParaRPr lang="en-US" sz="1300" dirty="0"/>
          </a:p>
        </p:txBody>
      </p:sp>
      <p:sp>
        <p:nvSpPr>
          <p:cNvPr id="9" name="ai-0-v1"/>
          <p:cNvSpPr txBox="1"/>
          <p:nvPr/>
        </p:nvSpPr>
        <p:spPr>
          <a:xfrm>
            <a:off x="1463040" y="28163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模型表现得好不好</a:t>
            </a:r>
            <a:endParaRPr lang="en-US" sz="1500" dirty="0"/>
          </a:p>
        </p:txBody>
      </p:sp>
      <p:sp>
        <p:nvSpPr>
          <p:cNvPr id="10" name="ai-1-card"/>
          <p:cNvSpPr/>
          <p:nvPr/>
        </p:nvSpPr>
        <p:spPr>
          <a:xfrm>
            <a:off x="6336792" y="16002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1" name="ai-1-tag"/>
          <p:cNvSpPr txBox="1"/>
          <p:nvPr/>
        </p:nvSpPr>
        <p:spPr>
          <a:xfrm>
            <a:off x="6611112" y="176479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87DFA"/>
                </a:solidFill>
              </a:rPr>
              <a:t>AI × 业务</a:t>
            </a:r>
            <a:endParaRPr lang="en-US" sz="2000" dirty="0"/>
          </a:p>
        </p:txBody>
      </p:sp>
      <p:sp>
        <p:nvSpPr>
          <p:cNvPr id="12" name="ai-1-k0"/>
          <p:cNvSpPr txBox="1"/>
          <p:nvPr/>
        </p:nvSpPr>
        <p:spPr>
          <a:xfrm>
            <a:off x="6611112" y="23134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</a:rPr>
              <a:t>定位</a:t>
            </a:r>
            <a:endParaRPr lang="en-US" sz="1300" dirty="0"/>
          </a:p>
        </p:txBody>
      </p:sp>
      <p:sp>
        <p:nvSpPr>
          <p:cNvPr id="13" name="ai-1-v0"/>
          <p:cNvSpPr txBox="1"/>
          <p:nvPr/>
        </p:nvSpPr>
        <p:spPr>
          <a:xfrm>
            <a:off x="7342632" y="23134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AI 是服务业务的手段</a:t>
            </a:r>
            <a:endParaRPr lang="en-US" sz="1500" dirty="0"/>
          </a:p>
        </p:txBody>
      </p:sp>
      <p:sp>
        <p:nvSpPr>
          <p:cNvPr id="14" name="ai-1-k1"/>
          <p:cNvSpPr txBox="1"/>
          <p:nvPr/>
        </p:nvSpPr>
        <p:spPr>
          <a:xfrm>
            <a:off x="6611112" y="28163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</a:rPr>
              <a:t>衡量</a:t>
            </a:r>
            <a:endParaRPr lang="en-US" sz="1300" dirty="0"/>
          </a:p>
        </p:txBody>
      </p:sp>
      <p:sp>
        <p:nvSpPr>
          <p:cNvPr id="15" name="ai-1-v1"/>
          <p:cNvSpPr txBox="1"/>
          <p:nvPr/>
        </p:nvSpPr>
        <p:spPr>
          <a:xfrm>
            <a:off x="7342632" y="28163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业务结果</a:t>
            </a:r>
            <a:endParaRPr lang="en-US" sz="1500" dirty="0"/>
          </a:p>
        </p:txBody>
      </p:sp>
      <p:sp>
        <p:nvSpPr>
          <p:cNvPr id="16" name="ai-arrow"/>
          <p:cNvSpPr/>
          <p:nvPr/>
        </p:nvSpPr>
        <p:spPr>
          <a:xfrm>
            <a:off x="5916168" y="2350008"/>
            <a:ext cx="356616" cy="365760"/>
          </a:xfrm>
          <a:prstGeom prst="rightArrow">
            <a:avLst/>
          </a:prstGeom>
          <a:solidFill>
            <a:srgbClr val="8FB8F5"/>
          </a:solidFill>
          <a:ln w="12700">
            <a:solidFill>
              <a:srgbClr val="8FB8F5"/>
            </a:solidFill>
            <a:prstDash val="solid"/>
          </a:ln>
        </p:spPr>
      </p:sp>
      <p:sp>
        <p:nvSpPr>
          <p:cNvPr id="17" name="ai-ex-bar"/>
          <p:cNvSpPr/>
          <p:nvPr/>
        </p:nvSpPr>
        <p:spPr>
          <a:xfrm>
            <a:off x="457200" y="3703320"/>
            <a:ext cx="64008" cy="868680"/>
          </a:xfrm>
          <a:prstGeom prst="rect">
            <a:avLst/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18" name="ai-ex-h"/>
          <p:cNvSpPr txBox="1"/>
          <p:nvPr/>
        </p:nvSpPr>
        <p:spPr>
          <a:xfrm>
            <a:off x="685800" y="3721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87DFA"/>
                </a:solidFill>
              </a:rPr>
              <a:t>例：火车 Agent 二期</a:t>
            </a:r>
            <a:endParaRPr lang="en-US" sz="1400" dirty="0"/>
          </a:p>
        </p:txBody>
      </p:sp>
      <p:sp>
        <p:nvSpPr>
          <p:cNvPr id="19" name="ai-ex-t"/>
          <p:cNvSpPr txBox="1"/>
          <p:nvPr/>
        </p:nvSpPr>
        <p:spPr>
          <a:xfrm>
            <a:off x="685800" y="41148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对话</a:t>
            </a:r>
            <a:pPr indent="0" marL="0">
              <a:buNone/>
            </a:pPr>
            <a:r>
              <a:rPr lang="en-US" sz="1500" dirty="0">
                <a:solidFill>
                  <a:srgbClr val="5B6B80"/>
                </a:solidFill>
              </a:rPr>
              <a:t>  →  </a:t>
            </a:r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直接操作列表页</a:t>
            </a:r>
            <a:pPr indent="0" marL="0">
              <a:buNone/>
            </a:pPr>
            <a:r>
              <a:rPr lang="en-US" sz="1500" dirty="0">
                <a:solidFill>
                  <a:srgbClr val="3D4757"/>
                </a:solidFill>
              </a:rPr>
              <a:t>：更符合用户原有行为链路，</a:t>
            </a:r>
            <a:pPr indent="0" marL="0">
              <a:buNone/>
            </a:pPr>
            <a:r>
              <a:rPr lang="en-US" sz="1500" b="1" dirty="0">
                <a:solidFill>
                  <a:srgbClr val="FF7A1A"/>
                </a:solidFill>
              </a:rPr>
              <a:t>票量明显提升</a:t>
            </a:r>
            <a:endParaRPr lang="en-US" sz="1500" dirty="0"/>
          </a:p>
        </p:txBody>
      </p:sp>
      <p:sp>
        <p:nvSpPr>
          <p:cNvPr id="20" name="ai-next-chip"/>
          <p:cNvSpPr/>
          <p:nvPr/>
        </p:nvSpPr>
        <p:spPr>
          <a:xfrm>
            <a:off x="457200" y="4910328"/>
            <a:ext cx="713232" cy="329184"/>
          </a:xfrm>
          <a:prstGeom prst="roundRect">
            <a:avLst>
              <a:gd name="adj" fmla="val 16667"/>
            </a:avLst>
          </a:prstGeom>
          <a:solidFill>
            <a:srgbClr val="287DFA"/>
          </a:solidFill>
          <a:ln w="12700">
            <a:solidFill>
              <a:srgbClr val="287DFA"/>
            </a:solidFill>
            <a:prstDash val="solid"/>
          </a:ln>
        </p:spPr>
      </p:sp>
      <p:sp>
        <p:nvSpPr>
          <p:cNvPr id="21" name="ai-next-chip-t"/>
          <p:cNvSpPr txBox="1"/>
          <p:nvPr/>
        </p:nvSpPr>
        <p:spPr>
          <a:xfrm>
            <a:off x="457200" y="4910328"/>
            <a:ext cx="713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探索</a:t>
            </a:r>
            <a:endParaRPr lang="en-US" sz="1300" dirty="0"/>
          </a:p>
        </p:txBody>
      </p:sp>
      <p:sp>
        <p:nvSpPr>
          <p:cNvPr id="22" name="ai-next-h"/>
          <p:cNvSpPr txBox="1"/>
          <p:nvPr/>
        </p:nvSpPr>
        <p:spPr>
          <a:xfrm>
            <a:off x="1325880" y="4892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315E"/>
                </a:solidFill>
              </a:rPr>
              <a:t>AI 的魅力也在于颠覆性的产品和创造，下一步想探索：</a:t>
            </a:r>
            <a:endParaRPr lang="en-US" sz="1500" dirty="0"/>
          </a:p>
        </p:txBody>
      </p:sp>
      <p:sp>
        <p:nvSpPr>
          <p:cNvPr id="23" name="ai-pill0"/>
          <p:cNvSpPr/>
          <p:nvPr/>
        </p:nvSpPr>
        <p:spPr>
          <a:xfrm>
            <a:off x="457200" y="5440680"/>
            <a:ext cx="3017520" cy="566928"/>
          </a:xfrm>
          <a:prstGeom prst="roundRect">
            <a:avLst>
              <a:gd name="adj" fmla="val 16129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4" name="ai-pill0-t"/>
          <p:cNvSpPr txBox="1"/>
          <p:nvPr/>
        </p:nvSpPr>
        <p:spPr>
          <a:xfrm>
            <a:off x="457200" y="54406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7DFA"/>
                </a:solidFill>
              </a:rPr>
              <a:t>融入抢票已有链路</a:t>
            </a:r>
            <a:endParaRPr lang="en-US" sz="1300" dirty="0"/>
          </a:p>
        </p:txBody>
      </p:sp>
      <p:sp>
        <p:nvSpPr>
          <p:cNvPr id="25" name="ai-pill0-sep"/>
          <p:cNvSpPr txBox="1"/>
          <p:nvPr/>
        </p:nvSpPr>
        <p:spPr>
          <a:xfrm>
            <a:off x="3474720" y="5440680"/>
            <a:ext cx="338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B8F5"/>
                </a:solidFill>
              </a:rPr>
              <a:t>›</a:t>
            </a:r>
            <a:endParaRPr lang="en-US" sz="2200" dirty="0"/>
          </a:p>
        </p:txBody>
      </p:sp>
      <p:sp>
        <p:nvSpPr>
          <p:cNvPr id="26" name="ai-pill1"/>
          <p:cNvSpPr/>
          <p:nvPr/>
        </p:nvSpPr>
        <p:spPr>
          <a:xfrm>
            <a:off x="3813048" y="5440680"/>
            <a:ext cx="3931920" cy="566928"/>
          </a:xfrm>
          <a:prstGeom prst="roundRect">
            <a:avLst>
              <a:gd name="adj" fmla="val 16129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27" name="ai-pill1-t"/>
          <p:cNvSpPr txBox="1"/>
          <p:nvPr/>
        </p:nvSpPr>
        <p:spPr>
          <a:xfrm>
            <a:off x="3813048" y="54406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7DFA"/>
                </a:solidFill>
              </a:rPr>
              <a:t>以平台用户心智能够接受的方式展现</a:t>
            </a:r>
            <a:endParaRPr lang="en-US" sz="1300" dirty="0"/>
          </a:p>
        </p:txBody>
      </p:sp>
      <p:sp>
        <p:nvSpPr>
          <p:cNvPr id="28" name="ai-pill1-sep"/>
          <p:cNvSpPr txBox="1"/>
          <p:nvPr/>
        </p:nvSpPr>
        <p:spPr>
          <a:xfrm>
            <a:off x="7744968" y="5440680"/>
            <a:ext cx="338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B8F5"/>
                </a:solidFill>
              </a:rPr>
              <a:t>›</a:t>
            </a:r>
            <a:endParaRPr lang="en-US" sz="2200" dirty="0"/>
          </a:p>
        </p:txBody>
      </p:sp>
      <p:sp>
        <p:nvSpPr>
          <p:cNvPr id="29" name="ai-pill2"/>
          <p:cNvSpPr/>
          <p:nvPr/>
        </p:nvSpPr>
        <p:spPr>
          <a:xfrm>
            <a:off x="8083296" y="5440680"/>
            <a:ext cx="3657600" cy="566928"/>
          </a:xfrm>
          <a:prstGeom prst="roundRect">
            <a:avLst>
              <a:gd name="adj" fmla="val 16129"/>
            </a:avLst>
          </a:prstGeom>
          <a:solidFill>
            <a:srgbClr val="FFF1E6"/>
          </a:solidFill>
          <a:ln w="12700">
            <a:solidFill>
              <a:srgbClr val="FFF1E6"/>
            </a:solidFill>
            <a:prstDash val="solid"/>
          </a:ln>
        </p:spPr>
      </p:sp>
      <p:sp>
        <p:nvSpPr>
          <p:cNvPr id="30" name="ai-pill2-t"/>
          <p:cNvSpPr txBox="1"/>
          <p:nvPr/>
        </p:nvSpPr>
        <p:spPr>
          <a:xfrm>
            <a:off x="8083296" y="544068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A1A"/>
                </a:solidFill>
              </a:rPr>
              <a:t>以最低学习成本认可携程 AI 价值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87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nd-logo" descr="logo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508760" cy="365760"/>
          </a:xfrm>
          <a:prstGeom prst="rect">
            <a:avLst/>
          </a:prstGeom>
        </p:spPr>
      </p:pic>
      <p:sp>
        <p:nvSpPr>
          <p:cNvPr id="3" name="end-title"/>
          <p:cNvSpPr txBox="1"/>
          <p:nvPr/>
        </p:nvSpPr>
        <p:spPr>
          <a:xfrm>
            <a:off x="457200" y="2468880"/>
            <a:ext cx="112745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Thanks</a:t>
            </a:r>
            <a:endParaRPr lang="en-US" sz="6000" dirty="0"/>
          </a:p>
        </p:txBody>
      </p:sp>
      <p:sp>
        <p:nvSpPr>
          <p:cNvPr id="4" name="end-sub"/>
          <p:cNvSpPr txBox="1"/>
          <p:nvPr/>
        </p:nvSpPr>
        <p:spPr>
          <a:xfrm>
            <a:off x="457200" y="361188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以上就是我的分享，谢谢各位老师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ip Defense">
  <a:themeElements>
    <a:clrScheme name="Trip Defense">
      <a:dk1>
        <a:srgbClr val="15315E"/>
      </a:dk1>
      <a:lt1>
        <a:srgbClr val="FFFFFF"/>
      </a:lt1>
      <a:dk2>
        <a:srgbClr val="3D4757"/>
      </a:dk2>
      <a:lt2>
        <a:srgbClr val="EEF4FF"/>
      </a:lt2>
      <a:accent1>
        <a:srgbClr val="287DFA"/>
      </a:accent1>
      <a:accent2>
        <a:srgbClr val="FF7A1A"/>
      </a:accent2>
      <a:accent3>
        <a:srgbClr val="15315E"/>
      </a:accent3>
      <a:accent4>
        <a:srgbClr val="8FB8F5"/>
      </a:accent4>
      <a:accent5>
        <a:srgbClr val="D9DEE7"/>
      </a:accent5>
      <a:accent6>
        <a:srgbClr val="5B6B80"/>
      </a:accent6>
      <a:hlink>
        <a:srgbClr val="287DFA"/>
      </a:hlink>
      <a:folHlink>
        <a:srgbClr val="15315E"/>
      </a:folHlink>
    </a:clrScheme>
    <a:fontScheme name="Trip Defens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2026-10-30T02:02:44Z</dcterms:created>
  <dcterms:modified xsi:type="dcterms:W3CDTF">2026-10-30T02:02:44Z</dcterms:modified>
</cp:coreProperties>
</file>