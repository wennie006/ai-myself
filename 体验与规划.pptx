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体验专项" id="{b014b82a-ce75-b0b5-d4f5-56549811e8f0}">
          <p14:sldIdLst>
            <p14:sldId id="256"/>
          </p14:sldIdLst>
        </p14:section>
        <p14:section name="思考与规划" id="{c343c46d-d3ec-b6a3-8ccd-8b5ed8c236ca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体验专项的目标是在抢票的各个环节给出准确、及时、适度的信息触达和操作链路。 在订前转化方面，我们落地了双节活动日历，以促进用户提早下预约订单，在火车票开售前预热时期日均访问4.2w次，活动→列表页转化率16.6%，开售后日均PV6.1w，活动页到列表页转化率28.8%。在订前阶段，针对由于夜间无感出票导致的客诉，我优化了夜间出行车次的默认抢票截止时间；订后的体验优化主要集中在微信小程序的直付改造，受风控影响微信小程序只能够跳转客服之后再走直付，对用户的体验感较差。因此，我们将这些场景在微信小程序中直接拉起微信直付；此外，优化订后的外呼策略；在出票后阶段，我们也对在线换座的首页弹窗进行策略优化，只保留四种有明确换位价值的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看这几个月，我更深刻地理解了产品工作的核心在于把问题归因清楚，归因的质量直接决定了后续投入的方向是否正确。以支付挽回场景为例，只有在我按场景拆分清楚了当前支付相关的背景和优化思路后，我才对当前现状以及未来的业务方向有了更清楚的思考。
正是在这个归因的过程中，我才发现了当前微信小程序中面临的结构性问题，小程序由于无法使用支付宝而无法让订单获得代付条件，小程序每天触发直付的订单约 1 万单，规模相当于同期小程序开抢订单的一半左右；在召回的漏斗方面存在票量的损失，频繁的直付召回对用户来说体验感较差。所以接下来我会想要在持续对于票量的探索中，重点考虑小程序抢票订单的成功率。一方面优化小程序内的功能与支付流程，另一方面从从小程序与 APP 的交叉人群、支付方式结构入手，探索小程序订单获得代付条件的路径，让小程序的成功率逐步回到风控前的水平。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另一方面则是Ai和业务方面的结合，对 AI native 的产品来说，模型本身就是产品，衡量的是模型表现得好不好；但在更多领域，AI是服务业务的手段，衡量的是业务结果。例如火车agent二期把对话改成直接操作列表页后，这种更符合用户原有行为链路的做法使得票量明显提升。但我们无法否认的是，AI时代的魅力也正在于颠覆性的产品和创造，如何让AI融入进抢票已有的链路之中，以一个平台用户心智能够接受的方式展现出来，让用户以最低的学习成本认可携程的AI价值，这也是另一个我想探索的AI+业务的方向。
以上就是我的分享，谢谢各位老师。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© Trip.com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4、主要项目 · 体验专项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目标：在抢票各环节给出准确、及时、适度的信息触达和操作链路</a:t>
            </a:r>
            <a:endParaRPr lang="en-US" sz="1700" dirty="0"/>
          </a:p>
        </p:txBody>
      </p:sp>
      <p:sp>
        <p:nvSpPr>
          <p:cNvPr id="4" name="xp-1-stage"/>
          <p:cNvSpPr/>
          <p:nvPr/>
        </p:nvSpPr>
        <p:spPr>
          <a:xfrm>
            <a:off x="457200" y="1463040"/>
            <a:ext cx="2679192" cy="457200"/>
          </a:xfrm>
          <a:prstGeom prst="homePlat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xp-1-stage-t"/>
          <p:cNvSpPr txBox="1"/>
          <p:nvPr/>
        </p:nvSpPr>
        <p:spPr>
          <a:xfrm>
            <a:off x="594360" y="1463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订前转化</a:t>
            </a:r>
            <a:endParaRPr lang="en-US" sz="1500" dirty="0"/>
          </a:p>
        </p:txBody>
      </p:sp>
      <p:sp>
        <p:nvSpPr>
          <p:cNvPr id="6" name="xp-1-name"/>
          <p:cNvSpPr txBox="1"/>
          <p:nvPr/>
        </p:nvSpPr>
        <p:spPr>
          <a:xfrm>
            <a:off x="502920" y="2084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双节活动日历</a:t>
            </a:r>
            <a:endParaRPr lang="en-US" sz="1500" dirty="0"/>
          </a:p>
        </p:txBody>
      </p:sp>
      <p:sp>
        <p:nvSpPr>
          <p:cNvPr id="7" name="xp-1-desc"/>
          <p:cNvSpPr txBox="1"/>
          <p:nvPr/>
        </p:nvSpPr>
        <p:spPr>
          <a:xfrm>
            <a:off x="502920" y="241401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757"/>
                </a:solidFill>
              </a:rPr>
              <a:t>开售前预约 + 早鸟价日历，促进用户提早下预约订单</a:t>
            </a:r>
            <a:endParaRPr lang="en-US" sz="1150" dirty="0"/>
          </a:p>
        </p:txBody>
      </p:sp>
      <p:pic>
        <p:nvPicPr>
          <p:cNvPr id="8" name="xp-1-img" descr="xp_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0"/>
            <a:ext cx="1188720" cy="2094569"/>
          </a:xfrm>
          <a:prstGeom prst="rect">
            <a:avLst/>
          </a:prstGeom>
        </p:spPr>
      </p:pic>
      <p:sp>
        <p:nvSpPr>
          <p:cNvPr id="9" name="xp-1-img-frame"/>
          <p:cNvSpPr/>
          <p:nvPr/>
        </p:nvSpPr>
        <p:spPr>
          <a:xfrm>
            <a:off x="502920" y="3200400"/>
            <a:ext cx="1188720" cy="209456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xp-1-kpi0-card"/>
          <p:cNvSpPr/>
          <p:nvPr/>
        </p:nvSpPr>
        <p:spPr>
          <a:xfrm>
            <a:off x="1801368" y="3200400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xp-1-kpi0-p"/>
          <p:cNvSpPr txBox="1"/>
          <p:nvPr/>
        </p:nvSpPr>
        <p:spPr>
          <a:xfrm>
            <a:off x="1892808" y="32735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87DFA"/>
                </a:solidFill>
              </a:rPr>
              <a:t>开售前预热</a:t>
            </a:r>
            <a:endParaRPr lang="en-US" sz="1100" dirty="0"/>
          </a:p>
        </p:txBody>
      </p:sp>
      <p:sp>
        <p:nvSpPr>
          <p:cNvPr id="12" name="xp-1-kpi0-v"/>
          <p:cNvSpPr txBox="1"/>
          <p:nvPr/>
        </p:nvSpPr>
        <p:spPr>
          <a:xfrm>
            <a:off x="1892808" y="3511296"/>
            <a:ext cx="941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315E"/>
                </a:solidFill>
              </a:rPr>
              <a:t>4.2w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</a:rPr>
              <a:t>日均访问</a:t>
            </a:r>
            <a:endParaRPr lang="en-US" sz="1400" dirty="0"/>
          </a:p>
        </p:txBody>
      </p:sp>
      <p:sp>
        <p:nvSpPr>
          <p:cNvPr id="13" name="xp-1-kpi0-r"/>
          <p:cNvSpPr txBox="1"/>
          <p:nvPr/>
        </p:nvSpPr>
        <p:spPr>
          <a:xfrm>
            <a:off x="1892808" y="4050792"/>
            <a:ext cx="941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A1A"/>
                </a:solidFill>
              </a:rPr>
              <a:t>16.6%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</a:rPr>
              <a:t>转化至列表页</a:t>
            </a:r>
            <a:endParaRPr lang="en-US" sz="1400" dirty="0"/>
          </a:p>
        </p:txBody>
      </p:sp>
      <p:sp>
        <p:nvSpPr>
          <p:cNvPr id="14" name="xp-1-kpi1-card"/>
          <p:cNvSpPr/>
          <p:nvPr/>
        </p:nvSpPr>
        <p:spPr>
          <a:xfrm>
            <a:off x="1801368" y="4754880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5" name="xp-1-kpi1-p"/>
          <p:cNvSpPr txBox="1"/>
          <p:nvPr/>
        </p:nvSpPr>
        <p:spPr>
          <a:xfrm>
            <a:off x="1892808" y="48280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87DFA"/>
                </a:solidFill>
              </a:rPr>
              <a:t>开售后</a:t>
            </a:r>
            <a:endParaRPr lang="en-US" sz="1100" dirty="0"/>
          </a:p>
        </p:txBody>
      </p:sp>
      <p:sp>
        <p:nvSpPr>
          <p:cNvPr id="16" name="xp-1-kpi1-v"/>
          <p:cNvSpPr txBox="1"/>
          <p:nvPr/>
        </p:nvSpPr>
        <p:spPr>
          <a:xfrm>
            <a:off x="1892808" y="5065776"/>
            <a:ext cx="941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315E"/>
                </a:solidFill>
              </a:rPr>
              <a:t>6.1w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</a:rPr>
              <a:t>日均 PV</a:t>
            </a:r>
            <a:endParaRPr lang="en-US" sz="1400" dirty="0"/>
          </a:p>
        </p:txBody>
      </p:sp>
      <p:sp>
        <p:nvSpPr>
          <p:cNvPr id="17" name="xp-1-kpi1-r"/>
          <p:cNvSpPr txBox="1"/>
          <p:nvPr/>
        </p:nvSpPr>
        <p:spPr>
          <a:xfrm>
            <a:off x="1892808" y="5605272"/>
            <a:ext cx="941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A1A"/>
                </a:solidFill>
              </a:rPr>
              <a:t>28.8%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</a:rPr>
              <a:t>转化至列表页</a:t>
            </a:r>
            <a:endParaRPr lang="en-US" sz="1400" dirty="0"/>
          </a:p>
        </p:txBody>
      </p:sp>
      <p:sp>
        <p:nvSpPr>
          <p:cNvPr id="18" name="xp-2-stage"/>
          <p:cNvSpPr/>
          <p:nvPr/>
        </p:nvSpPr>
        <p:spPr>
          <a:xfrm>
            <a:off x="3108960" y="1463040"/>
            <a:ext cx="2679192" cy="457200"/>
          </a:xfrm>
          <a:prstGeom prst="chevron">
            <a:avLst/>
          </a:prstGeom>
          <a:solidFill>
            <a:srgbClr val="8FB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xp-2-stage-t"/>
          <p:cNvSpPr txBox="1"/>
          <p:nvPr/>
        </p:nvSpPr>
        <p:spPr>
          <a:xfrm>
            <a:off x="3383280" y="1463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订前 · 下单</a:t>
            </a:r>
            <a:endParaRPr lang="en-US" sz="1500" dirty="0"/>
          </a:p>
        </p:txBody>
      </p:sp>
      <p:sp>
        <p:nvSpPr>
          <p:cNvPr id="20" name="xp-2-name"/>
          <p:cNvSpPr txBox="1"/>
          <p:nvPr/>
        </p:nvSpPr>
        <p:spPr>
          <a:xfrm>
            <a:off x="3154680" y="2084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夜间车次默认截止时间</a:t>
            </a:r>
            <a:endParaRPr lang="en-US" sz="1500" dirty="0"/>
          </a:p>
        </p:txBody>
      </p:sp>
      <p:sp>
        <p:nvSpPr>
          <p:cNvPr id="21" name="xp-2-desc"/>
          <p:cNvSpPr txBox="1"/>
          <p:nvPr/>
        </p:nvSpPr>
        <p:spPr>
          <a:xfrm>
            <a:off x="3154680" y="241401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757"/>
                </a:solidFill>
              </a:rPr>
              <a:t>针对夜间无感出票引发的客诉，深夜—凌晨发车车次的默认截止时间按下单时间动态计算</a:t>
            </a:r>
            <a:endParaRPr lang="en-US" sz="1150" dirty="0"/>
          </a:p>
        </p:txBody>
      </p:sp>
      <p:pic>
        <p:nvPicPr>
          <p:cNvPr id="22" name="xp-2-img" descr="xp_dead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3200400"/>
            <a:ext cx="2377440" cy="2685627"/>
          </a:xfrm>
          <a:prstGeom prst="rect">
            <a:avLst/>
          </a:prstGeom>
        </p:spPr>
      </p:pic>
      <p:sp>
        <p:nvSpPr>
          <p:cNvPr id="23" name="xp-2-img-frame"/>
          <p:cNvSpPr/>
          <p:nvPr/>
        </p:nvSpPr>
        <p:spPr>
          <a:xfrm>
            <a:off x="3154680" y="3200400"/>
            <a:ext cx="2377440" cy="268562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4" name="xp-3-stage"/>
          <p:cNvSpPr/>
          <p:nvPr/>
        </p:nvSpPr>
        <p:spPr>
          <a:xfrm>
            <a:off x="5760720" y="1463040"/>
            <a:ext cx="3456432" cy="457200"/>
          </a:xfrm>
          <a:prstGeom prst="chevron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xp-3-stage-t"/>
          <p:cNvSpPr txBox="1"/>
          <p:nvPr/>
        </p:nvSpPr>
        <p:spPr>
          <a:xfrm>
            <a:off x="603504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订后 · 抢票中</a:t>
            </a:r>
            <a:endParaRPr lang="en-US" sz="1500" dirty="0"/>
          </a:p>
        </p:txBody>
      </p:sp>
      <p:sp>
        <p:nvSpPr>
          <p:cNvPr id="26" name="xp-3-name"/>
          <p:cNvSpPr txBox="1"/>
          <p:nvPr/>
        </p:nvSpPr>
        <p:spPr>
          <a:xfrm>
            <a:off x="5806440" y="20848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小程序微信直付 · 外呼策略</a:t>
            </a:r>
            <a:endParaRPr lang="en-US" sz="1500" dirty="0"/>
          </a:p>
        </p:txBody>
      </p:sp>
      <p:sp>
        <p:nvSpPr>
          <p:cNvPr id="27" name="xp-3-desc"/>
          <p:cNvSpPr txBox="1"/>
          <p:nvPr/>
        </p:nvSpPr>
        <p:spPr>
          <a:xfrm>
            <a:off x="5806440" y="241401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757"/>
                </a:solidFill>
              </a:rPr>
              <a:t>小程序直付场景直接拉起微信支付，不再跳转客服后支付；同时收敛订后外呼</a:t>
            </a:r>
            <a:endParaRPr lang="en-US" sz="1150" dirty="0"/>
          </a:p>
        </p:txBody>
      </p:sp>
      <p:pic>
        <p:nvPicPr>
          <p:cNvPr id="28" name="xp-3-img" descr="xp_w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200400"/>
            <a:ext cx="1600200" cy="3007863"/>
          </a:xfrm>
          <a:prstGeom prst="rect">
            <a:avLst/>
          </a:prstGeom>
        </p:spPr>
      </p:pic>
      <p:sp>
        <p:nvSpPr>
          <p:cNvPr id="29" name="xp-3-img-frame"/>
          <p:cNvSpPr/>
          <p:nvPr/>
        </p:nvSpPr>
        <p:spPr>
          <a:xfrm>
            <a:off x="5806440" y="3200400"/>
            <a:ext cx="1600200" cy="30078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0" name="xp-3-cap"/>
          <p:cNvSpPr txBox="1"/>
          <p:nvPr/>
        </p:nvSpPr>
        <p:spPr>
          <a:xfrm>
            <a:off x="5806440" y="6245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0"/>
                </a:solidFill>
              </a:rPr>
              <a:t>小程序内拉起微信支付</a:t>
            </a:r>
            <a:endParaRPr lang="en-US" sz="950" dirty="0"/>
          </a:p>
        </p:txBody>
      </p:sp>
      <p:sp>
        <p:nvSpPr>
          <p:cNvPr id="31" name="xp-3-call-card"/>
          <p:cNvSpPr/>
          <p:nvPr/>
        </p:nvSpPr>
        <p:spPr>
          <a:xfrm>
            <a:off x="7589520" y="3200400"/>
            <a:ext cx="1371600" cy="3017520"/>
          </a:xfrm>
          <a:prstGeom prst="roundRect">
            <a:avLst>
              <a:gd name="adj" fmla="val 5333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2" name="xp-3-call-h"/>
          <p:cNvSpPr txBox="1"/>
          <p:nvPr/>
        </p:nvSpPr>
        <p:spPr>
          <a:xfrm>
            <a:off x="7699248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7DFA"/>
                </a:solidFill>
              </a:rPr>
              <a:t>外呼策略</a:t>
            </a:r>
            <a:endParaRPr lang="en-US" sz="1200" dirty="0"/>
          </a:p>
        </p:txBody>
      </p:sp>
      <p:sp>
        <p:nvSpPr>
          <p:cNvPr id="33" name="xp-3-call-list"/>
          <p:cNvSpPr txBox="1"/>
          <p:nvPr/>
        </p:nvSpPr>
        <p:spPr>
          <a:xfrm>
            <a:off x="7699248" y="3639312"/>
            <a:ext cx="1188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D4757"/>
                </a:solidFill>
              </a:rPr>
              <a:t>结果类通知不外呼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D4757"/>
                </a:solidFill>
              </a:rPr>
              <a:t>同开售点多订单只呼一次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D4757"/>
                </a:solidFill>
              </a:rPr>
              <a:t>同类事件每日只呼一次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D4757"/>
                </a:solidFill>
              </a:rPr>
              <a:t>支持用户按订单关闭外呼</a:t>
            </a:r>
            <a:endParaRPr lang="en-US" sz="1100" dirty="0"/>
          </a:p>
        </p:txBody>
      </p:sp>
      <p:sp>
        <p:nvSpPr>
          <p:cNvPr id="34" name="xp-4-stage"/>
          <p:cNvSpPr/>
          <p:nvPr/>
        </p:nvSpPr>
        <p:spPr>
          <a:xfrm>
            <a:off x="9189720" y="1463040"/>
            <a:ext cx="2514600" cy="457200"/>
          </a:xfrm>
          <a:prstGeom prst="chevron">
            <a:avLst/>
          </a:prstGeom>
          <a:solidFill>
            <a:srgbClr val="8FB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xp-4-stage-t"/>
          <p:cNvSpPr txBox="1"/>
          <p:nvPr/>
        </p:nvSpPr>
        <p:spPr>
          <a:xfrm>
            <a:off x="9464040" y="1463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出票后</a:t>
            </a:r>
            <a:endParaRPr lang="en-US" sz="1500" dirty="0"/>
          </a:p>
        </p:txBody>
      </p:sp>
      <p:sp>
        <p:nvSpPr>
          <p:cNvPr id="36" name="xp-4-name"/>
          <p:cNvSpPr txBox="1"/>
          <p:nvPr/>
        </p:nvSpPr>
        <p:spPr>
          <a:xfrm>
            <a:off x="9235440" y="2084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在线换座首页弹窗</a:t>
            </a:r>
            <a:endParaRPr lang="en-US" sz="1500" dirty="0"/>
          </a:p>
        </p:txBody>
      </p:sp>
      <p:sp>
        <p:nvSpPr>
          <p:cNvPr id="37" name="xp-4-desc"/>
          <p:cNvSpPr txBox="1"/>
          <p:nvPr/>
        </p:nvSpPr>
        <p:spPr>
          <a:xfrm>
            <a:off x="9235440" y="241401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757"/>
                </a:solidFill>
              </a:rPr>
              <a:t>只保留 4 种有明确换位价值的场景：靠窗/过道、下铺、有座、同伴连座</a:t>
            </a:r>
            <a:endParaRPr lang="en-US" sz="1150" dirty="0"/>
          </a:p>
        </p:txBody>
      </p:sp>
      <p:pic>
        <p:nvPicPr>
          <p:cNvPr id="38" name="xp-4-img" descr="xp_s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3200400"/>
            <a:ext cx="2377440" cy="3007822"/>
          </a:xfrm>
          <a:prstGeom prst="rect">
            <a:avLst/>
          </a:prstGeom>
        </p:spPr>
      </p:pic>
      <p:sp>
        <p:nvSpPr>
          <p:cNvPr id="39" name="xp-4-img-frame"/>
          <p:cNvSpPr/>
          <p:nvPr/>
        </p:nvSpPr>
        <p:spPr>
          <a:xfrm>
            <a:off x="9235440" y="3200400"/>
            <a:ext cx="2377440" cy="300782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5、思考与规划 · 把问题归因清楚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归因的质量，直接决定后续投入的方向是否正确</a:t>
            </a:r>
            <a:endParaRPr lang="en-US" sz="1700" dirty="0"/>
          </a:p>
        </p:txBody>
      </p:sp>
      <p:sp>
        <p:nvSpPr>
          <p:cNvPr id="4" name="th-card0"/>
          <p:cNvSpPr/>
          <p:nvPr/>
        </p:nvSpPr>
        <p:spPr>
          <a:xfrm>
            <a:off x="457200" y="1600200"/>
            <a:ext cx="4892040" cy="4526280"/>
          </a:xfrm>
          <a:prstGeom prst="roundRect">
            <a:avLst>
              <a:gd name="adj" fmla="val 161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h-card1"/>
          <p:cNvSpPr/>
          <p:nvPr/>
        </p:nvSpPr>
        <p:spPr>
          <a:xfrm>
            <a:off x="5660136" y="1600200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6" name="th-card2"/>
          <p:cNvSpPr/>
          <p:nvPr/>
        </p:nvSpPr>
        <p:spPr>
          <a:xfrm>
            <a:off x="8851392" y="1600200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h-arrow1"/>
          <p:cNvSpPr/>
          <p:nvPr/>
        </p:nvSpPr>
        <p:spPr>
          <a:xfrm>
            <a:off x="5394960" y="3680460"/>
            <a:ext cx="219456" cy="365760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8" name="th-arrow2"/>
          <p:cNvSpPr/>
          <p:nvPr/>
        </p:nvSpPr>
        <p:spPr>
          <a:xfrm>
            <a:off x="8586216" y="3680460"/>
            <a:ext cx="219456" cy="365760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9" name="th-a-chip"/>
          <p:cNvSpPr/>
          <p:nvPr/>
        </p:nvSpPr>
        <p:spPr>
          <a:xfrm>
            <a:off x="640080" y="182880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0" name="th-a-chip-t"/>
          <p:cNvSpPr txBox="1"/>
          <p:nvPr/>
        </p:nvSpPr>
        <p:spPr>
          <a:xfrm>
            <a:off x="640080" y="182880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归因</a:t>
            </a:r>
            <a:endParaRPr lang="en-US" sz="1300" dirty="0"/>
          </a:p>
        </p:txBody>
      </p:sp>
      <p:sp>
        <p:nvSpPr>
          <p:cNvPr id="11" name="th-a-h"/>
          <p:cNvSpPr txBox="1"/>
          <p:nvPr/>
        </p:nvSpPr>
        <p:spPr>
          <a:xfrm>
            <a:off x="640080" y="22860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以支付挽回为例：什么情况下要走直付</a:t>
            </a:r>
            <a:endParaRPr lang="en-US" sz="1500" dirty="0"/>
          </a:p>
        </p:txBody>
      </p:sp>
      <p:graphicFrame>
        <p:nvGraphicFramePr>
          <p:cNvPr id="3" name="th-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45262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51560"/>
                <a:gridCol w="777240"/>
                <a:gridCol w="685800"/>
                <a:gridCol w="64008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支付方式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支付渠道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下单/开售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时候补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抢票中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候补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捡漏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出票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智能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出票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</a:tr>
              <a:tr h="329184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信用付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70%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支付宝 80%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其他 20%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  <a:tr h="329184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预付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30%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支付宝 80%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其他 20%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 *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3" name="th-a-note"/>
          <p:cNvSpPr txBox="1"/>
          <p:nvPr/>
        </p:nvSpPr>
        <p:spPr>
          <a:xfrm>
            <a:off x="640080" y="44988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预约 / 非预约、含 / 无套餐结论一致；* 非预约订单下单时无候补　小程序无法使用支付宝，订单全部落在「其他」</a:t>
            </a:r>
            <a:endParaRPr lang="en-US" sz="900" dirty="0"/>
          </a:p>
        </p:txBody>
      </p:sp>
      <p:sp>
        <p:nvSpPr>
          <p:cNvPr id="14" name="th-a-cost-h"/>
          <p:cNvSpPr txBox="1"/>
          <p:nvPr/>
        </p:nvSpPr>
        <p:spPr>
          <a:xfrm>
            <a:off x="640080" y="4892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A1A"/>
                </a:solidFill>
              </a:rPr>
              <a:t>直付的代价</a:t>
            </a:r>
            <a:endParaRPr lang="en-US" sz="1200" dirty="0"/>
          </a:p>
        </p:txBody>
      </p:sp>
      <p:sp>
        <p:nvSpPr>
          <p:cNvPr id="15" name="th-a-cost0"/>
          <p:cNvSpPr txBox="1"/>
          <p:nvPr/>
        </p:nvSpPr>
        <p:spPr>
          <a:xfrm>
            <a:off x="640080" y="51937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315E"/>
                </a:solidFill>
              </a:rPr>
              <a:t>流程体验　</a:t>
            </a:r>
            <a:pPr indent="0" marL="0">
              <a:buNone/>
            </a:pPr>
            <a:r>
              <a:rPr lang="en-US" sz="1050" dirty="0">
                <a:solidFill>
                  <a:srgbClr val="3D4757"/>
                </a:solidFill>
              </a:rPr>
              <a:t>多一次召回，捡漏、智能需重复付款</a:t>
            </a:r>
            <a:endParaRPr lang="en-US" sz="1050" dirty="0"/>
          </a:p>
        </p:txBody>
      </p:sp>
      <p:sp>
        <p:nvSpPr>
          <p:cNvPr id="16" name="th-a-cost1"/>
          <p:cNvSpPr txBox="1"/>
          <p:nvPr/>
        </p:nvSpPr>
        <p:spPr>
          <a:xfrm>
            <a:off x="640080" y="54772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315E"/>
                </a:solidFill>
              </a:rPr>
              <a:t>扣位资源　</a:t>
            </a:r>
            <a:pPr indent="0" marL="0">
              <a:buNone/>
            </a:pPr>
            <a:r>
              <a:rPr lang="en-US" sz="1050" dirty="0">
                <a:solidFill>
                  <a:srgbClr val="3D4757"/>
                </a:solidFill>
              </a:rPr>
              <a:t>智能扣位消耗捡漏次数；未支付锁单 10h</a:t>
            </a:r>
            <a:endParaRPr lang="en-US" sz="1050" dirty="0"/>
          </a:p>
        </p:txBody>
      </p:sp>
      <p:sp>
        <p:nvSpPr>
          <p:cNvPr id="17" name="th-a-cost2"/>
          <p:cNvSpPr txBox="1"/>
          <p:nvPr/>
        </p:nvSpPr>
        <p:spPr>
          <a:xfrm>
            <a:off x="640080" y="57607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315E"/>
                </a:solidFill>
              </a:rPr>
              <a:t>外呼资源　</a:t>
            </a:r>
            <a:pPr indent="0" marL="0">
              <a:buNone/>
            </a:pPr>
            <a:r>
              <a:rPr lang="en-US" sz="1050" dirty="0">
                <a:solidFill>
                  <a:srgbClr val="3D4757"/>
                </a:solidFill>
              </a:rPr>
              <a:t>捡漏、智能、中断外呼叠加，过度打扰</a:t>
            </a:r>
            <a:endParaRPr lang="en-US" sz="1050" dirty="0"/>
          </a:p>
        </p:txBody>
      </p:sp>
      <p:sp>
        <p:nvSpPr>
          <p:cNvPr id="18" name="th-b-chip"/>
          <p:cNvSpPr/>
          <p:nvPr/>
        </p:nvSpPr>
        <p:spPr>
          <a:xfrm>
            <a:off x="5843016" y="182880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9" name="th-b-chip-t"/>
          <p:cNvSpPr txBox="1"/>
          <p:nvPr/>
        </p:nvSpPr>
        <p:spPr>
          <a:xfrm>
            <a:off x="5843016" y="182880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发现</a:t>
            </a:r>
            <a:endParaRPr lang="en-US" sz="1300" dirty="0"/>
          </a:p>
        </p:txBody>
      </p:sp>
      <p:sp>
        <p:nvSpPr>
          <p:cNvPr id="20" name="th-b-h"/>
          <p:cNvSpPr txBox="1"/>
          <p:nvPr/>
        </p:nvSpPr>
        <p:spPr>
          <a:xfrm>
            <a:off x="5843016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微信小程序的结构性问题</a:t>
            </a:r>
            <a:endParaRPr lang="en-US" sz="1500" dirty="0"/>
          </a:p>
        </p:txBody>
      </p:sp>
      <p:sp>
        <p:nvSpPr>
          <p:cNvPr id="21" name="th-b-k-l"/>
          <p:cNvSpPr txBox="1"/>
          <p:nvPr/>
        </p:nvSpPr>
        <p:spPr>
          <a:xfrm>
            <a:off x="5843016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小程序每日触发直付订单</a:t>
            </a:r>
            <a:endParaRPr lang="en-US" sz="1200" dirty="0"/>
          </a:p>
        </p:txBody>
      </p:sp>
      <p:sp>
        <p:nvSpPr>
          <p:cNvPr id="22" name="th-b-k-v"/>
          <p:cNvSpPr txBox="1"/>
          <p:nvPr/>
        </p:nvSpPr>
        <p:spPr>
          <a:xfrm>
            <a:off x="5843016" y="30632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7A1A"/>
                </a:solidFill>
              </a:rPr>
              <a:t>约 1 万单</a:t>
            </a:r>
            <a:endParaRPr lang="en-US" sz="3600" dirty="0"/>
          </a:p>
        </p:txBody>
      </p:sp>
      <p:sp>
        <p:nvSpPr>
          <p:cNvPr id="23" name="th-b-k-n"/>
          <p:cNvSpPr txBox="1"/>
          <p:nvPr/>
        </p:nvSpPr>
        <p:spPr>
          <a:xfrm>
            <a:off x="5843016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约为同期小程序开抢订单的一半</a:t>
            </a:r>
            <a:endParaRPr lang="en-US" sz="1200" dirty="0"/>
          </a:p>
        </p:txBody>
      </p:sp>
      <p:sp>
        <p:nvSpPr>
          <p:cNvPr id="24" name="th-b-bar0"/>
          <p:cNvSpPr/>
          <p:nvPr/>
        </p:nvSpPr>
        <p:spPr>
          <a:xfrm>
            <a:off x="5843016" y="4389120"/>
            <a:ext cx="54864" cy="658368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5" name="th-b-p0"/>
          <p:cNvSpPr txBox="1"/>
          <p:nvPr/>
        </p:nvSpPr>
        <p:spPr>
          <a:xfrm>
            <a:off x="6025896" y="43891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无法使用支付宝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订单无法获得代付条件</a:t>
            </a:r>
            <a:endParaRPr lang="en-US" sz="1400" dirty="0"/>
          </a:p>
        </p:txBody>
      </p:sp>
      <p:sp>
        <p:nvSpPr>
          <p:cNvPr id="26" name="th-b-bar1"/>
          <p:cNvSpPr/>
          <p:nvPr/>
        </p:nvSpPr>
        <p:spPr>
          <a:xfrm>
            <a:off x="5843016" y="5230368"/>
            <a:ext cx="54864" cy="658368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7" name="th-b-p1"/>
          <p:cNvSpPr txBox="1"/>
          <p:nvPr/>
        </p:nvSpPr>
        <p:spPr>
          <a:xfrm>
            <a:off x="6025896" y="52303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召回漏斗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票量损失；频繁直付召回体验较差</a:t>
            </a:r>
            <a:endParaRPr lang="en-US" sz="1400" dirty="0"/>
          </a:p>
        </p:txBody>
      </p:sp>
      <p:sp>
        <p:nvSpPr>
          <p:cNvPr id="28" name="th-c-chip"/>
          <p:cNvSpPr/>
          <p:nvPr/>
        </p:nvSpPr>
        <p:spPr>
          <a:xfrm>
            <a:off x="9034272" y="182880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29" name="th-c-chip-t"/>
          <p:cNvSpPr txBox="1"/>
          <p:nvPr/>
        </p:nvSpPr>
        <p:spPr>
          <a:xfrm>
            <a:off x="9034272" y="182880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规划</a:t>
            </a:r>
            <a:endParaRPr lang="en-US" sz="1300" dirty="0"/>
          </a:p>
        </p:txBody>
      </p:sp>
      <p:sp>
        <p:nvSpPr>
          <p:cNvPr id="30" name="th-c-h"/>
          <p:cNvSpPr txBox="1"/>
          <p:nvPr/>
        </p:nvSpPr>
        <p:spPr>
          <a:xfrm>
            <a:off x="9034272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重点提升小程序抢票成功率</a:t>
            </a:r>
            <a:endParaRPr lang="en-US" sz="1500" dirty="0"/>
          </a:p>
        </p:txBody>
      </p:sp>
      <p:sp>
        <p:nvSpPr>
          <p:cNvPr id="31" name="th-c-n0"/>
          <p:cNvSpPr/>
          <p:nvPr/>
        </p:nvSpPr>
        <p:spPr>
          <a:xfrm>
            <a:off x="9034272" y="2834640"/>
            <a:ext cx="384048" cy="384048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32" name="th-c-n0-t"/>
          <p:cNvSpPr txBox="1"/>
          <p:nvPr/>
        </p:nvSpPr>
        <p:spPr>
          <a:xfrm>
            <a:off x="903427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3" name="th-c-p0"/>
          <p:cNvSpPr txBox="1"/>
          <p:nvPr/>
        </p:nvSpPr>
        <p:spPr>
          <a:xfrm>
            <a:off x="9537192" y="2788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小程序内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优化小程序内的功能与支付流程</a:t>
            </a:r>
            <a:endParaRPr lang="en-US" sz="1400" dirty="0"/>
          </a:p>
        </p:txBody>
      </p:sp>
      <p:sp>
        <p:nvSpPr>
          <p:cNvPr id="34" name="th-c-n1"/>
          <p:cNvSpPr/>
          <p:nvPr/>
        </p:nvSpPr>
        <p:spPr>
          <a:xfrm>
            <a:off x="9034272" y="3840480"/>
            <a:ext cx="384048" cy="384048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35" name="th-c-n1-t"/>
          <p:cNvSpPr txBox="1"/>
          <p:nvPr/>
        </p:nvSpPr>
        <p:spPr>
          <a:xfrm>
            <a:off x="903427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6" name="th-c-p1"/>
          <p:cNvSpPr txBox="1"/>
          <p:nvPr/>
        </p:nvSpPr>
        <p:spPr>
          <a:xfrm>
            <a:off x="9537192" y="37947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人群与支付结构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从小程序与 APP 交叉人群、支付方式结构入手，探索订单获得代付条件的路径</a:t>
            </a:r>
            <a:endParaRPr lang="en-US" sz="1400" dirty="0"/>
          </a:p>
        </p:txBody>
      </p:sp>
      <p:sp>
        <p:nvSpPr>
          <p:cNvPr id="37" name="th-c-goal"/>
          <p:cNvSpPr/>
          <p:nvPr/>
        </p:nvSpPr>
        <p:spPr>
          <a:xfrm>
            <a:off x="9034272" y="521208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8" name="th-c-goal-t"/>
          <p:cNvSpPr txBox="1"/>
          <p:nvPr/>
        </p:nvSpPr>
        <p:spPr>
          <a:xfrm>
            <a:off x="9144000" y="521208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7A1A"/>
                </a:solidFill>
              </a:rPr>
              <a:t>目标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5315E"/>
                </a:solidFill>
              </a:rPr>
              <a:t>小程序成功率逐步回到风控前水平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5、思考与规划 · AI × 业务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在更多领域，AI 是服务业务的手段，衡量的是业务结果</a:t>
            </a:r>
            <a:endParaRPr lang="en-US" sz="1700" dirty="0"/>
          </a:p>
        </p:txBody>
      </p:sp>
      <p:sp>
        <p:nvSpPr>
          <p:cNvPr id="4" name="ai-0-card"/>
          <p:cNvSpPr/>
          <p:nvPr/>
        </p:nvSpPr>
        <p:spPr>
          <a:xfrm>
            <a:off x="457200" y="1600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ai-0-tag"/>
          <p:cNvSpPr txBox="1"/>
          <p:nvPr/>
        </p:nvSpPr>
        <p:spPr>
          <a:xfrm>
            <a:off x="731520" y="1764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6B80"/>
                </a:solidFill>
              </a:rPr>
              <a:t>AI native</a:t>
            </a:r>
            <a:endParaRPr lang="en-US" sz="2000" dirty="0"/>
          </a:p>
        </p:txBody>
      </p:sp>
      <p:sp>
        <p:nvSpPr>
          <p:cNvPr id="6" name="ai-0-k0"/>
          <p:cNvSpPr txBox="1"/>
          <p:nvPr/>
        </p:nvSpPr>
        <p:spPr>
          <a:xfrm>
            <a:off x="731520" y="2313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</a:rPr>
              <a:t>定位</a:t>
            </a:r>
            <a:endParaRPr lang="en-US" sz="1300" dirty="0"/>
          </a:p>
        </p:txBody>
      </p:sp>
      <p:sp>
        <p:nvSpPr>
          <p:cNvPr id="7" name="ai-0-v0"/>
          <p:cNvSpPr txBox="1"/>
          <p:nvPr/>
        </p:nvSpPr>
        <p:spPr>
          <a:xfrm>
            <a:off x="1463040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模型本身就是产品</a:t>
            </a:r>
            <a:endParaRPr lang="en-US" sz="1500" dirty="0"/>
          </a:p>
        </p:txBody>
      </p:sp>
      <p:sp>
        <p:nvSpPr>
          <p:cNvPr id="8" name="ai-0-k1"/>
          <p:cNvSpPr txBox="1"/>
          <p:nvPr/>
        </p:nvSpPr>
        <p:spPr>
          <a:xfrm>
            <a:off x="731520" y="28163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</a:rPr>
              <a:t>衡量</a:t>
            </a:r>
            <a:endParaRPr lang="en-US" sz="1300" dirty="0"/>
          </a:p>
        </p:txBody>
      </p:sp>
      <p:sp>
        <p:nvSpPr>
          <p:cNvPr id="9" name="ai-0-v1"/>
          <p:cNvSpPr txBox="1"/>
          <p:nvPr/>
        </p:nvSpPr>
        <p:spPr>
          <a:xfrm>
            <a:off x="1463040" y="2816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模型表现得好不好</a:t>
            </a:r>
            <a:endParaRPr lang="en-US" sz="1500" dirty="0"/>
          </a:p>
        </p:txBody>
      </p:sp>
      <p:sp>
        <p:nvSpPr>
          <p:cNvPr id="10" name="ai-1-card"/>
          <p:cNvSpPr/>
          <p:nvPr/>
        </p:nvSpPr>
        <p:spPr>
          <a:xfrm>
            <a:off x="6336792" y="1600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ai-1-tag"/>
          <p:cNvSpPr txBox="1"/>
          <p:nvPr/>
        </p:nvSpPr>
        <p:spPr>
          <a:xfrm>
            <a:off x="6611112" y="1764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87DFA"/>
                </a:solidFill>
              </a:rPr>
              <a:t>AI × 业务</a:t>
            </a:r>
            <a:endParaRPr lang="en-US" sz="2000" dirty="0"/>
          </a:p>
        </p:txBody>
      </p:sp>
      <p:sp>
        <p:nvSpPr>
          <p:cNvPr id="12" name="ai-1-k0"/>
          <p:cNvSpPr txBox="1"/>
          <p:nvPr/>
        </p:nvSpPr>
        <p:spPr>
          <a:xfrm>
            <a:off x="6611112" y="2313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</a:rPr>
              <a:t>定位</a:t>
            </a:r>
            <a:endParaRPr lang="en-US" sz="1300" dirty="0"/>
          </a:p>
        </p:txBody>
      </p:sp>
      <p:sp>
        <p:nvSpPr>
          <p:cNvPr id="13" name="ai-1-v0"/>
          <p:cNvSpPr txBox="1"/>
          <p:nvPr/>
        </p:nvSpPr>
        <p:spPr>
          <a:xfrm>
            <a:off x="7342632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AI 是服务业务的手段</a:t>
            </a:r>
            <a:endParaRPr lang="en-US" sz="1500" dirty="0"/>
          </a:p>
        </p:txBody>
      </p:sp>
      <p:sp>
        <p:nvSpPr>
          <p:cNvPr id="14" name="ai-1-k1"/>
          <p:cNvSpPr txBox="1"/>
          <p:nvPr/>
        </p:nvSpPr>
        <p:spPr>
          <a:xfrm>
            <a:off x="6611112" y="28163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</a:rPr>
              <a:t>衡量</a:t>
            </a:r>
            <a:endParaRPr lang="en-US" sz="1300" dirty="0"/>
          </a:p>
        </p:txBody>
      </p:sp>
      <p:sp>
        <p:nvSpPr>
          <p:cNvPr id="15" name="ai-1-v1"/>
          <p:cNvSpPr txBox="1"/>
          <p:nvPr/>
        </p:nvSpPr>
        <p:spPr>
          <a:xfrm>
            <a:off x="7342632" y="2816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业务结果</a:t>
            </a:r>
            <a:endParaRPr lang="en-US" sz="1500" dirty="0"/>
          </a:p>
        </p:txBody>
      </p:sp>
      <p:sp>
        <p:nvSpPr>
          <p:cNvPr id="16" name="ai-arrow"/>
          <p:cNvSpPr/>
          <p:nvPr/>
        </p:nvSpPr>
        <p:spPr>
          <a:xfrm>
            <a:off x="5916168" y="2350008"/>
            <a:ext cx="356616" cy="365760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7" name="ai-ex-bar"/>
          <p:cNvSpPr/>
          <p:nvPr/>
        </p:nvSpPr>
        <p:spPr>
          <a:xfrm>
            <a:off x="457200" y="3703320"/>
            <a:ext cx="64008" cy="868680"/>
          </a:xfrm>
          <a:prstGeom prst="rect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8" name="ai-ex-h"/>
          <p:cNvSpPr txBox="1"/>
          <p:nvPr/>
        </p:nvSpPr>
        <p:spPr>
          <a:xfrm>
            <a:off x="685800" y="3721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7DFA"/>
                </a:solidFill>
              </a:rPr>
              <a:t>例：火车 Agent 二期</a:t>
            </a:r>
            <a:endParaRPr lang="en-US" sz="1400" dirty="0"/>
          </a:p>
        </p:txBody>
      </p:sp>
      <p:sp>
        <p:nvSpPr>
          <p:cNvPr id="19" name="ai-ex-t"/>
          <p:cNvSpPr txBox="1"/>
          <p:nvPr/>
        </p:nvSpPr>
        <p:spPr>
          <a:xfrm>
            <a:off x="685800" y="4114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对话</a:t>
            </a:r>
            <a:pPr indent="0" marL="0">
              <a:buNone/>
            </a:pPr>
            <a:r>
              <a:rPr lang="en-US" sz="1500" dirty="0">
                <a:solidFill>
                  <a:srgbClr val="5B6B80"/>
                </a:solidFill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直接操作列表页</a:t>
            </a:r>
            <a:pPr indent="0" marL="0">
              <a:buNone/>
            </a:pPr>
            <a:r>
              <a:rPr lang="en-US" sz="1500" dirty="0">
                <a:solidFill>
                  <a:srgbClr val="3D4757"/>
                </a:solidFill>
              </a:rPr>
              <a:t>：更符合用户原有行为链路，</a:t>
            </a:r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</a:rPr>
              <a:t>票量明显提升</a:t>
            </a:r>
            <a:endParaRPr lang="en-US" sz="1500" dirty="0"/>
          </a:p>
        </p:txBody>
      </p:sp>
      <p:sp>
        <p:nvSpPr>
          <p:cNvPr id="20" name="ai-next-chip"/>
          <p:cNvSpPr/>
          <p:nvPr/>
        </p:nvSpPr>
        <p:spPr>
          <a:xfrm>
            <a:off x="457200" y="4910328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21" name="ai-next-chip-t"/>
          <p:cNvSpPr txBox="1"/>
          <p:nvPr/>
        </p:nvSpPr>
        <p:spPr>
          <a:xfrm>
            <a:off x="457200" y="491032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探索</a:t>
            </a:r>
            <a:endParaRPr lang="en-US" sz="1300" dirty="0"/>
          </a:p>
        </p:txBody>
      </p:sp>
      <p:sp>
        <p:nvSpPr>
          <p:cNvPr id="22" name="ai-next-h"/>
          <p:cNvSpPr txBox="1"/>
          <p:nvPr/>
        </p:nvSpPr>
        <p:spPr>
          <a:xfrm>
            <a:off x="132588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AI 的魅力也在于颠覆性的产品和创造，下一步想探索：</a:t>
            </a:r>
            <a:endParaRPr lang="en-US" sz="1500" dirty="0"/>
          </a:p>
        </p:txBody>
      </p:sp>
      <p:sp>
        <p:nvSpPr>
          <p:cNvPr id="23" name="ai-pill0"/>
          <p:cNvSpPr/>
          <p:nvPr/>
        </p:nvSpPr>
        <p:spPr>
          <a:xfrm>
            <a:off x="457200" y="544068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4" name="ai-pill0-t"/>
          <p:cNvSpPr txBox="1"/>
          <p:nvPr/>
        </p:nvSpPr>
        <p:spPr>
          <a:xfrm>
            <a:off x="457200" y="54406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7DFA"/>
                </a:solidFill>
              </a:rPr>
              <a:t>融入抢票已有链路</a:t>
            </a:r>
            <a:endParaRPr lang="en-US" sz="1300" dirty="0"/>
          </a:p>
        </p:txBody>
      </p:sp>
      <p:sp>
        <p:nvSpPr>
          <p:cNvPr id="25" name="ai-pill0-sep"/>
          <p:cNvSpPr txBox="1"/>
          <p:nvPr/>
        </p:nvSpPr>
        <p:spPr>
          <a:xfrm>
            <a:off x="3474720" y="5440680"/>
            <a:ext cx="338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8F5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ai-pill1"/>
          <p:cNvSpPr/>
          <p:nvPr/>
        </p:nvSpPr>
        <p:spPr>
          <a:xfrm>
            <a:off x="3813048" y="5440680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7" name="ai-pill1-t"/>
          <p:cNvSpPr txBox="1"/>
          <p:nvPr/>
        </p:nvSpPr>
        <p:spPr>
          <a:xfrm>
            <a:off x="3813048" y="5440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7DFA"/>
                </a:solidFill>
              </a:rPr>
              <a:t>以平台用户心智能够接受的方式展现</a:t>
            </a:r>
            <a:endParaRPr lang="en-US" sz="1300" dirty="0"/>
          </a:p>
        </p:txBody>
      </p:sp>
      <p:sp>
        <p:nvSpPr>
          <p:cNvPr id="28" name="ai-pill1-sep"/>
          <p:cNvSpPr txBox="1"/>
          <p:nvPr/>
        </p:nvSpPr>
        <p:spPr>
          <a:xfrm>
            <a:off x="7744968" y="5440680"/>
            <a:ext cx="338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8F5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ai-pill2"/>
          <p:cNvSpPr/>
          <p:nvPr/>
        </p:nvSpPr>
        <p:spPr>
          <a:xfrm>
            <a:off x="8083296" y="544068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0" name="ai-pill2-t"/>
          <p:cNvSpPr txBox="1"/>
          <p:nvPr/>
        </p:nvSpPr>
        <p:spPr>
          <a:xfrm>
            <a:off x="8083296" y="54406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以最低学习成本认可携程 AI 价值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p Defense">
  <a:themeElements>
    <a:clrScheme name="Trip Defense">
      <a:dk1>
        <a:srgbClr val="15315E"/>
      </a:dk1>
      <a:lt1>
        <a:srgbClr val="FFFFFF"/>
      </a:lt1>
      <a:dk2>
        <a:srgbClr val="3D4757"/>
      </a:dk2>
      <a:lt2>
        <a:srgbClr val="EEF4FF"/>
      </a:lt2>
      <a:accent1>
        <a:srgbClr val="287DFA"/>
      </a:accent1>
      <a:accent2>
        <a:srgbClr val="FF7A1A"/>
      </a:accent2>
      <a:accent3>
        <a:srgbClr val="15315E"/>
      </a:accent3>
      <a:accent4>
        <a:srgbClr val="8FB8F5"/>
      </a:accent4>
      <a:accent5>
        <a:srgbClr val="D9DEE7"/>
      </a:accent5>
      <a:accent6>
        <a:srgbClr val="5B6B80"/>
      </a:accent6>
      <a:hlink>
        <a:srgbClr val="287DFA"/>
      </a:hlink>
      <a:folHlink>
        <a:srgbClr val="15315E"/>
      </a:folHlink>
    </a:clrScheme>
    <a:fontScheme name="Trip Defens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2026-10-30T02:02:44Z</dcterms:created>
  <dcterms:modified xsi:type="dcterms:W3CDTF">2026-10-30T02:02:44Z</dcterms:modified>
</cp:coreProperties>
</file>