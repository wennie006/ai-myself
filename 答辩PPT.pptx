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301" r:id="rId2"/>
    <p:sldId id="342" r:id="rId4"/>
    <p:sldId id="351" r:id="rId16"/>
    <p:sldId id="352" r:id="rId17"/>
    <p:sldId id="353" r:id="rId18"/>
    <p:sldId id="354" r:id="rId19"/>
    <p:sldId id="355" r:id="rId20"/>
    <p:sldId id="356" r:id="rId21"/>
    <p:sldId id="357" r:id="rId22"/>
    <p:sldId id="358" r:id="rId23"/>
    <p:sldId id="359" r:id="rId24"/>
    <p:sldId id="334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ym刘怡鸣" initials="l" lastIdx="1" clrIdx="0">
    <p:extLst>
      <p:ext uri="{19B8F6BF-5375-455C-9EA6-DF929625EA0E}">
        <p15:presenceInfo xmlns:p15="http://schemas.microsoft.com/office/powerpoint/2012/main" userId="lym刘怡鸣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72C4"/>
    <a:srgbClr val="A6A6A6"/>
    <a:srgbClr val="28CE83"/>
    <a:srgbClr val="1BB178"/>
    <a:srgbClr val="43BB8D"/>
    <a:srgbClr val="2A69A2"/>
    <a:srgbClr val="D6E1F1"/>
    <a:srgbClr val="9DC3E6"/>
    <a:srgbClr val="70AD47"/>
    <a:srgbClr val="0056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191" autoAdjust="0"/>
    <p:restoredTop sz="92279" autoAdjust="0"/>
  </p:normalViewPr>
  <p:slideViewPr>
    <p:cSldViewPr snapToGrid="0">
      <p:cViewPr varScale="1">
        <p:scale>
          <a:sx n="106" d="100"/>
          <a:sy n="106" d="100"/>
        </p:scale>
        <p:origin x="55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commentAuthors" Target="commentAuthors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智能第二程出票率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出票率</c:v>
                </c:pt>
              </c:strCache>
            </c:strRef>
          </c:tx>
          <c:dPt>
            <c:idx val="0"/>
            <c:spPr>
              <a:solidFill>
                <a:srgbClr val="7A8599"/>
              </a:solidFill>
            </c:spPr>
          </c:dPt>
          <c:dPt>
            <c:idx val="1"/>
            <c:spPr>
              <a:solidFill>
                <a:srgbClr val="287DFA"/>
              </a:solidFill>
            </c:spPr>
          </c:dPt>
          <c:cat>
            <c:strRef>
              <c:f>Sheet1!$A$2:$A$3</c:f>
              <c:strCache>
                <c:ptCount val="2"/>
                <c:pt idx="0">
                  <c:v>改直付前</c:v>
                </c:pt>
                <c:pt idx="1">
                  <c:v>改直付后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72.8</c:v>
                </c:pt>
                <c:pt idx="1">
                  <c:v>94.0</c:v>
                </c:pt>
              </c:numCache>
            </c:numRef>
          </c:val>
        </c:ser>
        <c:dLbls>
          <c:numFmt formatCode="General&quot;%&quot;" sourceLinked="0"/>
          <c:txPr>
            <a:bodyPr/>
            <a:lstStyle/>
            <a:p>
              <a:pPr>
                <a:defRPr sz="1400" b="1">
                  <a:solidFill>
                    <a:srgbClr val="15315E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3E2FB"/>
            </a:solidFill>
          </a:ln>
        </c:spPr>
        <c:txPr>
          <a:bodyPr/>
          <a:lstStyle/>
          <a:p>
            <a:pPr>
              <a:defRPr sz="1200">
                <a:solidFill>
                  <a:srgbClr val="3D4757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5D70F8-A809-479A-B4E7-7CD7FBA21D45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A5A24-1C80-4826-8331-A30A6CC3A2C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89798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4A5A24-1C80-4826-8331-A30A6CC3A2C6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60531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B9BA1B-5BC9-9444-AC98-CC9DA064656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1039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4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64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以上就是我的分享，谢谢各位老师。</a:t>
            </a:r>
          </a:p>
        </p:txBody>
      </p:sp>
      <p:sp>
        <p:nvSpPr>
          <p:cNvPr id="104864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B9BA1B-5BC9-9444-AC98-CC9DA064656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3012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好，我是罗蕴文，目前就读于复旦大学外国哲学专业，预计明年六月毕业。大家可能会好奇，为什么会从哲学转来做产品。对我来说，哲学训练留下的最大习惯，就是做事之前先把概念拆清楚、把问题的边界想清楚。</a:t>
            </a:r>
          </a:p>
          <a:p/>
          <a:p>
            <a:r>
              <a:t>在携程实习之前，我在小红书有一段产品实习，主要负责大模型“点点”在幽默语境下的评测和优化。我把这段工作总结为两件事：拓展模型的能力边界，限制模型的行为边界。这段实习让我对 AI 有了初步的理解，也锻炼了我使用各类 AI 平台、本地部署和调试 AI 工具的能力。</a:t>
            </a:r>
          </a:p>
          <a:p/>
          <a:p>
            <a:r>
              <a:t>今年 4 月底，我加入了携程火车票团队，工作围绕 AI 和抢票两条主线展开。这是我对 AI + 业务的一次深度尝试：从 AI native 产品的调优，转向在业务里用 AI 赋能，这是两种差异很大的思维方式。在抢票业务里，我也沉淀了一套可复用的方法论。</a:t>
            </a:r>
          </a:p>
          <a:p/>
          <a:p>
            <a:r>
              <a:t>接下来，我从这两条主线展开，介绍这段时间的工作成果和个人思考。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【过渡页，可一句话带过】先看两条主线的核心结果，接下来分别展开。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我的第一条主线是火车票 Agent，它主要负责承接问道分发过来的火车相关问题，我在这个项目里做的是偏基础的工作。Agent 能不能答好，前提是它能准确判断一个问题该不该由火车来回答、具体属于哪一类。所以我主要负责优化意图识别框架，解决“什么属于火车、什么不属于火车”的问题。</a:t>
            </a:r>
          </a:p>
          <a:p/>
          <a:p>
            <a:r>
              <a:t>一期上线前，我把 Agent 基于意图识别框架的分类结果，和算法按业务标签给出的分类结果逐条比对，核对两边不一致的场景，重点看从业务视角判断、算法对而 Agent 错的情况。这说明 Agent 的提示词有漏洞，才会把不属于这一类的 query 纳进来。我针对这些情况，逐条修改对应类别的关键词和分类标准，一期上线前，意图分类准确率从 94.6% 提升到了 98%。上线后，和问道兜底相比，正文完播率提升了 7.7%，说明回答内容更符合用户的需求。</a:t>
            </a:r>
          </a:p>
          <a:p/>
          <a:p>
            <a:r>
              <a:t>二期主要做拒答治理。降低拒答有两个方向：一是提升模型能力，让它能回答目前还答不了的问题；二是治理分发错误。我们是一个垂直于火车的 Agent，有一部分问题根本不属于火车，是被错误分发过来的，这类问题只要调整问道的分发策略就能解决，见效更快。所以我们在持续推进火车能力覆盖的同时，优先治理分发错误。我人工核查了 1,000 多条拒答 query，整理出火车问题的边界，问道据此调整了对火车 Agent 的分发策略，这类拒答的占比从 10.7% 降到了 4.9%。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我的第二条主线是抢票业务，聚焦的是票量。这里分享两个需求，它们有一个共同点：都是我们主动给了用户“可以出票”的承诺，用户也做出了行动，最后却没能出票。</a:t>
            </a:r>
          </a:p>
          <a:p/>
          <a:p>
            <a:r>
              <a:t>第一个是智能第二程。用户只抢到第一程时，系统会自动帮他生成第二程的捡漏单并完成扣位，再通过外呼或消息通知他确认出票。按 KANO 模型看，这是一个兴奋型需求，做到了是惊喜，做不到用户也不会抱怨；但一旦我们通知了用户、用户也付了款，他就会默认一定能出票。而受风控限制，付款环节容易失败，这个场景的出票率只有 72.8%。我们把这一步的付款统一改为直付，付款成功就能出票，出票率提升到 94%，预估年化票量增加 7 万张。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第二个是放开抢转买。在抢必走和 YOYO 有票方案的页面，我们会向用户推荐可以立即出票的替代方案。但用户妥协接受之后，之前走的仍然是抢票的捡漏扣位，出票概率【待补充】，用户的预期没能被满足，体验较差。所以我们为支付宝（非黑名单）订单放开了抢转买，用户接受方案后直接走买票接口出票。【上线后的增量，待补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两个需求让我意识到两件事。第一，这些订单的用户都已经付了款或做出了妥协，是出票意愿最强的一批人，在这里流失对票量最可惜，修复的回报也最直接。第二，两个问题的根源是一样的：用户的状态已经从“等待”变成了“确认”，后台却还沿用抢票订单原来的链路。所以在每一个让用户做决定的节点，都要检查后面的链路能不能兑现这个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在回收智能第二程的数据时，我发现 BI 取出来的订单几乎都是代付出票。这个需求本身就是把这些订单改成直付，数据却显示代付，说明口径可能有问题。我拿订单后台的直付标记找开发核实，再和 BI、数仓一起排查，原因是数仓判断直付依赖“候补直付”这个业务标记，而捡漏、智能这些后来接入的直付场景没有这个标记，全部被判成了代付。最后改为统一用订单上的直付出票标记来判断，数仓新增了“是否直付出票”字段。口径修正后，智能第二程的效果才能被正确评估，财务的结算报表也随之修正，团队之后可以直接复用。这件事让我意识到，数据口径会随着业务演进而过期：直付场景是陆续接入的，判断逻辑却停在了最早的候补直付。之后业务新增场景时，我会先确认相关的数据标记有没有跟着更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回看这几个月，两条主线给我的收获不太一样。在火车票 Agent 上，我做的更多是模型侧的质量工作，离业务结果比较远；到了抢票业务，我开始直接对票量负责，也逐渐学会从业务指标倒推要做什么。</a:t>
            </a:r>
          </a:p>
          <a:p/>
          <a:p>
            <a:r>
              <a:t>这也让我对 AI 产品有了更具体的理解。在小红书时，模型本身就是产品，我的工作是拓展它的能力边界、限制它的行为边界，衡量的是模型表现得好不好。到了携程，AI 是服务业务的手段：边界由业务来定，比如什么问题属于火车、什么不属于；形态要贴合用户的习惯，二期把对话改成直接操作列表页后，票量明显提升；最终衡量的是票量这样的业务结果。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到接下来的规划，我对抢票业务的理解是：它要同时平衡三件事，票量、收益和体验。前面讲到的几个需求，其实都是在这三者之间找平衡点：既要让更多订单出票，也要让用户在过程中有好的感受，同时守住平台的收益。接下来我也想围绕这三点继续推进。</a:t>
            </a:r>
          </a:p>
          <a:p/>
          <a:p>
            <a:r>
              <a:t>票量上，我想重点补齐小程序的出票。小程序受风控影响比较大，没法走代付出票，需要跳到客服对话付款的订单，只能通过支付召回来完成，付款这一步的流失比较多。接下来想从两个方向推进：一是在小程序内部优化付款方式，比如接入微信合单支付，在稳住体验的前提下提升小程序的票量；二是做场景转换，把订单引导到成功率更高的路径上，比如召回用户回到 App 下单，或者引导用户在小程序里完成信用付授权。</a:t>
            </a:r>
          </a:p>
          <a:p/>
          <a:p>
            <a:r>
              <a:t>收益上，我希望在合规的前提下，重新梳理各个场景里用户比较需要的服务，在目前线上的流程和环节中，补上一些收益场景的空白。同时，提高收益的前提是稳住用户体验，我目前正在探索的一个方向，就是外呼场景下的策略优化。</a:t>
            </a:r>
          </a:p>
          <a:p/>
          <a:p>
            <a:r>
              <a:t>AI 上，我希望从 AI native 的产品走进业务，把 AI 能力真正落到抢票业务的链路里。我一直在思考和探索的，是如何找出那些用传统方法不太好解决的痛点，引入 AI，并用我们平台用户最容易接受的方式呈现，提供他们当下最需要的能力，让 AI 真正服务于票量、收益和体验三者之间的平衡。</a:t>
            </a:r>
          </a:p>
          <a:p/>
          <a:p>
            <a:r>
              <a:t>以上就是我的分享，谢谢各位老师。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tiff"/><Relationship Id="rId3" Type="http://schemas.openxmlformats.org/officeDocument/2006/relationships/image" Target="../media/image5.tif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494E85-59A3-4CE8-BD26-2C3F65DE6B0E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160A2-C136-4A21-8E63-D2C2118CE13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469900" y="555951"/>
            <a:ext cx="2010530" cy="485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64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04819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3465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58237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11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80341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7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4371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6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97138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92334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18625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40418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85348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 userDrawn="1"/>
        </p:nvGrpSpPr>
        <p:grpSpPr>
          <a:xfrm>
            <a:off x="3943633" y="1565211"/>
            <a:ext cx="8733041" cy="6614959"/>
            <a:chOff x="3943629" y="1765230"/>
            <a:chExt cx="8733041" cy="6614959"/>
          </a:xfrm>
        </p:grpSpPr>
        <p:sp>
          <p:nvSpPr>
            <p:cNvPr id="8" name="Donut 7"/>
            <p:cNvSpPr/>
            <p:nvPr userDrawn="1"/>
          </p:nvSpPr>
          <p:spPr>
            <a:xfrm rot="6104502">
              <a:off x="10513894" y="4182360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9" name="Donut 8"/>
            <p:cNvSpPr/>
            <p:nvPr userDrawn="1"/>
          </p:nvSpPr>
          <p:spPr>
            <a:xfrm rot="6104502">
              <a:off x="11635129" y="3232034"/>
              <a:ext cx="1041541" cy="104154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31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0" name="Donut 9"/>
            <p:cNvSpPr/>
            <p:nvPr userDrawn="1"/>
          </p:nvSpPr>
          <p:spPr>
            <a:xfrm rot="6104502">
              <a:off x="4885213" y="5754088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1" name="Donut 10"/>
            <p:cNvSpPr/>
            <p:nvPr userDrawn="1"/>
          </p:nvSpPr>
          <p:spPr>
            <a:xfrm rot="6104502">
              <a:off x="9890317" y="6328310"/>
              <a:ext cx="1074806" cy="1074806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2" name="Donut 11"/>
            <p:cNvSpPr/>
            <p:nvPr userDrawn="1"/>
          </p:nvSpPr>
          <p:spPr>
            <a:xfrm rot="6104502">
              <a:off x="11280398" y="2773446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3" name="Oval 12"/>
            <p:cNvSpPr/>
            <p:nvPr userDrawn="1"/>
          </p:nvSpPr>
          <p:spPr>
            <a:xfrm rot="6104502">
              <a:off x="11255956" y="4096902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4" name="Oval 13"/>
            <p:cNvSpPr/>
            <p:nvPr userDrawn="1"/>
          </p:nvSpPr>
          <p:spPr>
            <a:xfrm rot="6104502">
              <a:off x="10988857" y="3411415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5" name="Donut 14"/>
            <p:cNvSpPr/>
            <p:nvPr userDrawn="1"/>
          </p:nvSpPr>
          <p:spPr>
            <a:xfrm rot="20504502">
              <a:off x="8157576" y="4967821"/>
              <a:ext cx="1778283" cy="1778283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42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6" name="Donut 15"/>
            <p:cNvSpPr/>
            <p:nvPr userDrawn="1"/>
          </p:nvSpPr>
          <p:spPr>
            <a:xfrm rot="20504502">
              <a:off x="5967631" y="5517505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7" name="Oval 16"/>
            <p:cNvSpPr/>
            <p:nvPr userDrawn="1"/>
          </p:nvSpPr>
          <p:spPr>
            <a:xfrm rot="20504502">
              <a:off x="7106071" y="6040256"/>
              <a:ext cx="688490" cy="688490"/>
            </a:xfrm>
            <a:prstGeom prst="ellipse">
              <a:avLst/>
            </a:prstGeom>
            <a:solidFill>
              <a:schemeClr val="bg1">
                <a:lumMod val="95000"/>
                <a:alpha val="39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8" name="Oval 17"/>
            <p:cNvSpPr/>
            <p:nvPr userDrawn="1"/>
          </p:nvSpPr>
          <p:spPr>
            <a:xfrm rot="20504502">
              <a:off x="8828367" y="4697538"/>
              <a:ext cx="536090" cy="536090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9" name="Donut 18"/>
            <p:cNvSpPr/>
            <p:nvPr userDrawn="1"/>
          </p:nvSpPr>
          <p:spPr>
            <a:xfrm rot="20504502">
              <a:off x="7272388" y="5137491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0" name="Donut 19"/>
            <p:cNvSpPr/>
            <p:nvPr userDrawn="1"/>
          </p:nvSpPr>
          <p:spPr>
            <a:xfrm rot="20504502">
              <a:off x="9359434" y="5596700"/>
              <a:ext cx="1074806" cy="1074806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1" name="Donut 20"/>
            <p:cNvSpPr/>
            <p:nvPr userDrawn="1"/>
          </p:nvSpPr>
          <p:spPr>
            <a:xfrm rot="20504502">
              <a:off x="9482547" y="4659556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2" name="Donut 21"/>
            <p:cNvSpPr/>
            <p:nvPr userDrawn="1"/>
          </p:nvSpPr>
          <p:spPr>
            <a:xfrm rot="20504502">
              <a:off x="11146308" y="5868777"/>
              <a:ext cx="1074806" cy="1074806"/>
            </a:xfrm>
            <a:prstGeom prst="donut">
              <a:avLst>
                <a:gd name="adj" fmla="val 24020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3" name="Oval 22"/>
            <p:cNvSpPr/>
            <p:nvPr userDrawn="1"/>
          </p:nvSpPr>
          <p:spPr>
            <a:xfrm rot="20504502">
              <a:off x="7238767" y="5017013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4" name="Oval 23"/>
            <p:cNvSpPr/>
            <p:nvPr userDrawn="1"/>
          </p:nvSpPr>
          <p:spPr>
            <a:xfrm rot="20504502">
              <a:off x="3943629" y="6130310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5" name="Oval 24"/>
            <p:cNvSpPr/>
            <p:nvPr userDrawn="1"/>
          </p:nvSpPr>
          <p:spPr>
            <a:xfrm rot="20504502">
              <a:off x="6479821" y="5990866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6" name="Oval 25"/>
            <p:cNvSpPr/>
            <p:nvPr userDrawn="1"/>
          </p:nvSpPr>
          <p:spPr>
            <a:xfrm rot="20504502">
              <a:off x="9327833" y="4273371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7" name="Donut 26"/>
            <p:cNvSpPr/>
            <p:nvPr userDrawn="1"/>
          </p:nvSpPr>
          <p:spPr>
            <a:xfrm rot="10604502">
              <a:off x="10421842" y="5527974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8" name="Donut 27"/>
            <p:cNvSpPr/>
            <p:nvPr userDrawn="1"/>
          </p:nvSpPr>
          <p:spPr>
            <a:xfrm rot="10604502">
              <a:off x="11502978" y="1935344"/>
              <a:ext cx="1041541" cy="104154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31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9" name="Oval 28"/>
            <p:cNvSpPr/>
            <p:nvPr userDrawn="1"/>
          </p:nvSpPr>
          <p:spPr>
            <a:xfrm rot="10604502">
              <a:off x="11886320" y="1765230"/>
              <a:ext cx="536090" cy="536090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0" name="Donut 29"/>
            <p:cNvSpPr/>
            <p:nvPr userDrawn="1"/>
          </p:nvSpPr>
          <p:spPr>
            <a:xfrm rot="10604502">
              <a:off x="9874667" y="3536070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1" name="Donut 30"/>
            <p:cNvSpPr/>
            <p:nvPr userDrawn="1"/>
          </p:nvSpPr>
          <p:spPr>
            <a:xfrm rot="10604502">
              <a:off x="10759809" y="3214182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2" name="Donut 31"/>
            <p:cNvSpPr/>
            <p:nvPr userDrawn="1"/>
          </p:nvSpPr>
          <p:spPr>
            <a:xfrm rot="10604502">
              <a:off x="4248675" y="6231127"/>
              <a:ext cx="1074806" cy="1074806"/>
            </a:xfrm>
            <a:prstGeom prst="donut">
              <a:avLst>
                <a:gd name="adj" fmla="val 24020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3" name="Oval 32"/>
            <p:cNvSpPr/>
            <p:nvPr userDrawn="1"/>
          </p:nvSpPr>
          <p:spPr>
            <a:xfrm rot="10604502">
              <a:off x="11516462" y="3055947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4" name="Oval 33"/>
            <p:cNvSpPr/>
            <p:nvPr userDrawn="1"/>
          </p:nvSpPr>
          <p:spPr>
            <a:xfrm rot="10604502">
              <a:off x="8086333" y="6082900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5" name="Oval 34"/>
            <p:cNvSpPr/>
            <p:nvPr userDrawn="1"/>
          </p:nvSpPr>
          <p:spPr>
            <a:xfrm rot="10604502">
              <a:off x="4659440" y="5686338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</p:grpSp>
      <p:grpSp>
        <p:nvGrpSpPr>
          <p:cNvPr id="42" name="Group 41"/>
          <p:cNvGrpSpPr/>
          <p:nvPr userDrawn="1"/>
        </p:nvGrpSpPr>
        <p:grpSpPr>
          <a:xfrm>
            <a:off x="276313" y="6502736"/>
            <a:ext cx="731511" cy="276999"/>
            <a:chOff x="404977" y="6383122"/>
            <a:chExt cx="731513" cy="276999"/>
          </a:xfrm>
        </p:grpSpPr>
        <p:sp>
          <p:nvSpPr>
            <p:cNvPr id="43" name="TextBox 42"/>
            <p:cNvSpPr txBox="1"/>
            <p:nvPr/>
          </p:nvSpPr>
          <p:spPr>
            <a:xfrm>
              <a:off x="512343" y="6383122"/>
              <a:ext cx="62414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200" dirty="0" smtClean="0">
                  <a:solidFill>
                    <a:schemeClr val="bg1">
                      <a:lumMod val="50000"/>
                    </a:schemeClr>
                  </a:solidFill>
                  <a:latin typeface="Raleway" panose="020B0003030101060003" pitchFamily="34" charset="0"/>
                </a:rPr>
                <a:t>MOST</a:t>
              </a:r>
              <a:endParaRPr lang="id-ID" sz="1200" dirty="0">
                <a:solidFill>
                  <a:schemeClr val="bg1">
                    <a:lumMod val="50000"/>
                  </a:schemeClr>
                </a:solidFill>
                <a:latin typeface="Raleway" panose="020B0003030101060003" pitchFamily="34" charset="0"/>
              </a:endParaRPr>
            </a:p>
          </p:txBody>
        </p:sp>
        <p:grpSp>
          <p:nvGrpSpPr>
            <p:cNvPr id="44" name="Group 43"/>
            <p:cNvGrpSpPr/>
            <p:nvPr/>
          </p:nvGrpSpPr>
          <p:grpSpPr>
            <a:xfrm>
              <a:off x="404977" y="6417778"/>
              <a:ext cx="181253" cy="189215"/>
              <a:chOff x="4573232" y="2256703"/>
              <a:chExt cx="838558" cy="875393"/>
            </a:xfrm>
          </p:grpSpPr>
          <p:sp>
            <p:nvSpPr>
              <p:cNvPr id="45" name="Oval 44"/>
              <p:cNvSpPr/>
              <p:nvPr/>
            </p:nvSpPr>
            <p:spPr>
              <a:xfrm>
                <a:off x="4573232" y="2542000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4821694" y="2542000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4697463" y="2256703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</p:grpSp>
      </p:grpSp>
      <p:grpSp>
        <p:nvGrpSpPr>
          <p:cNvPr id="55" name="Group 54"/>
          <p:cNvGrpSpPr/>
          <p:nvPr userDrawn="1"/>
        </p:nvGrpSpPr>
        <p:grpSpPr>
          <a:xfrm>
            <a:off x="11807070" y="6559227"/>
            <a:ext cx="214313" cy="220663"/>
            <a:chOff x="7015550" y="2614882"/>
            <a:chExt cx="214313" cy="220663"/>
          </a:xfrm>
          <a:solidFill>
            <a:srgbClr val="358FCB"/>
          </a:solidFill>
        </p:grpSpPr>
        <p:sp>
          <p:nvSpPr>
            <p:cNvPr id="49" name="Freeform 5">
              <a:hlinkClick r:id="" action="ppaction://hlinkshowjump?jump=nextslide"/>
            </p:cNvPr>
            <p:cNvSpPr>
              <a:spLocks noEditPoints="1"/>
            </p:cNvSpPr>
            <p:nvPr userDrawn="1"/>
          </p:nvSpPr>
          <p:spPr bwMode="auto">
            <a:xfrm>
              <a:off x="7015550" y="2614882"/>
              <a:ext cx="214313" cy="220663"/>
            </a:xfrm>
            <a:custGeom>
              <a:avLst/>
              <a:gdLst>
                <a:gd name="T0" fmla="*/ 28 w 56"/>
                <a:gd name="T1" fmla="*/ 4 h 56"/>
                <a:gd name="T2" fmla="*/ 52 w 56"/>
                <a:gd name="T3" fmla="*/ 28 h 56"/>
                <a:gd name="T4" fmla="*/ 28 w 56"/>
                <a:gd name="T5" fmla="*/ 52 h 56"/>
                <a:gd name="T6" fmla="*/ 4 w 56"/>
                <a:gd name="T7" fmla="*/ 28 h 56"/>
                <a:gd name="T8" fmla="*/ 28 w 56"/>
                <a:gd name="T9" fmla="*/ 4 h 56"/>
                <a:gd name="T10" fmla="*/ 28 w 56"/>
                <a:gd name="T11" fmla="*/ 0 h 56"/>
                <a:gd name="T12" fmla="*/ 0 w 56"/>
                <a:gd name="T13" fmla="*/ 28 h 56"/>
                <a:gd name="T14" fmla="*/ 28 w 56"/>
                <a:gd name="T15" fmla="*/ 56 h 56"/>
                <a:gd name="T16" fmla="*/ 56 w 56"/>
                <a:gd name="T17" fmla="*/ 28 h 56"/>
                <a:gd name="T18" fmla="*/ 28 w 56"/>
                <a:gd name="T19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6" h="56">
                  <a:moveTo>
                    <a:pt x="28" y="4"/>
                  </a:moveTo>
                  <a:cubicBezTo>
                    <a:pt x="41" y="4"/>
                    <a:pt x="52" y="15"/>
                    <a:pt x="52" y="28"/>
                  </a:cubicBezTo>
                  <a:cubicBezTo>
                    <a:pt x="52" y="41"/>
                    <a:pt x="41" y="52"/>
                    <a:pt x="28" y="52"/>
                  </a:cubicBezTo>
                  <a:cubicBezTo>
                    <a:pt x="15" y="52"/>
                    <a:pt x="4" y="41"/>
                    <a:pt x="4" y="28"/>
                  </a:cubicBezTo>
                  <a:cubicBezTo>
                    <a:pt x="4" y="15"/>
                    <a:pt x="15" y="4"/>
                    <a:pt x="28" y="4"/>
                  </a:cubicBezTo>
                  <a:moveTo>
                    <a:pt x="28" y="0"/>
                  </a:moveTo>
                  <a:cubicBezTo>
                    <a:pt x="13" y="0"/>
                    <a:pt x="0" y="13"/>
                    <a:pt x="0" y="28"/>
                  </a:cubicBezTo>
                  <a:cubicBezTo>
                    <a:pt x="0" y="43"/>
                    <a:pt x="13" y="56"/>
                    <a:pt x="28" y="56"/>
                  </a:cubicBezTo>
                  <a:cubicBezTo>
                    <a:pt x="43" y="56"/>
                    <a:pt x="56" y="43"/>
                    <a:pt x="56" y="28"/>
                  </a:cubicBezTo>
                  <a:cubicBezTo>
                    <a:pt x="56" y="13"/>
                    <a:pt x="43" y="0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  <p:sp>
          <p:nvSpPr>
            <p:cNvPr id="50" name="Freeform 6">
              <a:hlinkClick r:id="" action="ppaction://hlinkshowjump?jump=nextslide"/>
            </p:cNvPr>
            <p:cNvSpPr/>
            <p:nvPr userDrawn="1"/>
          </p:nvSpPr>
          <p:spPr bwMode="auto">
            <a:xfrm>
              <a:off x="7091750" y="2657745"/>
              <a:ext cx="76200" cy="131763"/>
            </a:xfrm>
            <a:custGeom>
              <a:avLst/>
              <a:gdLst>
                <a:gd name="T0" fmla="*/ 0 w 48"/>
                <a:gd name="T1" fmla="*/ 70 h 83"/>
                <a:gd name="T2" fmla="*/ 34 w 48"/>
                <a:gd name="T3" fmla="*/ 40 h 83"/>
                <a:gd name="T4" fmla="*/ 0 w 48"/>
                <a:gd name="T5" fmla="*/ 13 h 83"/>
                <a:gd name="T6" fmla="*/ 0 w 48"/>
                <a:gd name="T7" fmla="*/ 0 h 83"/>
                <a:gd name="T8" fmla="*/ 48 w 48"/>
                <a:gd name="T9" fmla="*/ 40 h 83"/>
                <a:gd name="T10" fmla="*/ 0 w 48"/>
                <a:gd name="T11" fmla="*/ 83 h 83"/>
                <a:gd name="T12" fmla="*/ 0 w 48"/>
                <a:gd name="T13" fmla="*/ 70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83">
                  <a:moveTo>
                    <a:pt x="0" y="70"/>
                  </a:moveTo>
                  <a:lnTo>
                    <a:pt x="34" y="40"/>
                  </a:lnTo>
                  <a:lnTo>
                    <a:pt x="0" y="13"/>
                  </a:lnTo>
                  <a:lnTo>
                    <a:pt x="0" y="0"/>
                  </a:lnTo>
                  <a:lnTo>
                    <a:pt x="48" y="40"/>
                  </a:lnTo>
                  <a:lnTo>
                    <a:pt x="0" y="83"/>
                  </a:lnTo>
                  <a:lnTo>
                    <a:pt x="0" y="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</p:grpSp>
      <p:grpSp>
        <p:nvGrpSpPr>
          <p:cNvPr id="56" name="Group 55"/>
          <p:cNvGrpSpPr/>
          <p:nvPr userDrawn="1"/>
        </p:nvGrpSpPr>
        <p:grpSpPr>
          <a:xfrm>
            <a:off x="11370388" y="6559227"/>
            <a:ext cx="214313" cy="220663"/>
            <a:chOff x="7395183" y="3832633"/>
            <a:chExt cx="214313" cy="220663"/>
          </a:xfrm>
          <a:solidFill>
            <a:srgbClr val="358FCB"/>
          </a:solidFill>
        </p:grpSpPr>
        <p:sp>
          <p:nvSpPr>
            <p:cNvPr id="51" name="Freeform 7">
              <a:hlinkClick r:id="" action="ppaction://hlinkshowjump?jump=previousslide"/>
            </p:cNvPr>
            <p:cNvSpPr>
              <a:spLocks noEditPoints="1"/>
            </p:cNvSpPr>
            <p:nvPr userDrawn="1"/>
          </p:nvSpPr>
          <p:spPr bwMode="auto">
            <a:xfrm>
              <a:off x="7395183" y="3832633"/>
              <a:ext cx="214313" cy="220663"/>
            </a:xfrm>
            <a:custGeom>
              <a:avLst/>
              <a:gdLst>
                <a:gd name="T0" fmla="*/ 28 w 56"/>
                <a:gd name="T1" fmla="*/ 4 h 56"/>
                <a:gd name="T2" fmla="*/ 52 w 56"/>
                <a:gd name="T3" fmla="*/ 28 h 56"/>
                <a:gd name="T4" fmla="*/ 28 w 56"/>
                <a:gd name="T5" fmla="*/ 52 h 56"/>
                <a:gd name="T6" fmla="*/ 4 w 56"/>
                <a:gd name="T7" fmla="*/ 28 h 56"/>
                <a:gd name="T8" fmla="*/ 28 w 56"/>
                <a:gd name="T9" fmla="*/ 4 h 56"/>
                <a:gd name="T10" fmla="*/ 28 w 56"/>
                <a:gd name="T11" fmla="*/ 0 h 56"/>
                <a:gd name="T12" fmla="*/ 0 w 56"/>
                <a:gd name="T13" fmla="*/ 28 h 56"/>
                <a:gd name="T14" fmla="*/ 28 w 56"/>
                <a:gd name="T15" fmla="*/ 56 h 56"/>
                <a:gd name="T16" fmla="*/ 56 w 56"/>
                <a:gd name="T17" fmla="*/ 28 h 56"/>
                <a:gd name="T18" fmla="*/ 28 w 56"/>
                <a:gd name="T19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6" h="56">
                  <a:moveTo>
                    <a:pt x="28" y="4"/>
                  </a:moveTo>
                  <a:cubicBezTo>
                    <a:pt x="41" y="4"/>
                    <a:pt x="52" y="15"/>
                    <a:pt x="52" y="28"/>
                  </a:cubicBezTo>
                  <a:cubicBezTo>
                    <a:pt x="52" y="41"/>
                    <a:pt x="41" y="52"/>
                    <a:pt x="28" y="52"/>
                  </a:cubicBezTo>
                  <a:cubicBezTo>
                    <a:pt x="15" y="52"/>
                    <a:pt x="4" y="41"/>
                    <a:pt x="4" y="28"/>
                  </a:cubicBezTo>
                  <a:cubicBezTo>
                    <a:pt x="4" y="15"/>
                    <a:pt x="15" y="4"/>
                    <a:pt x="28" y="4"/>
                  </a:cubicBezTo>
                  <a:moveTo>
                    <a:pt x="28" y="0"/>
                  </a:moveTo>
                  <a:cubicBezTo>
                    <a:pt x="13" y="0"/>
                    <a:pt x="0" y="13"/>
                    <a:pt x="0" y="28"/>
                  </a:cubicBezTo>
                  <a:cubicBezTo>
                    <a:pt x="0" y="43"/>
                    <a:pt x="13" y="56"/>
                    <a:pt x="28" y="56"/>
                  </a:cubicBezTo>
                  <a:cubicBezTo>
                    <a:pt x="43" y="56"/>
                    <a:pt x="56" y="43"/>
                    <a:pt x="56" y="28"/>
                  </a:cubicBezTo>
                  <a:cubicBezTo>
                    <a:pt x="56" y="13"/>
                    <a:pt x="43" y="0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  <p:sp>
          <p:nvSpPr>
            <p:cNvPr id="52" name="Freeform 8">
              <a:hlinkClick r:id="" action="ppaction://hlinkshowjump?jump=previousslide"/>
            </p:cNvPr>
            <p:cNvSpPr/>
            <p:nvPr userDrawn="1"/>
          </p:nvSpPr>
          <p:spPr bwMode="auto">
            <a:xfrm>
              <a:off x="7457096" y="3880258"/>
              <a:ext cx="76200" cy="130175"/>
            </a:xfrm>
            <a:custGeom>
              <a:avLst/>
              <a:gdLst>
                <a:gd name="T0" fmla="*/ 48 w 48"/>
                <a:gd name="T1" fmla="*/ 12 h 82"/>
                <a:gd name="T2" fmla="*/ 14 w 48"/>
                <a:gd name="T3" fmla="*/ 42 h 82"/>
                <a:gd name="T4" fmla="*/ 48 w 48"/>
                <a:gd name="T5" fmla="*/ 70 h 82"/>
                <a:gd name="T6" fmla="*/ 48 w 48"/>
                <a:gd name="T7" fmla="*/ 82 h 82"/>
                <a:gd name="T8" fmla="*/ 0 w 48"/>
                <a:gd name="T9" fmla="*/ 42 h 82"/>
                <a:gd name="T10" fmla="*/ 48 w 48"/>
                <a:gd name="T11" fmla="*/ 0 h 82"/>
                <a:gd name="T12" fmla="*/ 48 w 48"/>
                <a:gd name="T13" fmla="*/ 12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82">
                  <a:moveTo>
                    <a:pt x="48" y="12"/>
                  </a:moveTo>
                  <a:lnTo>
                    <a:pt x="14" y="42"/>
                  </a:lnTo>
                  <a:lnTo>
                    <a:pt x="48" y="70"/>
                  </a:lnTo>
                  <a:lnTo>
                    <a:pt x="48" y="82"/>
                  </a:lnTo>
                  <a:lnTo>
                    <a:pt x="0" y="42"/>
                  </a:lnTo>
                  <a:lnTo>
                    <a:pt x="48" y="0"/>
                  </a:lnTo>
                  <a:lnTo>
                    <a:pt x="48" y="1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</p:grpSp>
      <p:sp>
        <p:nvSpPr>
          <p:cNvPr id="57" name="Rectangle 56"/>
          <p:cNvSpPr/>
          <p:nvPr userDrawn="1"/>
        </p:nvSpPr>
        <p:spPr>
          <a:xfrm>
            <a:off x="3102781" y="6383339"/>
            <a:ext cx="6096000" cy="23083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© 2020 </a:t>
            </a:r>
            <a:r>
              <a:rPr lang="en-US" sz="9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Companyname</a:t>
            </a:r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id-ID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PowerPoint</a:t>
            </a:r>
            <a:r>
              <a:rPr lang="id-ID" sz="900" baseline="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Business </a:t>
            </a:r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Theme. All Rights Reserved. </a:t>
            </a:r>
            <a:endParaRPr lang="id-ID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pSp>
        <p:nvGrpSpPr>
          <p:cNvPr id="36" name="Group 35"/>
          <p:cNvGrpSpPr/>
          <p:nvPr userDrawn="1"/>
        </p:nvGrpSpPr>
        <p:grpSpPr>
          <a:xfrm rot="16200000">
            <a:off x="504088" y="768356"/>
            <a:ext cx="383327" cy="67506"/>
            <a:chOff x="2013527" y="1616364"/>
            <a:chExt cx="576928" cy="101600"/>
          </a:xfrm>
        </p:grpSpPr>
        <p:sp>
          <p:nvSpPr>
            <p:cNvPr id="6" name="Oval 5"/>
            <p:cNvSpPr/>
            <p:nvPr userDrawn="1"/>
          </p:nvSpPr>
          <p:spPr>
            <a:xfrm>
              <a:off x="2013527" y="1616364"/>
              <a:ext cx="101600" cy="101600"/>
            </a:xfrm>
            <a:prstGeom prst="ellipse">
              <a:avLst/>
            </a:prstGeom>
            <a:solidFill>
              <a:srgbClr val="358FCB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53" name="Oval 52"/>
            <p:cNvSpPr/>
            <p:nvPr userDrawn="1"/>
          </p:nvSpPr>
          <p:spPr>
            <a:xfrm>
              <a:off x="2132359" y="1616364"/>
              <a:ext cx="101600" cy="101600"/>
            </a:xfrm>
            <a:prstGeom prst="ellipse">
              <a:avLst/>
            </a:prstGeom>
            <a:solidFill>
              <a:srgbClr val="358FCB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1" name="Oval 60"/>
            <p:cNvSpPr/>
            <p:nvPr userDrawn="1"/>
          </p:nvSpPr>
          <p:spPr>
            <a:xfrm>
              <a:off x="2251191" y="1616364"/>
              <a:ext cx="101600" cy="101600"/>
            </a:xfrm>
            <a:prstGeom prst="ellipse">
              <a:avLst/>
            </a:prstGeom>
            <a:solidFill>
              <a:srgbClr val="358FCB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2" name="Oval 61"/>
            <p:cNvSpPr/>
            <p:nvPr userDrawn="1"/>
          </p:nvSpPr>
          <p:spPr>
            <a:xfrm>
              <a:off x="2370023" y="1616364"/>
              <a:ext cx="101600" cy="101600"/>
            </a:xfrm>
            <a:prstGeom prst="ellipse">
              <a:avLst/>
            </a:prstGeom>
            <a:solidFill>
              <a:srgbClr val="358FCB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3" name="Oval 62"/>
            <p:cNvSpPr/>
            <p:nvPr userDrawn="1"/>
          </p:nvSpPr>
          <p:spPr>
            <a:xfrm>
              <a:off x="2488855" y="1616364"/>
              <a:ext cx="101600" cy="101600"/>
            </a:xfrm>
            <a:prstGeom prst="ellipse">
              <a:avLst/>
            </a:prstGeom>
            <a:solidFill>
              <a:srgbClr val="358FC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</p:grpSp>
      <p:sp>
        <p:nvSpPr>
          <p:cNvPr id="54" name="Oval 53"/>
          <p:cNvSpPr/>
          <p:nvPr userDrawn="1"/>
        </p:nvSpPr>
        <p:spPr>
          <a:xfrm>
            <a:off x="11672882" y="-148007"/>
            <a:ext cx="655570" cy="655569"/>
          </a:xfrm>
          <a:prstGeom prst="ellipse">
            <a:avLst/>
          </a:prstGeom>
          <a:solidFill>
            <a:srgbClr val="358FCB"/>
          </a:solidFill>
          <a:ln w="698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44B5E3D8-B559-49FC-84E7-900B409E63B2}" type="slidenum">
              <a:rPr lang="id-ID" sz="1400" b="1" smtClean="0">
                <a:solidFill>
                  <a:schemeClr val="bg1"/>
                </a:solidFill>
              </a:rPr>
              <a:t>‹#›</a:t>
            </a:fld>
            <a:endParaRPr lang="id-ID" sz="1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7723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/>
      <p:bldP spid="57" grpId="1"/>
      <p:bldP spid="57" grpId="2"/>
      <p:bldP spid="57" grpId="3"/>
      <p:bldP spid="57" grpId="4"/>
      <p:bldP spid="57" grpId="5"/>
      <p:bldP spid="57" grpId="6"/>
      <p:bldP spid="57" grpId="7"/>
      <p:bldP spid="57" grpId="8"/>
      <p:bldP spid="57" grpId="9"/>
      <p:bldP spid="57" grpId="10"/>
      <p:bldP spid="57" grpId="11"/>
      <p:bldP spid="57" grpId="12"/>
      <p:bldP spid="57" grpId="13"/>
    </p:bldLst>
  </p:timing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2" name="Rectangle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97159" name="Picture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165259" y="6083808"/>
            <a:ext cx="1625159" cy="39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0053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screen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68304" y="6084592"/>
            <a:ext cx="1622114" cy="391616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9826" y="6280400"/>
            <a:ext cx="1699655" cy="12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18105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494E85-59A3-4CE8-BD26-2C3F65DE6B0E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4160A2-C136-4A21-8E63-D2C2118CE1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7579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tif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0.png"/><Relationship Id="rId7" Type="http://schemas.openxmlformats.org/officeDocument/2006/relationships/image" Target="../media/image17.png"/><Relationship Id="rId8" Type="http://schemas.openxmlformats.org/officeDocument/2006/relationships/chart" Target="../charts/chart1.xml"/><Relationship Id="rId9" Type="http://schemas.openxmlformats.org/officeDocument/2006/relationships/image" Target="../media/image18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12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10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/>
          <p:cNvSpPr/>
          <p:nvPr/>
        </p:nvSpPr>
        <p:spPr>
          <a:xfrm>
            <a:off x="419100" y="5943938"/>
            <a:ext cx="10414000" cy="5105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dirty="0" smtClean="0">
                <a:solidFill>
                  <a:schemeClr val="bg1">
                    <a:alpha val="60000"/>
                  </a:schemeClr>
                </a:solidFill>
                <a:latin typeface="Arial" charset="0"/>
                <a:ea typeface="Arial" charset="0"/>
                <a:cs typeface="Arial" charset="0"/>
              </a:rPr>
              <a:t>This information is confidential or privileged. The information is intended to be for internal use. </a:t>
            </a:r>
          </a:p>
          <a:p>
            <a:r>
              <a:rPr lang="en-US" sz="1000" dirty="0" smtClean="0">
                <a:solidFill>
                  <a:schemeClr val="bg1">
                    <a:alpha val="60000"/>
                  </a:schemeClr>
                </a:solidFill>
                <a:latin typeface="Arial" charset="0"/>
                <a:ea typeface="Arial" charset="0"/>
                <a:cs typeface="Arial" charset="0"/>
              </a:rPr>
              <a:t>If you are not the intended recipient, be aware that any disclosure, copying, distribution, or use of the contents of this information is prohibited. </a:t>
            </a:r>
          </a:p>
          <a:p>
            <a:r>
              <a:rPr lang="en-US" sz="1000" dirty="0" smtClean="0">
                <a:solidFill>
                  <a:schemeClr val="bg1">
                    <a:alpha val="60000"/>
                  </a:schemeClr>
                </a:solidFill>
                <a:latin typeface="Arial" charset="0"/>
                <a:ea typeface="Arial" charset="0"/>
                <a:cs typeface="Arial" charset="0"/>
              </a:rPr>
              <a:t>If you have received this message in error, please delete it and all copies from your system and notify the sender immediately. </a:t>
            </a:r>
            <a:endParaRPr lang="en-US" sz="1000" dirty="0">
              <a:solidFill>
                <a:schemeClr val="bg1">
                  <a:alpha val="6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6" name="Rectangle 4"/>
          <p:cNvSpPr/>
          <p:nvPr/>
        </p:nvSpPr>
        <p:spPr>
          <a:xfrm>
            <a:off x="368300" y="2059744"/>
            <a:ext cx="9220200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3500" indent="-63500" latinLnBrk="1">
              <a:spcBef>
                <a:spcPts val="1200"/>
              </a:spcBef>
            </a:pPr>
            <a:r>
              <a:rPr lang="zh-CN" altLang="en-US" sz="50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留用</a:t>
            </a:r>
            <a:r>
              <a:rPr lang="zh-CN" altLang="en-US" sz="50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答辩</a:t>
            </a:r>
            <a:endParaRPr lang="zh-CN" altLang="en-US" sz="5000" b="1" dirty="0">
              <a:ln>
                <a:solidFill>
                  <a:sysClr val="window" lastClr="FFFFFF">
                    <a:alpha val="0"/>
                  </a:sysClr>
                </a:solidFill>
              </a:ln>
              <a:solidFill>
                <a:schemeClr val="bg1"/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4" name="Rectangle 4"/>
          <p:cNvSpPr/>
          <p:nvPr/>
        </p:nvSpPr>
        <p:spPr>
          <a:xfrm>
            <a:off x="368300" y="3140067"/>
            <a:ext cx="92202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3500" indent="-63500" latinLnBrk="1">
              <a:spcBef>
                <a:spcPts val="1200"/>
              </a:spcBef>
            </a:pPr>
            <a:r>
              <a:rPr lang="zh-CN" altLang="en-US" sz="24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汇报人：罗蕴文　｜　携程火车票</a:t>
            </a:r>
            <a:endParaRPr lang="zh-CN" altLang="en-US" sz="2400" b="1" dirty="0">
              <a:ln>
                <a:solidFill>
                  <a:sysClr val="window" lastClr="FFFFFF">
                    <a:alpha val="0"/>
                  </a:sysClr>
                </a:solidFill>
              </a:ln>
              <a:solidFill>
                <a:schemeClr val="bg1"/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27331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1"/>
          <p:cNvSpPr txBox="1">
            <a:spLocks/>
          </p:cNvSpPr>
          <p:nvPr/>
        </p:nvSpPr>
        <p:spPr>
          <a:xfrm>
            <a:off x="2785570" y="1053912"/>
            <a:ext cx="6172200" cy="857250"/>
          </a:xfrm>
          <a:prstGeom prst="rect">
            <a:avLst/>
          </a:prstGeom>
        </p:spPr>
        <p:txBody>
          <a:bodyPr>
            <a:normAutofit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9pPr>
          </a:lstStyle>
          <a:p>
            <a:pPr defTabSz="51399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3000" b="1" dirty="0">
                <a:solidFill>
                  <a:srgbClr val="0F6FC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目录</a:t>
            </a:r>
          </a:p>
        </p:txBody>
      </p:sp>
      <p:grpSp>
        <p:nvGrpSpPr>
          <p:cNvPr id="6" name="组合 5"/>
          <p:cNvGrpSpPr/>
          <p:nvPr/>
        </p:nvGrpSpPr>
        <p:grpSpPr>
          <a:xfrm>
            <a:off x="4325652" y="2715790"/>
            <a:ext cx="586551" cy="572207"/>
            <a:chOff x="1254722" y="1864234"/>
            <a:chExt cx="782068" cy="762943"/>
          </a:xfrm>
        </p:grpSpPr>
        <p:grpSp>
          <p:nvGrpSpPr>
            <p:cNvPr id="7" name="组合 6"/>
            <p:cNvGrpSpPr/>
            <p:nvPr/>
          </p:nvGrpSpPr>
          <p:grpSpPr>
            <a:xfrm>
              <a:off x="1254722" y="1864234"/>
              <a:ext cx="762943" cy="762943"/>
              <a:chOff x="2894659" y="1465288"/>
              <a:chExt cx="1727827" cy="1727827"/>
            </a:xfrm>
          </p:grpSpPr>
          <p:grpSp>
            <p:nvGrpSpPr>
              <p:cNvPr id="9" name="组合 8"/>
              <p:cNvGrpSpPr/>
              <p:nvPr/>
            </p:nvGrpSpPr>
            <p:grpSpPr>
              <a:xfrm rot="1771504">
                <a:off x="2914532" y="1485269"/>
                <a:ext cx="1688083" cy="1687866"/>
                <a:chOff x="1827622" y="1343919"/>
                <a:chExt cx="2304000" cy="2304000"/>
              </a:xfrm>
            </p:grpSpPr>
            <p:sp>
              <p:nvSpPr>
                <p:cNvPr id="11" name="椭圆 10"/>
                <p:cNvSpPr/>
                <p:nvPr/>
              </p:nvSpPr>
              <p:spPr>
                <a:xfrm>
                  <a:off x="1827622" y="1343919"/>
                  <a:ext cx="2304000" cy="2304000"/>
                </a:xfrm>
                <a:prstGeom prst="ellipse">
                  <a:avLst/>
                </a:prstGeom>
                <a:gradFill flip="none" rotWithShape="1">
                  <a:gsLst>
                    <a:gs pos="100000">
                      <a:schemeClr val="bg1">
                        <a:lumMod val="85000"/>
                      </a:schemeClr>
                    </a:gs>
                    <a:gs pos="0">
                      <a:schemeClr val="bg1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 w="12700">
                  <a:noFill/>
                </a:ln>
                <a:effectLst>
                  <a:outerShdw blurRad="254000" dist="241300" dir="7800000" sx="85000" sy="85000" algn="tr" rotWithShape="0">
                    <a:prstClr val="black">
                      <a:alpha val="3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85763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788">
                    <a:solidFill>
                      <a:srgbClr val="00B7CA"/>
                    </a:solidFill>
                    <a:latin typeface="华文细黑" panose="02010600040101010101" pitchFamily="2" charset="-122"/>
                    <a:ea typeface="华文细黑" panose="02010600040101010101" pitchFamily="2" charset="-122"/>
                  </a:endParaRPr>
                </a:p>
              </p:txBody>
            </p:sp>
            <p:sp>
              <p:nvSpPr>
                <p:cNvPr id="12" name="椭圆 11"/>
                <p:cNvSpPr/>
                <p:nvPr/>
              </p:nvSpPr>
              <p:spPr>
                <a:xfrm>
                  <a:off x="1877481" y="1393778"/>
                  <a:ext cx="2204282" cy="220428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bg1">
                        <a:lumMod val="85000"/>
                      </a:schemeClr>
                    </a:gs>
                    <a:gs pos="100000">
                      <a:srgbClr val="FEFEFE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 w="12700"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85763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788">
                    <a:solidFill>
                      <a:srgbClr val="00B7CA"/>
                    </a:solidFill>
                    <a:latin typeface="华文细黑" panose="02010600040101010101" pitchFamily="2" charset="-122"/>
                    <a:ea typeface="华文细黑" panose="02010600040101010101" pitchFamily="2" charset="-122"/>
                  </a:endParaRPr>
                </a:p>
              </p:txBody>
            </p:sp>
          </p:grpSp>
          <p:sp>
            <p:nvSpPr>
              <p:cNvPr id="10" name="流程图: 联系 31"/>
              <p:cNvSpPr/>
              <p:nvPr/>
            </p:nvSpPr>
            <p:spPr>
              <a:xfrm>
                <a:off x="2894659" y="1465288"/>
                <a:ext cx="1727827" cy="1727827"/>
              </a:xfrm>
              <a:prstGeom prst="flowChartConnector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42900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>
                  <a:solidFill>
                    <a:srgbClr val="00B7CA"/>
                  </a:solidFill>
                  <a:latin typeface="微软雅黑"/>
                  <a:ea typeface="微软雅黑"/>
                </a:endParaRPr>
              </a:p>
            </p:txBody>
          </p:sp>
        </p:grpSp>
        <p:sp>
          <p:nvSpPr>
            <p:cNvPr id="8" name="文本框 7"/>
            <p:cNvSpPr txBox="1"/>
            <p:nvPr/>
          </p:nvSpPr>
          <p:spPr>
            <a:xfrm>
              <a:off x="1378895" y="2045650"/>
              <a:ext cx="657895" cy="4308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defTabSz="3429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CN" sz="1500" b="1" dirty="0">
                  <a:solidFill>
                    <a:srgbClr val="0F6FC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01</a:t>
              </a:r>
              <a:endParaRPr lang="zh-CN" altLang="en-US" sz="1500" b="1" dirty="0">
                <a:solidFill>
                  <a:srgbClr val="0F6FC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4" name="组合 13"/>
          <p:cNvGrpSpPr/>
          <p:nvPr/>
        </p:nvGrpSpPr>
        <p:grpSpPr>
          <a:xfrm rot="1771504">
            <a:off x="4725598" y="3085961"/>
            <a:ext cx="204183" cy="204157"/>
            <a:chOff x="1827622" y="1343919"/>
            <a:chExt cx="2304000" cy="2304000"/>
          </a:xfrm>
        </p:grpSpPr>
        <p:sp>
          <p:nvSpPr>
            <p:cNvPr id="15" name="椭圆 14"/>
            <p:cNvSpPr/>
            <p:nvPr/>
          </p:nvSpPr>
          <p:spPr>
            <a:xfrm>
              <a:off x="1827622" y="1343919"/>
              <a:ext cx="2304000" cy="2304000"/>
            </a:xfrm>
            <a:prstGeom prst="ellipse">
              <a:avLst/>
            </a:prstGeom>
            <a:gradFill flip="none" rotWithShape="1">
              <a:gsLst>
                <a:gs pos="100000">
                  <a:schemeClr val="bg1">
                    <a:lumMod val="85000"/>
                  </a:schemeClr>
                </a:gs>
                <a:gs pos="0">
                  <a:schemeClr val="bg1"/>
                </a:gs>
              </a:gsLst>
              <a:path path="circle">
                <a:fillToRect l="100000" b="100000"/>
              </a:path>
              <a:tileRect t="-100000" r="-100000"/>
            </a:gradFill>
            <a:ln w="12700">
              <a:noFill/>
            </a:ln>
            <a:effectLst>
              <a:outerShdw blurRad="254000" dist="241300" dir="7800000" sx="85000" sy="85000" algn="tr" rotWithShape="0">
                <a:prstClr val="black">
                  <a:alpha val="3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385763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788">
                <a:solidFill>
                  <a:srgbClr val="FF0000"/>
                </a:solidFill>
                <a:latin typeface="华文细黑" panose="02010600040101010101" pitchFamily="2" charset="-122"/>
                <a:ea typeface="华文细黑" panose="02010600040101010101" pitchFamily="2" charset="-122"/>
              </a:endParaRPr>
            </a:p>
          </p:txBody>
        </p:sp>
        <p:sp>
          <p:nvSpPr>
            <p:cNvPr id="16" name="椭圆 15"/>
            <p:cNvSpPr/>
            <p:nvPr/>
          </p:nvSpPr>
          <p:spPr>
            <a:xfrm>
              <a:off x="1877481" y="1393778"/>
              <a:ext cx="2204282" cy="2204282"/>
            </a:xfrm>
            <a:prstGeom prst="ellipse">
              <a:avLst/>
            </a:prstGeom>
            <a:gradFill flip="none" rotWithShape="1">
              <a:gsLst>
                <a:gs pos="0">
                  <a:schemeClr val="bg1">
                    <a:lumMod val="85000"/>
                  </a:schemeClr>
                </a:gs>
                <a:gs pos="100000">
                  <a:srgbClr val="FEFEFE"/>
                </a:gs>
              </a:gsLst>
              <a:path path="circle">
                <a:fillToRect l="100000" b="100000"/>
              </a:path>
              <a:tileRect t="-100000" r="-100000"/>
            </a:gradFill>
            <a:ln w="1270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385763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788">
                <a:solidFill>
                  <a:srgbClr val="FF0000"/>
                </a:solidFill>
                <a:latin typeface="华文细黑" panose="02010600040101010101" pitchFamily="2" charset="-122"/>
                <a:ea typeface="华文细黑" panose="02010600040101010101" pitchFamily="2" charset="-122"/>
              </a:endParaRPr>
            </a:p>
          </p:txBody>
        </p:sp>
      </p:grpSp>
      <p:cxnSp>
        <p:nvCxnSpPr>
          <p:cNvPr id="17" name="直接连接符 16"/>
          <p:cNvCxnSpPr/>
          <p:nvPr/>
        </p:nvCxnSpPr>
        <p:spPr>
          <a:xfrm flipV="1">
            <a:off x="5447915" y="2710992"/>
            <a:ext cx="0" cy="1443318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 flipV="1">
            <a:off x="6698970" y="2700773"/>
            <a:ext cx="0" cy="1443318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52"/>
          <p:cNvSpPr txBox="1"/>
          <p:nvPr/>
        </p:nvSpPr>
        <p:spPr>
          <a:xfrm>
            <a:off x="4207838" y="3582612"/>
            <a:ext cx="148561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51399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500" b="1" dirty="0">
                <a:solidFill>
                  <a:srgbClr val="0F6FC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个人介绍</a:t>
            </a:r>
          </a:p>
        </p:txBody>
      </p:sp>
      <p:grpSp>
        <p:nvGrpSpPr>
          <p:cNvPr id="20" name="组合 19"/>
          <p:cNvGrpSpPr/>
          <p:nvPr/>
        </p:nvGrpSpPr>
        <p:grpSpPr>
          <a:xfrm>
            <a:off x="5576595" y="2730359"/>
            <a:ext cx="1003403" cy="1172691"/>
            <a:chOff x="2322174" y="2643308"/>
            <a:chExt cx="1337871" cy="1563587"/>
          </a:xfrm>
        </p:grpSpPr>
        <p:grpSp>
          <p:nvGrpSpPr>
            <p:cNvPr id="21" name="组合 20"/>
            <p:cNvGrpSpPr/>
            <p:nvPr/>
          </p:nvGrpSpPr>
          <p:grpSpPr>
            <a:xfrm>
              <a:off x="2523732" y="2643308"/>
              <a:ext cx="762943" cy="762943"/>
              <a:chOff x="2705448" y="1864234"/>
              <a:chExt cx="762943" cy="762943"/>
            </a:xfrm>
          </p:grpSpPr>
          <p:grpSp>
            <p:nvGrpSpPr>
              <p:cNvPr id="26" name="组合 25"/>
              <p:cNvGrpSpPr/>
              <p:nvPr/>
            </p:nvGrpSpPr>
            <p:grpSpPr>
              <a:xfrm>
                <a:off x="2705448" y="1864234"/>
                <a:ext cx="762943" cy="762943"/>
                <a:chOff x="2894659" y="1465288"/>
                <a:chExt cx="1727827" cy="1727827"/>
              </a:xfrm>
            </p:grpSpPr>
            <p:grpSp>
              <p:nvGrpSpPr>
                <p:cNvPr id="28" name="组合 27"/>
                <p:cNvGrpSpPr/>
                <p:nvPr/>
              </p:nvGrpSpPr>
              <p:grpSpPr>
                <a:xfrm rot="1771504">
                  <a:off x="2914532" y="1485269"/>
                  <a:ext cx="1688083" cy="1687866"/>
                  <a:chOff x="1827622" y="1343919"/>
                  <a:chExt cx="2304000" cy="2304000"/>
                </a:xfrm>
              </p:grpSpPr>
              <p:sp>
                <p:nvSpPr>
                  <p:cNvPr id="30" name="椭圆 29"/>
                  <p:cNvSpPr/>
                  <p:nvPr/>
                </p:nvSpPr>
                <p:spPr>
                  <a:xfrm>
                    <a:off x="1827622" y="1343919"/>
                    <a:ext cx="2304000" cy="2304000"/>
                  </a:xfrm>
                  <a:prstGeom prst="ellipse">
                    <a:avLst/>
                  </a:prstGeom>
                  <a:gradFill flip="none" rotWithShape="1">
                    <a:gsLst>
                      <a:gs pos="100000">
                        <a:schemeClr val="bg1">
                          <a:lumMod val="85000"/>
                        </a:schemeClr>
                      </a:gs>
                      <a:gs pos="0">
                        <a:schemeClr val="bg1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>
                    <a:outerShdw blurRad="254000" dist="241300" dir="7800000" sx="85000" sy="85000" algn="tr" rotWithShape="0">
                      <a:prstClr val="black">
                        <a:alpha val="3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B757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  <p:sp>
                <p:nvSpPr>
                  <p:cNvPr id="31" name="椭圆 30"/>
                  <p:cNvSpPr/>
                  <p:nvPr/>
                </p:nvSpPr>
                <p:spPr>
                  <a:xfrm>
                    <a:off x="1877481" y="1393778"/>
                    <a:ext cx="2204282" cy="2204282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bg1">
                          <a:lumMod val="85000"/>
                        </a:schemeClr>
                      </a:gs>
                      <a:gs pos="100000">
                        <a:srgbClr val="FEFEFE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B757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</p:grpSp>
            <p:sp>
              <p:nvSpPr>
                <p:cNvPr id="29" name="流程图: 联系 38"/>
                <p:cNvSpPr/>
                <p:nvPr/>
              </p:nvSpPr>
              <p:spPr>
                <a:xfrm>
                  <a:off x="2894659" y="1465288"/>
                  <a:ext cx="1727827" cy="1727827"/>
                </a:xfrm>
                <a:prstGeom prst="flowChartConnector">
                  <a:avLst/>
                </a:prstGeom>
                <a:noFill/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42900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>
                    <a:solidFill>
                      <a:srgbClr val="FFB757"/>
                    </a:solidFill>
                    <a:latin typeface="微软雅黑"/>
                    <a:ea typeface="微软雅黑"/>
                  </a:endParaRPr>
                </a:p>
              </p:txBody>
            </p:sp>
          </p:grpSp>
          <p:sp>
            <p:nvSpPr>
              <p:cNvPr id="27" name="文本框 26"/>
              <p:cNvSpPr txBox="1"/>
              <p:nvPr/>
            </p:nvSpPr>
            <p:spPr>
              <a:xfrm>
                <a:off x="2824945" y="2053130"/>
                <a:ext cx="568506" cy="4308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>
                <a:defPPr>
                  <a:defRPr lang="en-US"/>
                </a:defPPr>
                <a:lvl1pPr>
                  <a:defRPr sz="2000" b="1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defRPr>
                </a:lvl1pPr>
              </a:lstStyle>
              <a:p>
                <a:pPr defTabSz="342900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altLang="zh-CN" sz="1500" dirty="0">
                    <a:solidFill>
                      <a:srgbClr val="0F6FC6"/>
                    </a:solidFill>
                  </a:rPr>
                  <a:t>02</a:t>
                </a:r>
                <a:endParaRPr lang="zh-CN" altLang="en-US" sz="1500" dirty="0">
                  <a:solidFill>
                    <a:srgbClr val="0F6FC6"/>
                  </a:solidFill>
                </a:endParaRPr>
              </a:p>
            </p:txBody>
          </p:sp>
        </p:grpSp>
        <p:grpSp>
          <p:nvGrpSpPr>
            <p:cNvPr id="22" name="组合 21"/>
            <p:cNvGrpSpPr/>
            <p:nvPr/>
          </p:nvGrpSpPr>
          <p:grpSpPr>
            <a:xfrm rot="1771504">
              <a:off x="3072564" y="3144899"/>
              <a:ext cx="272244" cy="272209"/>
              <a:chOff x="1827622" y="1343919"/>
              <a:chExt cx="2304000" cy="2304000"/>
            </a:xfrm>
          </p:grpSpPr>
          <p:sp>
            <p:nvSpPr>
              <p:cNvPr id="24" name="椭圆 23"/>
              <p:cNvSpPr/>
              <p:nvPr/>
            </p:nvSpPr>
            <p:spPr>
              <a:xfrm>
                <a:off x="1827622" y="1343919"/>
                <a:ext cx="2304000" cy="2304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bg1">
                      <a:lumMod val="85000"/>
                    </a:schemeClr>
                  </a:gs>
                  <a:gs pos="0">
                    <a:schemeClr val="bg1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>
                <a:outerShdw blurRad="254000" dist="241300" dir="7800000" sx="85000" sy="85000" algn="tr" rotWithShape="0">
                  <a:prstClr val="black">
                    <a:alpha val="3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  <p:sp>
            <p:nvSpPr>
              <p:cNvPr id="25" name="椭圆 24"/>
              <p:cNvSpPr/>
              <p:nvPr/>
            </p:nvSpPr>
            <p:spPr>
              <a:xfrm>
                <a:off x="1877481" y="1393778"/>
                <a:ext cx="2204282" cy="2204282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rgbClr val="FEFEFE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</p:grpSp>
        <p:sp>
          <p:nvSpPr>
            <p:cNvPr id="23" name="文本框 73"/>
            <p:cNvSpPr txBox="1"/>
            <p:nvPr/>
          </p:nvSpPr>
          <p:spPr>
            <a:xfrm>
              <a:off x="2322174" y="3776009"/>
              <a:ext cx="1337871" cy="430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513995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500" b="1" dirty="0">
                  <a:solidFill>
                    <a:srgbClr val="0F6FC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主要项目</a:t>
              </a:r>
            </a:p>
          </p:txBody>
        </p:sp>
      </p:grpSp>
      <p:grpSp>
        <p:nvGrpSpPr>
          <p:cNvPr id="43" name="组合 42"/>
          <p:cNvGrpSpPr/>
          <p:nvPr/>
        </p:nvGrpSpPr>
        <p:grpSpPr>
          <a:xfrm>
            <a:off x="6911017" y="2705569"/>
            <a:ext cx="1485615" cy="1205220"/>
            <a:chOff x="4673318" y="2643310"/>
            <a:chExt cx="1980820" cy="1606959"/>
          </a:xfrm>
        </p:grpSpPr>
        <p:grpSp>
          <p:nvGrpSpPr>
            <p:cNvPr id="44" name="组合 43"/>
            <p:cNvGrpSpPr/>
            <p:nvPr/>
          </p:nvGrpSpPr>
          <p:grpSpPr>
            <a:xfrm>
              <a:off x="4861357" y="2643310"/>
              <a:ext cx="762943" cy="762943"/>
              <a:chOff x="4132381" y="1864234"/>
              <a:chExt cx="762943" cy="762943"/>
            </a:xfrm>
          </p:grpSpPr>
          <p:grpSp>
            <p:nvGrpSpPr>
              <p:cNvPr id="49" name="组合 48"/>
              <p:cNvGrpSpPr/>
              <p:nvPr/>
            </p:nvGrpSpPr>
            <p:grpSpPr>
              <a:xfrm>
                <a:off x="4132381" y="1864234"/>
                <a:ext cx="762943" cy="762943"/>
                <a:chOff x="2894659" y="1465288"/>
                <a:chExt cx="1727827" cy="1727827"/>
              </a:xfrm>
            </p:grpSpPr>
            <p:grpSp>
              <p:nvGrpSpPr>
                <p:cNvPr id="51" name="组合 50"/>
                <p:cNvGrpSpPr/>
                <p:nvPr/>
              </p:nvGrpSpPr>
              <p:grpSpPr>
                <a:xfrm rot="1771504">
                  <a:off x="2914532" y="1485269"/>
                  <a:ext cx="1688083" cy="1687866"/>
                  <a:chOff x="1827622" y="1343919"/>
                  <a:chExt cx="2304000" cy="2304000"/>
                </a:xfrm>
              </p:grpSpPr>
              <p:sp>
                <p:nvSpPr>
                  <p:cNvPr id="53" name="椭圆 52"/>
                  <p:cNvSpPr/>
                  <p:nvPr/>
                </p:nvSpPr>
                <p:spPr>
                  <a:xfrm>
                    <a:off x="1827622" y="1343919"/>
                    <a:ext cx="2304000" cy="2304000"/>
                  </a:xfrm>
                  <a:prstGeom prst="ellipse">
                    <a:avLst/>
                  </a:prstGeom>
                  <a:gradFill flip="none" rotWithShape="1">
                    <a:gsLst>
                      <a:gs pos="100000">
                        <a:schemeClr val="bg1">
                          <a:lumMod val="85000"/>
                        </a:schemeClr>
                      </a:gs>
                      <a:gs pos="0">
                        <a:schemeClr val="bg1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>
                    <a:outerShdw blurRad="254000" dist="241300" dir="7800000" sx="85000" sy="85000" algn="tr" rotWithShape="0">
                      <a:prstClr val="black">
                        <a:alpha val="3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0000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  <p:sp>
                <p:nvSpPr>
                  <p:cNvPr id="54" name="椭圆 53"/>
                  <p:cNvSpPr/>
                  <p:nvPr/>
                </p:nvSpPr>
                <p:spPr>
                  <a:xfrm>
                    <a:off x="1877481" y="1393778"/>
                    <a:ext cx="2204282" cy="2204282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bg1">
                          <a:lumMod val="85000"/>
                        </a:schemeClr>
                      </a:gs>
                      <a:gs pos="100000">
                        <a:srgbClr val="FEFEFE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0000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</p:grpSp>
            <p:sp>
              <p:nvSpPr>
                <p:cNvPr id="52" name="流程图: 联系 45"/>
                <p:cNvSpPr/>
                <p:nvPr/>
              </p:nvSpPr>
              <p:spPr>
                <a:xfrm>
                  <a:off x="2894659" y="1465288"/>
                  <a:ext cx="1727827" cy="1727827"/>
                </a:xfrm>
                <a:prstGeom prst="flowChartConnector">
                  <a:avLst/>
                </a:prstGeom>
                <a:noFill/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42900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>
                    <a:solidFill>
                      <a:prstClr val="white"/>
                    </a:solidFill>
                    <a:latin typeface="微软雅黑"/>
                    <a:ea typeface="微软雅黑"/>
                  </a:endParaRPr>
                </a:p>
              </p:txBody>
            </p:sp>
          </p:grpSp>
          <p:sp>
            <p:nvSpPr>
              <p:cNvPr id="50" name="文本框 49"/>
              <p:cNvSpPr txBox="1"/>
              <p:nvPr/>
            </p:nvSpPr>
            <p:spPr>
              <a:xfrm>
                <a:off x="4247986" y="2048949"/>
                <a:ext cx="580563" cy="4308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>
                <a:defPPr>
                  <a:defRPr lang="en-US"/>
                </a:defPPr>
                <a:lvl1pPr>
                  <a:defRPr sz="2000" b="1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defRPr>
                </a:lvl1pPr>
              </a:lstStyle>
              <a:p>
                <a:pPr defTabSz="342900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altLang="zh-CN" sz="1500" dirty="0">
                    <a:solidFill>
                      <a:srgbClr val="0F6FC6"/>
                    </a:solidFill>
                  </a:rPr>
                  <a:t>03</a:t>
                </a:r>
              </a:p>
            </p:txBody>
          </p:sp>
        </p:grpSp>
        <p:grpSp>
          <p:nvGrpSpPr>
            <p:cNvPr id="45" name="组合 44"/>
            <p:cNvGrpSpPr/>
            <p:nvPr/>
          </p:nvGrpSpPr>
          <p:grpSpPr>
            <a:xfrm rot="1771504">
              <a:off x="5425579" y="3131584"/>
              <a:ext cx="272244" cy="272209"/>
              <a:chOff x="1827622" y="1343919"/>
              <a:chExt cx="2304000" cy="2304000"/>
            </a:xfrm>
          </p:grpSpPr>
          <p:sp>
            <p:nvSpPr>
              <p:cNvPr id="47" name="椭圆 46"/>
              <p:cNvSpPr/>
              <p:nvPr/>
            </p:nvSpPr>
            <p:spPr>
              <a:xfrm>
                <a:off x="1827622" y="1343919"/>
                <a:ext cx="2304000" cy="2304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bg1">
                      <a:lumMod val="85000"/>
                    </a:schemeClr>
                  </a:gs>
                  <a:gs pos="0">
                    <a:schemeClr val="bg1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>
                <a:outerShdw blurRad="254000" dist="241300" dir="7800000" sx="85000" sy="85000" algn="tr" rotWithShape="0">
                  <a:prstClr val="black">
                    <a:alpha val="3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1877481" y="1393778"/>
                <a:ext cx="2204282" cy="2204282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rgbClr val="FEFEFE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</p:grpSp>
        <p:sp>
          <p:nvSpPr>
            <p:cNvPr id="46" name="文本框 75"/>
            <p:cNvSpPr txBox="1"/>
            <p:nvPr/>
          </p:nvSpPr>
          <p:spPr>
            <a:xfrm>
              <a:off x="4673318" y="3819383"/>
              <a:ext cx="1980820" cy="430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513995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500" b="1" dirty="0">
                  <a:solidFill>
                    <a:srgbClr val="0F6FC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未来规划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069032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0" name="Picture 1"/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482600" y="6280400"/>
            <a:ext cx="1696196" cy="123810"/>
          </a:xfrm>
          <a:prstGeom prst="rect">
            <a:avLst/>
          </a:prstGeom>
        </p:spPr>
      </p:pic>
      <p:sp>
        <p:nvSpPr>
          <p:cNvPr id="1048643" name="Rectangle 7"/>
          <p:cNvSpPr/>
          <p:nvPr/>
        </p:nvSpPr>
        <p:spPr>
          <a:xfrm>
            <a:off x="368300" y="2365325"/>
            <a:ext cx="2509371" cy="828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3500" indent="-63500" latinLnBrk="1"/>
            <a:r>
              <a:rPr lang="en-US" sz="50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Thanks</a:t>
            </a:r>
          </a:p>
        </p:txBody>
      </p:sp>
    </p:spTree>
    <p:extLst>
      <p:ext uri="{BB962C8B-B14F-4D97-AF65-F5344CB8AC3E}">
        <p14:creationId xmlns:p14="http://schemas.microsoft.com/office/powerpoint/2010/main" val="3120957538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1、个人介绍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哲学训练留下的习惯：做事之前，先把概念拆清楚、把边界想清楚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81328"/>
            <a:ext cx="2514600" cy="457200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31520" y="1737360"/>
            <a:ext cx="868680" cy="8686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UserGraduat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90" y="1954529"/>
            <a:ext cx="434340" cy="4343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27432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罗蕴文</a:t>
            </a:r>
          </a:p>
        </p:txBody>
      </p:sp>
      <p:pic>
        <p:nvPicPr>
          <p:cNvPr id="8" name="Picture 7" descr="FaCalendarCheck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3456432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61288" y="3401568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2027 年 6 月毕业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4069080"/>
            <a:ext cx="1965960" cy="0"/>
          </a:xfrm>
          <a:prstGeom prst="line">
            <a:avLst/>
          </a:prstGeom>
          <a:ln w="12700">
            <a:solidFill>
              <a:srgbClr val="D3E2F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425196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此前经历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53712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小红书 · 产品实习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956048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大模型“点点”幽默语境下的测评与优化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1481328"/>
            <a:ext cx="3977639" cy="384048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343400" y="1481328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第一阶段：火车票 AI</a:t>
            </a:r>
          </a:p>
        </p:txBody>
      </p:sp>
      <p:sp>
        <p:nvSpPr>
          <p:cNvPr id="16" name="Pentagon 15"/>
          <p:cNvSpPr/>
          <p:nvPr/>
        </p:nvSpPr>
        <p:spPr>
          <a:xfrm>
            <a:off x="7680959" y="1481328"/>
            <a:ext cx="3985014" cy="384048"/>
          </a:xfrm>
          <a:prstGeom prst="homePlat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680959" y="1481328"/>
            <a:ext cx="398501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第二阶段：抢票业务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343400" y="2240280"/>
            <a:ext cx="7322574" cy="0"/>
          </a:xfrm>
          <a:prstGeom prst="line">
            <a:avLst/>
          </a:prstGeom>
          <a:ln w="15875">
            <a:solidFill>
              <a:srgbClr val="287D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02335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5月</a:t>
            </a:r>
          </a:p>
        </p:txBody>
      </p:sp>
      <p:sp>
        <p:nvSpPr>
          <p:cNvPr id="20" name="Oval 19"/>
          <p:cNvSpPr/>
          <p:nvPr/>
        </p:nvSpPr>
        <p:spPr>
          <a:xfrm>
            <a:off x="4343400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Connector 20"/>
          <p:cNvCxnSpPr/>
          <p:nvPr/>
        </p:nvCxnSpPr>
        <p:spPr>
          <a:xfrm>
            <a:off x="4389120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07491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6月</a:t>
            </a:r>
          </a:p>
        </p:txBody>
      </p:sp>
      <p:sp>
        <p:nvSpPr>
          <p:cNvPr id="23" name="Oval 22"/>
          <p:cNvSpPr/>
          <p:nvPr/>
        </p:nvSpPr>
        <p:spPr>
          <a:xfrm>
            <a:off x="5394959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4" name="Connector 23"/>
          <p:cNvCxnSpPr/>
          <p:nvPr/>
        </p:nvCxnSpPr>
        <p:spPr>
          <a:xfrm>
            <a:off x="5440679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26363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7月</a:t>
            </a:r>
          </a:p>
        </p:txBody>
      </p:sp>
      <p:sp>
        <p:nvSpPr>
          <p:cNvPr id="26" name="Oval 25"/>
          <p:cNvSpPr/>
          <p:nvPr/>
        </p:nvSpPr>
        <p:spPr>
          <a:xfrm>
            <a:off x="6583679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7" name="Connector 26"/>
          <p:cNvCxnSpPr/>
          <p:nvPr/>
        </p:nvCxnSpPr>
        <p:spPr>
          <a:xfrm>
            <a:off x="6629399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31519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8月</a:t>
            </a:r>
          </a:p>
        </p:txBody>
      </p:sp>
      <p:sp>
        <p:nvSpPr>
          <p:cNvPr id="29" name="Oval 28"/>
          <p:cNvSpPr/>
          <p:nvPr/>
        </p:nvSpPr>
        <p:spPr>
          <a:xfrm>
            <a:off x="7635239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0" name="Connector 29"/>
          <p:cNvCxnSpPr/>
          <p:nvPr/>
        </p:nvCxnSpPr>
        <p:spPr>
          <a:xfrm>
            <a:off x="7680959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73251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9月</a:t>
            </a:r>
          </a:p>
        </p:txBody>
      </p:sp>
      <p:sp>
        <p:nvSpPr>
          <p:cNvPr id="32" name="Oval 31"/>
          <p:cNvSpPr/>
          <p:nvPr/>
        </p:nvSpPr>
        <p:spPr>
          <a:xfrm>
            <a:off x="9052559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3" name="Connector 32"/>
          <p:cNvCxnSpPr/>
          <p:nvPr/>
        </p:nvCxnSpPr>
        <p:spPr>
          <a:xfrm>
            <a:off x="9098280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0149840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10月</a:t>
            </a:r>
          </a:p>
        </p:txBody>
      </p:sp>
      <p:sp>
        <p:nvSpPr>
          <p:cNvPr id="35" name="Oval 34"/>
          <p:cNvSpPr/>
          <p:nvPr/>
        </p:nvSpPr>
        <p:spPr>
          <a:xfrm>
            <a:off x="10469880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6" name="Connector 35"/>
          <p:cNvCxnSpPr/>
          <p:nvPr/>
        </p:nvCxnSpPr>
        <p:spPr>
          <a:xfrm>
            <a:off x="10515600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3200400" y="2450592"/>
            <a:ext cx="1005840" cy="1060704"/>
          </a:xfrm>
          <a:prstGeom prst="roundRect">
            <a:avLst>
              <a:gd name="adj" fmla="val 12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200400" y="2450592"/>
            <a:ext cx="1005840" cy="1060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火车票</a:t>
            </a:r>
          </a:p>
          <a:p>
            <a:pPr algn="ctr">
              <a:spcBef>
                <a:spcPts val="0"/>
              </a:spcBef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Agent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43400" y="2450592"/>
            <a:ext cx="1063358" cy="292607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343400" y="2450592"/>
            <a:ext cx="1063358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竞品分析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40679" y="2834640"/>
            <a:ext cx="1426169" cy="292607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5440679" y="2834640"/>
            <a:ext cx="1426169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一期：意图识别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900770" y="3218688"/>
            <a:ext cx="1648869" cy="292607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900770" y="3218688"/>
            <a:ext cx="1648869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二期：验收与拒答治理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00400" y="3803904"/>
            <a:ext cx="1005840" cy="2212848"/>
          </a:xfrm>
          <a:prstGeom prst="roundRect">
            <a:avLst>
              <a:gd name="adj" fmla="val 12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3200400" y="3803904"/>
            <a:ext cx="1005840" cy="22128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抢票需求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138219" y="3803904"/>
            <a:ext cx="2054548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7138219" y="3803904"/>
            <a:ext cx="2054548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支付失败小场景修复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680959" y="4187952"/>
            <a:ext cx="2409444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80959" y="4187952"/>
            <a:ext cx="2409444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智能第二程接直付 · 口径修正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909559" y="4572000"/>
            <a:ext cx="1897380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909559" y="4572000"/>
            <a:ext cx="18973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双节活动日历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12480" y="4956048"/>
            <a:ext cx="2055875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8412480" y="4956048"/>
            <a:ext cx="2055875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默认截止时间设置优化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523476" y="5340096"/>
            <a:ext cx="1490619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9523476" y="5340096"/>
            <a:ext cx="1490619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支付流程补足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712452" y="5724144"/>
            <a:ext cx="1362456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9712452" y="5724144"/>
            <a:ext cx="1362456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在线换座体验优化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两条主线：AI 线让 Agent“判断对”，抢票线让用户“出得了票”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486400" cy="4526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77240" y="1783080"/>
            <a:ext cx="685800" cy="68580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Robo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90" y="1954530"/>
            <a:ext cx="342900" cy="3429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5920" y="178308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火车票 Agent · 意图识别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7889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05840" y="28986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94.6% → 98%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566160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意图分类准确率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一期上线前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3891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05840" y="44988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10.7% → 4.9%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66359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错误分发导致的拒答占比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二期分发策略调整后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1554480"/>
            <a:ext cx="5486400" cy="4526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icon-circle"/>
          <p:cNvSpPr/>
          <p:nvPr/>
        </p:nvSpPr>
        <p:spPr>
          <a:xfrm>
            <a:off x="6565392" y="1783080"/>
            <a:ext cx="685800" cy="68580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Fa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6842" y="1954530"/>
            <a:ext cx="342900" cy="3429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434072" y="178308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抢票 · 支付链路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27889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793992" y="28986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72.8% → 94%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93992" y="3566160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智能第二程出票率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确认出票改为直付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65392" y="43891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93992" y="44988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+7 万张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93992" y="5166359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预估年化票量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智能第二程接直付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火车票 Agent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Agent 最基础的能力，是正确理解用户的问题：该不该由火车来答、属于哪一类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81328"/>
            <a:ext cx="5486400" cy="50292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481328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意图识别优化：界定什么属于火车</a:t>
            </a:r>
          </a:p>
        </p:txBody>
      </p:sp>
      <p:sp>
        <p:nvSpPr>
          <p:cNvPr id="6" name="icon-circle"/>
          <p:cNvSpPr/>
          <p:nvPr/>
        </p:nvSpPr>
        <p:spPr>
          <a:xfrm>
            <a:off x="502920" y="2176272"/>
            <a:ext cx="502920" cy="502920"/>
          </a:xfrm>
          <a:prstGeom prst="ellipse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FaTriangleExclamatio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" y="2302002"/>
            <a:ext cx="251460" cy="2514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88720" y="2157984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问题：意图识别存在错误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523744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意图识别是最基础的能力，分错了类就会答非所问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提示词存在不足，把不属于该类的 query 纳了进来</a:t>
            </a:r>
          </a:p>
        </p:txBody>
      </p:sp>
      <p:sp>
        <p:nvSpPr>
          <p:cNvPr id="10" name="icon-circle"/>
          <p:cNvSpPr/>
          <p:nvPr/>
        </p:nvSpPr>
        <p:spPr>
          <a:xfrm>
            <a:off x="502920" y="3364991"/>
            <a:ext cx="502920" cy="5029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MagnifyingGlas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" y="3490722"/>
            <a:ext cx="251460" cy="2514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88720" y="3346703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方案：以算法业务标签为参照，修订分类框架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712463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抽样 1,000 条线上 query，与算法业务标签逐条比对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针对“算法正确、Agent 错误”的样本，逐类修订分类标准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572000"/>
            <a:ext cx="5486400" cy="150876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31520" y="46634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结果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9834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意图识别准确率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498348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94.6% → 98%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64608" y="505663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864608" y="5056632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lift +3.59%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51383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正文完播率（对比问道兜底）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513832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57% → 60.7%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64608" y="5586984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864608" y="5586984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lift +7.7%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5352" y="1481328"/>
            <a:ext cx="5486400" cy="50292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245352" y="1481328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拒答治理：界定什么不属于火车</a:t>
            </a:r>
          </a:p>
        </p:txBody>
      </p:sp>
      <p:sp>
        <p:nvSpPr>
          <p:cNvPr id="26" name="icon-circle"/>
          <p:cNvSpPr/>
          <p:nvPr/>
        </p:nvSpPr>
        <p:spPr>
          <a:xfrm>
            <a:off x="6291072" y="2176272"/>
            <a:ext cx="502920" cy="502920"/>
          </a:xfrm>
          <a:prstGeom prst="ellipse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FaTriangleExclamatio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6802" y="2302002"/>
            <a:ext cx="251460" cy="2514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976872" y="2157984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问题：火车 Agent 拒答率偏高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76872" y="2523744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约一半问题被拒答，其中部分是被错误分发的非火车问题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这类问题在火车 Agent 内无法回答，只能从上游分发解决</a:t>
            </a:r>
          </a:p>
        </p:txBody>
      </p:sp>
      <p:sp>
        <p:nvSpPr>
          <p:cNvPr id="30" name="icon-circle"/>
          <p:cNvSpPr/>
          <p:nvPr/>
        </p:nvSpPr>
        <p:spPr>
          <a:xfrm>
            <a:off x="6291072" y="3364991"/>
            <a:ext cx="502920" cy="5029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Picture 30" descr="FaFilter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6802" y="3490722"/>
            <a:ext cx="251460" cy="25146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976872" y="3346703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方案：推进能力覆盖的同时，优先治理错误分发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76872" y="3712463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人工核查 1,000 多条拒答 query，整理火车问题的边界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推动问道调整分发，非火车问题交由其他 Agent 回答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45352" y="4572000"/>
            <a:ext cx="5486400" cy="150876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519672" y="46634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结果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19672" y="52120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错误分发导致的拒答占比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14232" y="521208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10.7% → 4.9%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652760" y="528523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10652760" y="5285232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lift −54.2%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抢票：智能第二程接直付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智能第二程——兴奋型需求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1129284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WandMagicSparkle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4731" y="1856232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生成第二程捡漏单</a:t>
            </a:r>
          </a:p>
          <a:p>
            <a:pPr algn="ctr">
              <a:spcBef>
                <a:spcPts val="0"/>
              </a:spcBef>
            </a:pPr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并完成扣位</a:t>
            </a:r>
          </a:p>
        </p:txBody>
      </p:sp>
      <p:sp>
        <p:nvSpPr>
          <p:cNvPr id="8" name="arrow"/>
          <p:cNvSpPr/>
          <p:nvPr/>
        </p:nvSpPr>
        <p:spPr>
          <a:xfrm>
            <a:off x="2459736" y="2130552"/>
            <a:ext cx="228600" cy="27432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2724912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icon-circle"/>
          <p:cNvSpPr/>
          <p:nvPr/>
        </p:nvSpPr>
        <p:spPr>
          <a:xfrm>
            <a:off x="3396996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PhoneVolum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2444" y="1856232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816352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外呼 / 消息通知</a:t>
            </a:r>
          </a:p>
          <a:p>
            <a:pPr algn="ctr">
              <a:spcBef>
                <a:spcPts val="0"/>
              </a:spcBef>
            </a:pPr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用户确认出票</a:t>
            </a:r>
          </a:p>
        </p:txBody>
      </p:sp>
      <p:sp>
        <p:nvSpPr>
          <p:cNvPr id="13" name="arrow"/>
          <p:cNvSpPr/>
          <p:nvPr/>
        </p:nvSpPr>
        <p:spPr>
          <a:xfrm>
            <a:off x="4727448" y="2130552"/>
            <a:ext cx="228600" cy="27432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4992624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icon-circle"/>
          <p:cNvSpPr/>
          <p:nvPr/>
        </p:nvSpPr>
        <p:spPr>
          <a:xfrm>
            <a:off x="5664708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FaCreditCar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0156" y="1856232"/>
            <a:ext cx="310896" cy="3108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84064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用户确认并付款</a:t>
            </a:r>
          </a:p>
        </p:txBody>
      </p:sp>
      <p:sp>
        <p:nvSpPr>
          <p:cNvPr id="18" name="arrow"/>
          <p:cNvSpPr/>
          <p:nvPr/>
        </p:nvSpPr>
        <p:spPr>
          <a:xfrm>
            <a:off x="6995159" y="2130552"/>
            <a:ext cx="228600" cy="27432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7260336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icon-circle"/>
          <p:cNvSpPr/>
          <p:nvPr/>
        </p:nvSpPr>
        <p:spPr>
          <a:xfrm>
            <a:off x="7932419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FaTicke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87867" y="1856232"/>
            <a:ext cx="310896" cy="31089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51775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出票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01184" y="1463040"/>
            <a:ext cx="4416552" cy="1645920"/>
          </a:xfrm>
          <a:prstGeom prst="rect">
            <a:avLst/>
          </a:prstGeom>
          <a:noFill/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901184" y="3154680"/>
            <a:ext cx="44165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受风控限制，付款到出票环节容易失败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657600"/>
            <a:ext cx="4480560" cy="242316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FaLightbulb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3858768"/>
            <a:ext cx="365760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70432" y="3858768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KANO：兴奋型需求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389120"/>
            <a:ext cx="40690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通知 + 付款后，用户默认一定能出票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出票失败，体验比没有这个功能更差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5303520"/>
            <a:ext cx="40233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85800" y="530352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解决方案　</a:t>
            </a:r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确认出票统一改为直付</a:t>
            </a:r>
          </a:p>
        </p:txBody>
      </p:sp>
      <p:graphicFrame>
        <p:nvGraphicFramePr>
          <p:cNvPr id="31" name="Chart 30"/>
          <p:cNvGraphicFramePr>
            <a:graphicFrameLocks noGrp="1"/>
          </p:cNvGraphicFramePr>
          <p:nvPr/>
        </p:nvGraphicFramePr>
        <p:xfrm>
          <a:off x="5120640" y="3657600"/>
          <a:ext cx="2377440" cy="2423160"/>
        </p:xfrm>
        <a:graphic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7680960" y="3657600"/>
            <a:ext cx="1691640" cy="242316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726679" y="4343400"/>
            <a:ext cx="1600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预估年化票量</a:t>
            </a:r>
          </a:p>
          <a:p>
            <a:pPr algn="ctr">
              <a:spcBef>
                <a:spcPts val="600"/>
              </a:spcBef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+7 万张</a:t>
            </a:r>
          </a:p>
        </p:txBody>
      </p:sp>
      <p:pic>
        <p:nvPicPr>
          <p:cNvPr id="34" name="真实截图-车票待确认" descr="second_leg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30689" y="1463040"/>
            <a:ext cx="2101062" cy="4617720"/>
          </a:xfrm>
          <a:prstGeom prst="roundRect">
            <a:avLst>
              <a:gd name="adj" fmla="val 6000"/>
            </a:avLst>
          </a:prstGeom>
          <a:ln w="25400">
            <a:solidFill>
              <a:srgbClr val="000000"/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抢票：支付宝（非黑名单）放开抢转买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用户的让步，换的是“马上能出票”</a:t>
            </a:r>
          </a:p>
        </p:txBody>
      </p:sp>
      <p:pic>
        <p:nvPicPr>
          <p:cNvPr id="4" name="真实截图-抢必走" descr="qb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81328"/>
            <a:ext cx="1913839" cy="4206240"/>
          </a:xfrm>
          <a:prstGeom prst="roundRect">
            <a:avLst>
              <a:gd name="adj" fmla="val 6000"/>
            </a:avLst>
          </a:prstGeom>
          <a:ln w="25400">
            <a:solidFill>
              <a:srgbClr val="000000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57200" y="5760720"/>
            <a:ext cx="1913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抢必走</a:t>
            </a:r>
          </a:p>
        </p:txBody>
      </p:sp>
      <p:pic>
        <p:nvPicPr>
          <p:cNvPr id="6" name="真实截图-有票方案" descr="yoy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5631" y="1481328"/>
            <a:ext cx="1913839" cy="4206240"/>
          </a:xfrm>
          <a:prstGeom prst="roundRect">
            <a:avLst>
              <a:gd name="adj" fmla="val 6000"/>
            </a:avLst>
          </a:prstGeom>
          <a:ln w="25400">
            <a:solidFill>
              <a:srgbClr val="00000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535631" y="5760720"/>
            <a:ext cx="1913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有票方案页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09160" y="1783080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icon-circle"/>
          <p:cNvSpPr/>
          <p:nvPr/>
        </p:nvSpPr>
        <p:spPr>
          <a:xfrm>
            <a:off x="5175504" y="1901952"/>
            <a:ext cx="548640" cy="5486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FaMagnifyingGlass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2664" y="2039112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54880" y="251460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抢票中</a:t>
            </a:r>
          </a:p>
          <a:p>
            <a:pPr algn="ctr">
              <a:spcBef>
                <a:spcPts val="0"/>
              </a:spcBef>
            </a:pPr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持续监控余票</a:t>
            </a:r>
          </a:p>
        </p:txBody>
      </p:sp>
      <p:sp>
        <p:nvSpPr>
          <p:cNvPr id="12" name="arrow"/>
          <p:cNvSpPr/>
          <p:nvPr/>
        </p:nvSpPr>
        <p:spPr>
          <a:xfrm>
            <a:off x="6245352" y="2331720"/>
            <a:ext cx="219456" cy="237744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709160" y="1481328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第 1 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9672" y="1783080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icon-circle"/>
          <p:cNvSpPr/>
          <p:nvPr/>
        </p:nvSpPr>
        <p:spPr>
          <a:xfrm>
            <a:off x="6986016" y="1901952"/>
            <a:ext cx="548640" cy="5486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FaListChe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3176" y="2039112"/>
            <a:ext cx="274320" cy="2743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65392" y="251460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推荐可立即</a:t>
            </a:r>
          </a:p>
          <a:p>
            <a:pPr algn="ctr">
              <a:spcBef>
                <a:spcPts val="0"/>
              </a:spcBef>
            </a:pPr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出票的替代方案</a:t>
            </a:r>
          </a:p>
        </p:txBody>
      </p:sp>
      <p:sp>
        <p:nvSpPr>
          <p:cNvPr id="18" name="arrow"/>
          <p:cNvSpPr/>
          <p:nvPr/>
        </p:nvSpPr>
        <p:spPr>
          <a:xfrm>
            <a:off x="8055864" y="2331720"/>
            <a:ext cx="219456" cy="237744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519672" y="1481328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第 2 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30183" y="1783080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icon-circle"/>
          <p:cNvSpPr/>
          <p:nvPr/>
        </p:nvSpPr>
        <p:spPr>
          <a:xfrm>
            <a:off x="8796528" y="1901952"/>
            <a:ext cx="548640" cy="5486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FaUser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33688" y="2039112"/>
            <a:ext cx="274320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375904" y="251460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用户让步</a:t>
            </a:r>
          </a:p>
          <a:p>
            <a:pPr algn="ctr">
              <a:spcBef>
                <a:spcPts val="0"/>
              </a:spcBef>
            </a:pPr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接受替代方案</a:t>
            </a:r>
          </a:p>
        </p:txBody>
      </p:sp>
      <p:sp>
        <p:nvSpPr>
          <p:cNvPr id="24" name="arrow"/>
          <p:cNvSpPr/>
          <p:nvPr/>
        </p:nvSpPr>
        <p:spPr>
          <a:xfrm>
            <a:off x="9866376" y="2331720"/>
            <a:ext cx="219456" cy="237744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330183" y="1481328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第 3 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40696" y="1783080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FF3EA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icon-circle"/>
          <p:cNvSpPr/>
          <p:nvPr/>
        </p:nvSpPr>
        <p:spPr>
          <a:xfrm>
            <a:off x="10607040" y="1901952"/>
            <a:ext cx="548640" cy="548640"/>
          </a:xfrm>
          <a:prstGeom prst="ellipse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FaTicket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44200" y="2039112"/>
            <a:ext cx="274320" cy="2743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86416" y="251460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出票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0696" y="1481328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第 4 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369296" y="3200400"/>
            <a:ext cx="1024128" cy="274320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0369296" y="3200400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需要修改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9160" y="3611880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第 4 步怎么走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09160" y="4069080"/>
            <a:ext cx="777240" cy="731520"/>
          </a:xfrm>
          <a:prstGeom prst="roundRect">
            <a:avLst>
              <a:gd name="adj" fmla="val 20000"/>
            </a:avLst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709160" y="4069080"/>
            <a:ext cx="7772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之前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05272" y="4069080"/>
            <a:ext cx="6053328" cy="731520"/>
          </a:xfrm>
          <a:prstGeom prst="roundRect">
            <a:avLst>
              <a:gd name="adj" fmla="val 6000"/>
            </a:avLst>
          </a:prstGeom>
          <a:solidFill>
            <a:srgbClr val="FFF3EA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7" name="Picture 36" descr="FaRotate_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60720" y="4270248"/>
            <a:ext cx="329184" cy="32918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217920" y="406908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仍走抢票的捡漏扣位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01200" y="425196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601200" y="425196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出票概率【待补充】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709160" y="5029200"/>
            <a:ext cx="777240" cy="731520"/>
          </a:xfrm>
          <a:prstGeom prst="roundRect">
            <a:avLst>
              <a:gd name="adj" fmla="val 2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709160" y="5029200"/>
            <a:ext cx="7772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之后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05272" y="5029200"/>
            <a:ext cx="6053328" cy="73152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4" name="Picture 43" descr="FaCircleCheck_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60720" y="5230368"/>
            <a:ext cx="329184" cy="329184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217920" y="502920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支付宝（非黑名单）订单直接走买票接口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601200" y="521208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9601200" y="521208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上线后增量【待补】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抢票：两个需求的共同点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我们主动给了“可以出票”的承诺，用户做出了行动，最后却没能出票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486400" cy="274320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77240" y="1783080"/>
            <a:ext cx="731520" cy="7315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User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965960"/>
            <a:ext cx="365760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37360" y="187451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出票意愿最强的一批人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这些订单的用户都已经付了款或做出了妥协，在这里流失对票量最可惜，修复的回报也最直接。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1554480"/>
            <a:ext cx="5486400" cy="274320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icon-circle"/>
          <p:cNvSpPr/>
          <p:nvPr/>
        </p:nvSpPr>
        <p:spPr>
          <a:xfrm>
            <a:off x="6565392" y="1783080"/>
            <a:ext cx="731520" cy="7315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Rout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272" y="1965960"/>
            <a:ext cx="365760" cy="365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25512" y="187451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两个问题的根源相同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274320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用户的状态已经从“等待”变成了“确认”，后台却还沿用抢票订单原来的链路。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7724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已付款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3172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33172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已妥协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6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22376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等待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确认</a:t>
            </a:r>
          </a:p>
        </p:txBody>
      </p:sp>
      <p:sp>
        <p:nvSpPr>
          <p:cNvPr id="22" name="arrow"/>
          <p:cNvSpPr/>
          <p:nvPr/>
        </p:nvSpPr>
        <p:spPr>
          <a:xfrm>
            <a:off x="8641080" y="3749039"/>
            <a:ext cx="640080" cy="274320"/>
          </a:xfrm>
          <a:prstGeom prst="rightArrow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457200" y="4572000"/>
            <a:ext cx="11274552" cy="150876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FaBullsey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983480"/>
            <a:ext cx="685800" cy="685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783080" y="4572000"/>
            <a:ext cx="9692640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D6E6FF"/>
                </a:solidFill>
                <a:latin typeface="微软雅黑"/>
                <a:ea typeface="微软雅黑"/>
                <a:cs typeface="微软雅黑"/>
              </a:rPr>
              <a:t>可复用的原则</a:t>
            </a:r>
          </a:p>
          <a:p>
            <a:pPr algn="l">
              <a:spcBef>
                <a:spcPts val="600"/>
              </a:spcBef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在每一个让用户做决定的节点，都要检查后面的链路能不能兑现这个决定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抢票：数据口径修正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需求改成了直付，数据却显示代付：数据口径会随业务演进而过期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69494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651760"/>
                <a:gridCol w="2926080"/>
              </a:tblGrid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</a:p>
                  </a:txBody>
                  <a:tcPr anchor="ctr" marL="137160" marR="137160">
                    <a:solidFill>
                      <a:srgbClr val="287D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原口径</a:t>
                      </a:r>
                    </a:p>
                  </a:txBody>
                  <a:tcPr anchor="ctr" marL="137160" marR="137160">
                    <a:solidFill>
                      <a:srgbClr val="287D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新口径</a:t>
                      </a:r>
                    </a:p>
                  </a:txBody>
                  <a:tcPr anchor="ctr" marL="137160" marR="137160">
                    <a:solidFill>
                      <a:srgbClr val="287D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判断依据</a:t>
                      </a:r>
                    </a:p>
                  </a:txBody>
                  <a:tcPr anchor="ctr" marL="137160" marR="13716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7A859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“候补直付”业务标记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订单上的直付出票标记</a:t>
                      </a:r>
                    </a:p>
                  </a:txBody>
                  <a:tcPr anchor="ctr" marL="137160" marR="137160">
                    <a:solidFill>
                      <a:srgbClr val="F5F9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覆盖场景</a:t>
                      </a:r>
                    </a:p>
                  </a:txBody>
                  <a:tcPr anchor="ctr" marL="137160" marR="13716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7A859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只覆盖候补直付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候补、捡漏、智能等全部直付场景</a:t>
                      </a:r>
                    </a:p>
                  </a:txBody>
                  <a:tcPr anchor="ctr" marL="137160" marR="137160">
                    <a:solidFill>
                      <a:srgbClr val="F5F9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 anchor="ctr" marL="137160" marR="13716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7A859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捡漏、智能直付被判成代付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数仓新增“是否直付出票”字段</a:t>
                      </a:r>
                    </a:p>
                  </a:txBody>
                  <a:tcPr anchor="ctr" marL="137160" marR="137160">
                    <a:solidFill>
                      <a:srgbClr val="F5F9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709160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处理过程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发现数据异常</a:t>
            </a:r>
          </a:p>
        </p:txBody>
      </p:sp>
      <p:sp>
        <p:nvSpPr>
          <p:cNvPr id="8" name="arrow"/>
          <p:cNvSpPr/>
          <p:nvPr/>
        </p:nvSpPr>
        <p:spPr>
          <a:xfrm>
            <a:off x="2029967" y="5303520"/>
            <a:ext cx="182880" cy="18288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224028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24028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找开发核实标记</a:t>
            </a:r>
          </a:p>
        </p:txBody>
      </p:sp>
      <p:sp>
        <p:nvSpPr>
          <p:cNvPr id="11" name="arrow"/>
          <p:cNvSpPr/>
          <p:nvPr/>
        </p:nvSpPr>
        <p:spPr>
          <a:xfrm>
            <a:off x="3813048" y="5303520"/>
            <a:ext cx="182880" cy="18288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02336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02336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与 BI、数仓排查</a:t>
            </a:r>
          </a:p>
        </p:txBody>
      </p:sp>
      <p:sp>
        <p:nvSpPr>
          <p:cNvPr id="14" name="arrow"/>
          <p:cNvSpPr/>
          <p:nvPr/>
        </p:nvSpPr>
        <p:spPr>
          <a:xfrm>
            <a:off x="5596128" y="5303520"/>
            <a:ext cx="182880" cy="18288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580644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80644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统一判断口径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155448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修正之后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18120" y="2103120"/>
            <a:ext cx="3931920" cy="1097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icon-circle"/>
          <p:cNvSpPr/>
          <p:nvPr/>
        </p:nvSpPr>
        <p:spPr>
          <a:xfrm>
            <a:off x="8046720" y="2331720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FaChartLin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6740" y="2491739"/>
            <a:ext cx="320040" cy="3200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869680" y="210312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需求效果能被正确评估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18120" y="3429000"/>
            <a:ext cx="3931920" cy="1097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icon-circle"/>
          <p:cNvSpPr/>
          <p:nvPr/>
        </p:nvSpPr>
        <p:spPr>
          <a:xfrm>
            <a:off x="8046720" y="3657600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FaFileInvoiceDolla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6740" y="3817620"/>
            <a:ext cx="320040" cy="3200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869680" y="342900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财务结算报表随之修正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4754879"/>
            <a:ext cx="3931920" cy="1097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icon-circle"/>
          <p:cNvSpPr/>
          <p:nvPr/>
        </p:nvSpPr>
        <p:spPr>
          <a:xfrm>
            <a:off x="8046720" y="4983479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FaPeopleGroup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6740" y="5143499"/>
            <a:ext cx="320040" cy="3200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869680" y="4754879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团队之后的直付代付取数可直接复用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3、未来规划 · 从 AI native 到 AI × 业务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从模型侧的质量工作，走到直接对业务结果负责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5239512" cy="96012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685800" y="1664208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Robo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" y="1824228"/>
            <a:ext cx="320040" cy="320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08760" y="1508760"/>
            <a:ext cx="406908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火车票 Agent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模型侧的质量工作，离业务结果比较远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508760"/>
            <a:ext cx="5239512" cy="96012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icon-circle"/>
          <p:cNvSpPr/>
          <p:nvPr/>
        </p:nvSpPr>
        <p:spPr>
          <a:xfrm>
            <a:off x="6720840" y="1664208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Fa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0859" y="1824228"/>
            <a:ext cx="320040" cy="320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3800" y="1508760"/>
            <a:ext cx="406908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抢票业务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直接对票量负责，学会从业务指标倒推要做什么</a:t>
            </a:r>
          </a:p>
        </p:txBody>
      </p:sp>
      <p:sp>
        <p:nvSpPr>
          <p:cNvPr id="12" name="arrow"/>
          <p:cNvSpPr/>
          <p:nvPr/>
        </p:nvSpPr>
        <p:spPr>
          <a:xfrm>
            <a:off x="5806440" y="1828800"/>
            <a:ext cx="457200" cy="329184"/>
          </a:xfrm>
          <a:prstGeom prst="rightArrow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7200" y="2697480"/>
          <a:ext cx="11274552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206240"/>
                <a:gridCol w="5056632"/>
              </a:tblGrid>
              <a:tr h="6400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</a:p>
                  </a:txBody>
                  <a:tcPr anchor="ctr" marL="182880">
                    <a:solidFill>
                      <a:srgbClr val="287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小红书 · AI native</a:t>
                      </a:r>
                    </a:p>
                  </a:txBody>
                  <a:tcPr anchor="ctr" marL="182880">
                    <a:solidFill>
                      <a:srgbClr val="287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携程 · AI × 业务</a:t>
                      </a:r>
                    </a:p>
                  </a:txBody>
                  <a:tcPr anchor="ctr" marL="182880">
                    <a:solidFill>
                      <a:srgbClr val="287DF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产品是什么</a:t>
                      </a:r>
                    </a:p>
                  </a:txBody>
                  <a:tcPr anchor="ctr" marL="182880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模型本身就是产品</a:t>
                      </a:r>
                    </a:p>
                  </a:txBody>
                  <a:tcPr anchor="ctr" marL="18288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AI 是服务业务的手段</a:t>
                      </a:r>
                    </a:p>
                  </a:txBody>
                  <a:tcPr anchor="ctr" marL="182880">
                    <a:solidFill>
                      <a:srgbClr val="F5F9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边界由谁定</a:t>
                      </a:r>
                    </a:p>
                  </a:txBody>
                  <a:tcPr anchor="ctr" marL="182880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拓展能力边界、限制行为边界</a:t>
                      </a:r>
                    </a:p>
                  </a:txBody>
                  <a:tcPr anchor="ctr" marL="18288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业务来定：什么属于火车、什么不属于</a:t>
                      </a:r>
                    </a:p>
                  </a:txBody>
                  <a:tcPr anchor="ctr" marL="182880">
                    <a:solidFill>
                      <a:srgbClr val="F5F9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衡量标准</a:t>
                      </a:r>
                    </a:p>
                  </a:txBody>
                  <a:tcPr anchor="ctr" marL="182880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模型表现得好不好</a:t>
                      </a:r>
                    </a:p>
                  </a:txBody>
                  <a:tcPr anchor="ctr" marL="18288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票量这样的业务结果</a:t>
                      </a:r>
                    </a:p>
                  </a:txBody>
                  <a:tcPr anchor="ctr" marL="182880">
                    <a:solidFill>
                      <a:srgbClr val="F5F9FF"/>
                    </a:solidFill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457200" y="5440680"/>
            <a:ext cx="11274552" cy="64008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aLightbulb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577840"/>
            <a:ext cx="365760" cy="365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88720" y="5440680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形态要贴合用户习惯　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二期把对话改成直接操作列表页后，票量明显提升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3、未来规划 · 在票量、收益、体验之间找平衡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抢票业务要同时平衡三件事，AI 服务于这三者的平衡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3630168" cy="26974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31520" y="1737360"/>
            <a:ext cx="731520" cy="7315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MobileScreenButto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920240"/>
            <a:ext cx="365760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5920" y="173736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票量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14884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补齐小程序的出票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43200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小程序内优化付款：如接入微信合单支付</a:t>
            </a:r>
          </a:p>
          <a:p>
            <a:pPr algn="l">
              <a:spcBef>
                <a:spcPts val="800"/>
              </a:spcBef>
            </a:pPr>
            <a:r>
              <a:rPr sz="10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场景转换：召回用户回到 App、引导小程序内信用付授权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1508760"/>
            <a:ext cx="3630168" cy="26974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icon-circle"/>
          <p:cNvSpPr/>
          <p:nvPr/>
        </p:nvSpPr>
        <p:spPr>
          <a:xfrm>
            <a:off x="4553712" y="1737360"/>
            <a:ext cx="731520" cy="7315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FaCoin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6592" y="1920240"/>
            <a:ext cx="365760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68112" y="173736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收益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68112" y="214884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补上收益场景的空白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2743200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在合规前提下，重新梳理各场景里用户比较需要的服务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1583" y="1508760"/>
            <a:ext cx="3630168" cy="26974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icon-circle"/>
          <p:cNvSpPr/>
          <p:nvPr/>
        </p:nvSpPr>
        <p:spPr>
          <a:xfrm>
            <a:off x="8375904" y="1737360"/>
            <a:ext cx="731520" cy="7315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FaFaceSmil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8784" y="1920240"/>
            <a:ext cx="365760" cy="365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290304" y="173736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体验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90304" y="214884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提高收益的前提是稳住体验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5904" y="2743200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正在探索：外呼场景下的策略优化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434840"/>
            <a:ext cx="11274552" cy="164592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icon-circle"/>
          <p:cNvSpPr/>
          <p:nvPr/>
        </p:nvSpPr>
        <p:spPr>
          <a:xfrm>
            <a:off x="777240" y="4846320"/>
            <a:ext cx="822960" cy="822960"/>
          </a:xfrm>
          <a:prstGeom prst="ellipse">
            <a:avLst/>
          </a:prstGeom>
          <a:solidFill>
            <a:srgbClr val="1F6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FaBrai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2980" y="5052059"/>
            <a:ext cx="411480" cy="4114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874519" y="4434840"/>
            <a:ext cx="960120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AI</a:t>
            </a:r>
            <a:r>
              <a:rPr sz="1600" b="1">
                <a:solidFill>
                  <a:srgbClr val="D6E6FF"/>
                </a:solidFill>
                <a:latin typeface="微软雅黑"/>
                <a:ea typeface="微软雅黑"/>
                <a:cs typeface="微软雅黑"/>
              </a:rPr>
              <a:t>　从 AI native 走进业务</a:t>
            </a:r>
          </a:p>
          <a:p>
            <a:pPr algn="l">
              <a:spcBef>
                <a:spcPts val="800"/>
              </a:spcBef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沿抢票链路找到传统方法不好解决的痛点，用我们平台用户最容易接受的方式呈现，提供他们当下最需要的能力，让 AI 服务于票量、收益和体验的平衡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24346</TotalTime>
  <Words>214</Words>
  <Application>Microsoft Office PowerPoint</Application>
  <PresentationFormat>宽屏</PresentationFormat>
  <Paragraphs>33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5" baseType="lpstr">
      <vt:lpstr>等线</vt:lpstr>
      <vt:lpstr>等线 Light</vt:lpstr>
      <vt:lpstr>华文细黑</vt:lpstr>
      <vt:lpstr>微软雅黑</vt:lpstr>
      <vt:lpstr>Arial</vt:lpstr>
      <vt:lpstr>Raleway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lym刘怡鸣</dc:creator>
  <cp:lastModifiedBy>Julia Tian （田颖）</cp:lastModifiedBy>
  <cp:revision>295</cp:revision>
  <dcterms:created xsi:type="dcterms:W3CDTF">2019-08-14T08:41:25Z</dcterms:created>
  <dcterms:modified xsi:type="dcterms:W3CDTF">2022-08-09T06:50:14Z</dcterms:modified>
</cp:coreProperties>
</file>