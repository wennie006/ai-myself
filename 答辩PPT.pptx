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4"/>
          <c:y val="0.22"/>
          <c:w val="0.92"/>
          <c:h val="0.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错分拒答占比</c:v>
                </c:pt>
              </c:strCache>
            </c:strRef>
          </c:tx>
          <c:spPr>
            <a:ln w="25400">
              <a:solidFill>
                <a:srgbClr val="287DFA"/>
              </a:solidFill>
            </a:ln>
          </c:spPr>
          <c:marker>
            <c:size val="5"/>
            <c:spPr>
              <a:solidFill>
                <a:srgbClr val="287DFA"/>
              </a:solidFill>
              <a:ln>
                <a:solidFill>
                  <a:srgbClr val="287DFA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8.7</c:v>
                </c:pt>
                <c:pt idx="1">
                  <c:v>8.8</c:v>
                </c:pt>
                <c:pt idx="2">
                  <c:v>8.9</c:v>
                </c:pt>
                <c:pt idx="3">
                  <c:v>8.10</c:v>
                </c:pt>
                <c:pt idx="4">
                  <c:v>8.11</c:v>
                </c:pt>
                <c:pt idx="5">
                  <c:v>8.12</c:v>
                </c:pt>
                <c:pt idx="6">
                  <c:v>8.13</c:v>
                </c:pt>
                <c:pt idx="7">
                  <c:v>8.14</c:v>
                </c:pt>
                <c:pt idx="8">
                  <c:v>8.15</c:v>
                </c:pt>
                <c:pt idx="9">
                  <c:v>8.16</c:v>
                </c:pt>
                <c:pt idx="10">
                  <c:v>8.17</c:v>
                </c:pt>
                <c:pt idx="11">
                  <c:v>8.18</c:v>
                </c:pt>
                <c:pt idx="12">
                  <c:v>8.19</c:v>
                </c:pt>
                <c:pt idx="13">
                  <c:v>8.20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10.73</c:v>
                </c:pt>
                <c:pt idx="1">
                  <c:v>10.65</c:v>
                </c:pt>
                <c:pt idx="2">
                  <c:v>10.1</c:v>
                </c:pt>
                <c:pt idx="3">
                  <c:v>10.1</c:v>
                </c:pt>
                <c:pt idx="4">
                  <c:v>7.18</c:v>
                </c:pt>
                <c:pt idx="5">
                  <c:v>7.46</c:v>
                </c:pt>
                <c:pt idx="6">
                  <c:v>6.91</c:v>
                </c:pt>
                <c:pt idx="7">
                  <c:v>7.2</c:v>
                </c:pt>
                <c:pt idx="8">
                  <c:v>6.14</c:v>
                </c:pt>
                <c:pt idx="9">
                  <c:v>5.98</c:v>
                </c:pt>
                <c:pt idx="10">
                  <c:v>6.28</c:v>
                </c:pt>
                <c:pt idx="11">
                  <c:v>5.69</c:v>
                </c:pt>
                <c:pt idx="12">
                  <c:v>5.51</c:v>
                </c:pt>
                <c:pt idx="13">
                  <c:v>4.93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D3E2FB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3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</a:t>
            </a:r>
          </a:p>
          <a:p>
            <a:r>
              <a:t>在火车票 Agent 上，我做的更多是模型侧的质量工作，离业务结果比较远；到了抢票业务，我开始直接对票量负责，也逐渐学会从业务指标倒推要做什么。</a:t>
            </a:r>
          </a:p>
          <a:p>
            <a:r>
              <a:t>这也让我对 AI 产品有了更具体的理解。</a:t>
            </a:r>
          </a:p>
          <a:p>
            <a:r>
              <a:t>在小红书时，模型本身就是产品，衡量的是模型表现得好不好。</a:t>
            </a:r>
          </a:p>
          <a:p>
            <a:r>
              <a:t>到了携程，AI 是服务业务的手段：边界由业务来定，形态要贴合用户的习惯，例如火车agent二期把对话改成直接操作列表页后，这种更符合用户原有行为链路的做法使得票量明显提升；最终衡量的是票量这样的业务结果。</a:t>
            </a:r>
          </a:p>
          <a:p>
            <a:r>
              <a:t>所以相比于AInative的产品，在探索AI+业务的时候，我始终应该先四骄傲业务需要它解决什么、用户习惯怎么用。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</a:t>
            </a:r>
          </a:p>
          <a:p>
            <a:r>
              <a:t>前面讲到的几个需求，其实都是在这三者之间找平衡点：既要让更多订单出票，也要让用户在过程中有好的感受，同时守住平台的收益。</a:t>
            </a:r>
          </a:p>
          <a:p>
            <a:r>
              <a:t>接下来我也想围绕这三点继续推进。</a:t>
            </a:r>
          </a:p>
          <a:p>
            <a:r>
              <a:t>票量上，我想重点补齐小程序的支付策略。</a:t>
            </a:r>
          </a:p>
          <a:p>
            <a:r>
              <a:t>小程序受风控影响比较大，没法走代付出票，需要跳到客服对话付款的订单，只能通过支付召回来完成，付款这一步的流失比较多。</a:t>
            </a:r>
          </a:p>
          <a:p>
            <a:r>
              <a:t>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>
            <a:r>
              <a:t>收益上，我希望在合规的前提下，重新梳理各个场景里用户比较需要的服务，在目前线上的流程和环节中，补上一些收益场景的空白。</a:t>
            </a:r>
          </a:p>
          <a:p>
            <a:r>
              <a:t>同时，提高收益的前提是稳住用户体验，我目前正在探索的一个方向，就是外呼场景下的策略优化。</a:t>
            </a:r>
          </a:p>
          <a:p>
            <a:r>
              <a:t>AI 上，我希望从 AI native 的产品走进业务，把 AI 能力真正落到抢票业务的链路里。</a:t>
            </a:r>
          </a:p>
          <a:p>
            <a:r>
              <a:t>我已经在自己的工作中把Ai运用固定为一套较为固定的流程，比如用飞书命令行工具，直接读取文档、群聊记录，行程我个人的工作日报和提醒，进行材料的整理和数据核对，并且用claudecode写了一个skill，能够辅助进行需求验收。</a:t>
            </a:r>
          </a:p>
          <a:p>
            <a:r>
              <a:t>我一直在思考和探索的，还有如何找出那些用传统方法不太好解决的痛点，引入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2.xml"/><Relationship Id="rId9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0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8.png"/><Relationship Id="rId8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926080" cy="4599432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6" name="Picture 5" descr="FaGraduationCap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368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2331720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复旦大学 外国哲学硕士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80720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2770632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10128"/>
            <a:ext cx="237744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42900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实习经历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7" y="3886200"/>
            <a:ext cx="0" cy="1371600"/>
          </a:xfrm>
          <a:prstGeom prst="line">
            <a:avLst/>
          </a:prstGeom>
          <a:ln w="1905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68096" y="3831336"/>
            <a:ext cx="146304" cy="146304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51560" y="376732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产品经理实习生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0416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2025.7 – 2025.9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4297680"/>
            <a:ext cx="22677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大模型“点点”幽默语境评测与优化</a:t>
            </a:r>
          </a:p>
          <a:p>
            <a:pPr algn="l">
              <a:spcBef>
                <a:spcPts val="100"/>
              </a:spcBef>
            </a:pPr>
            <a:r>
              <a:rPr sz="105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可复用 Workflow 搭建</a:t>
            </a:r>
          </a:p>
        </p:txBody>
      </p:sp>
      <p:sp>
        <p:nvSpPr>
          <p:cNvPr id="17" name="Oval 16"/>
          <p:cNvSpPr/>
          <p:nvPr/>
        </p:nvSpPr>
        <p:spPr>
          <a:xfrm>
            <a:off x="768096" y="5148072"/>
            <a:ext cx="146304" cy="14630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51560" y="508406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携程 · 产品经理实习生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35838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2026.4 – 至今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561441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火车票 Agent · 抢票业务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1481328"/>
            <a:ext cx="3412776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63440" y="1481328"/>
            <a:ext cx="341277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23" name="Pentagon 22"/>
          <p:cNvSpPr/>
          <p:nvPr/>
        </p:nvSpPr>
        <p:spPr>
          <a:xfrm>
            <a:off x="7498079" y="1481328"/>
            <a:ext cx="4251960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98079" y="1481328"/>
            <a:ext cx="4251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663440" y="2240280"/>
            <a:ext cx="7040880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096511" y="21214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4月</a:t>
            </a:r>
          </a:p>
        </p:txBody>
      </p:sp>
      <p:sp>
        <p:nvSpPr>
          <p:cNvPr id="27" name="Oval 26"/>
          <p:cNvSpPr/>
          <p:nvPr/>
        </p:nvSpPr>
        <p:spPr>
          <a:xfrm>
            <a:off x="461772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>
            <a:off x="466344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2628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30" name="Oval 29"/>
          <p:cNvSpPr/>
          <p:nvPr/>
        </p:nvSpPr>
        <p:spPr>
          <a:xfrm>
            <a:off x="48006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Connector 30"/>
          <p:cNvCxnSpPr/>
          <p:nvPr/>
        </p:nvCxnSpPr>
        <p:spPr>
          <a:xfrm>
            <a:off x="484632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39496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33" name="Oval 32"/>
          <p:cNvSpPr/>
          <p:nvPr/>
        </p:nvSpPr>
        <p:spPr>
          <a:xfrm>
            <a:off x="56692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571500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26364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36" name="Oval 35"/>
          <p:cNvSpPr/>
          <p:nvPr/>
        </p:nvSpPr>
        <p:spPr>
          <a:xfrm>
            <a:off x="653796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658368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7804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39" name="Oval 38"/>
          <p:cNvSpPr/>
          <p:nvPr/>
        </p:nvSpPr>
        <p:spPr>
          <a:xfrm>
            <a:off x="74523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0" name="Connector 39"/>
          <p:cNvCxnSpPr/>
          <p:nvPr/>
        </p:nvCxnSpPr>
        <p:spPr>
          <a:xfrm>
            <a:off x="7498079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5820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42" name="Oval 41"/>
          <p:cNvSpPr/>
          <p:nvPr/>
        </p:nvSpPr>
        <p:spPr>
          <a:xfrm>
            <a:off x="873251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3" name="Connector 42"/>
          <p:cNvCxnSpPr/>
          <p:nvPr/>
        </p:nvCxnSpPr>
        <p:spPr>
          <a:xfrm>
            <a:off x="877824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3836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45" name="Oval 44"/>
          <p:cNvSpPr/>
          <p:nvPr/>
        </p:nvSpPr>
        <p:spPr>
          <a:xfrm>
            <a:off x="100126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6" name="Connector 45"/>
          <p:cNvCxnSpPr/>
          <p:nvPr/>
        </p:nvCxnSpPr>
        <p:spPr>
          <a:xfrm>
            <a:off x="1005840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15568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11月</a:t>
            </a:r>
          </a:p>
        </p:txBody>
      </p:sp>
      <p:sp>
        <p:nvSpPr>
          <p:cNvPr id="48" name="Oval 47"/>
          <p:cNvSpPr/>
          <p:nvPr/>
        </p:nvSpPr>
        <p:spPr>
          <a:xfrm>
            <a:off x="114300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9" name="Connector 48"/>
          <p:cNvCxnSpPr/>
          <p:nvPr/>
        </p:nvCxnSpPr>
        <p:spPr>
          <a:xfrm>
            <a:off x="1147572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547872" y="2432304"/>
            <a:ext cx="1005840" cy="941831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547872" y="2432304"/>
            <a:ext cx="1005840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663440" y="2432304"/>
            <a:ext cx="795528" cy="265176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663440" y="2432304"/>
            <a:ext cx="79552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46320" y="2770632"/>
            <a:ext cx="1810511" cy="265176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846320" y="2770632"/>
            <a:ext cx="1810511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 1.0 意图识别优化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83680" y="3108960"/>
            <a:ext cx="2235707" cy="265176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583680" y="3108960"/>
            <a:ext cx="2235707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 2.0 拒答治理与数据回收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547872" y="3611880"/>
            <a:ext cx="1005840" cy="2295144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3547872" y="3611880"/>
            <a:ext cx="1005840" cy="2295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026131" y="3611880"/>
            <a:ext cx="1837452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026131" y="3611880"/>
            <a:ext cx="183745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498079" y="3950208"/>
            <a:ext cx="2354579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498079" y="3950208"/>
            <a:ext cx="235457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智能第二程接直付与直付标记修复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04557" y="4288536"/>
            <a:ext cx="2673882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704557" y="4288536"/>
            <a:ext cx="267388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58807" y="4626864"/>
            <a:ext cx="1856920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158807" y="4626864"/>
            <a:ext cx="18569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62288" y="4965192"/>
            <a:ext cx="1490472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162288" y="4965192"/>
            <a:ext cx="1490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332976" y="5303520"/>
            <a:ext cx="1362456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9332976" y="5303520"/>
            <a:ext cx="13624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698480" y="5641848"/>
            <a:ext cx="1014983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0698480" y="5641848"/>
            <a:ext cx="1014983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微信直付 V1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21408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247138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03120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450591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218687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344418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200399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547871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4340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4348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18" name="icon-circle"/>
          <p:cNvSpPr/>
          <p:nvPr/>
        </p:nvSpPr>
        <p:spPr>
          <a:xfrm>
            <a:off x="6291072" y="2121408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247138"/>
            <a:ext cx="251460" cy="2514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76872" y="2103120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76872" y="2450591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22" name="icon-circle"/>
          <p:cNvSpPr/>
          <p:nvPr/>
        </p:nvSpPr>
        <p:spPr>
          <a:xfrm>
            <a:off x="6291072" y="3218687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344418"/>
            <a:ext cx="251460" cy="2514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76872" y="3200399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3547871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434340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19672" y="44348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006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39" y="480060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09160" y="48737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709160" y="487375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3492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39" y="534924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542239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709160" y="542239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4754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9672" y="50292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19672" y="55595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19672" y="555955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552" y="443484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逐日占比　</a:t>
            </a:r>
            <a:r>
              <a:rPr sz="10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8.10 问道调整分发</a:t>
            </a:r>
          </a:p>
        </p:txBody>
      </p:sp>
      <p:graphicFrame>
        <p:nvGraphicFramePr>
          <p:cNvPr id="41" name="错分拒答占比逐日"/>
          <p:cNvGraphicFramePr>
            <a:graphicFrameLocks noGrp="1"/>
          </p:cNvGraphicFramePr>
          <p:nvPr/>
        </p:nvGraphicFramePr>
        <p:xfrm>
          <a:off x="8851392" y="4663440"/>
          <a:ext cx="2788920" cy="13716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8780264" y="582472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8.7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30080" y="582472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8.10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62799" y="582472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8.20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8824" y="4834573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10.7%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71359" y="520174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4.9%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604400" y="4919472"/>
            <a:ext cx="0" cy="868680"/>
          </a:xfrm>
          <a:prstGeom prst="line">
            <a:avLst/>
          </a:prstGeom>
          <a:ln w="12700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912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通知 + 付款后，用户默认一定能出票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出票失败，体验比没有这个功能更差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303520"/>
            <a:ext cx="4023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确认出票统一改为直付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4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抢票：支付宝（非黑名单）放开抢转买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用户的让步，换的是“马上能出票”</a:t>
            </a:r>
          </a:p>
        </p:txBody>
      </p:sp>
      <p:pic>
        <p:nvPicPr>
          <p:cNvPr id="4" name="真实截图-抢必走" descr="qb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</a:t>
            </a:r>
          </a:p>
        </p:txBody>
      </p:sp>
      <p:pic>
        <p:nvPicPr>
          <p:cNvPr id="6" name="真实截图-有票方案" descr="yoy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631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535631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有票方案页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5175504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MagnifyingGlas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203911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抢票中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持续监控余票</a:t>
            </a:r>
          </a:p>
        </p:txBody>
      </p:sp>
      <p:sp>
        <p:nvSpPr>
          <p:cNvPr id="12" name="arrow"/>
          <p:cNvSpPr/>
          <p:nvPr/>
        </p:nvSpPr>
        <p:spPr>
          <a:xfrm>
            <a:off x="6245352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09160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1 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986016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List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039112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65392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推荐可立即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出票的替代方案</a:t>
            </a:r>
          </a:p>
        </p:txBody>
      </p:sp>
      <p:sp>
        <p:nvSpPr>
          <p:cNvPr id="18" name="arrow"/>
          <p:cNvSpPr/>
          <p:nvPr/>
        </p:nvSpPr>
        <p:spPr>
          <a:xfrm>
            <a:off x="8055864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9672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2 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con-circle"/>
          <p:cNvSpPr/>
          <p:nvPr/>
        </p:nvSpPr>
        <p:spPr>
          <a:xfrm>
            <a:off x="8796528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User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688" y="2039112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75904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用户让步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接受替代方案</a:t>
            </a:r>
          </a:p>
        </p:txBody>
      </p:sp>
      <p:sp>
        <p:nvSpPr>
          <p:cNvPr id="24" name="arrow"/>
          <p:cNvSpPr/>
          <p:nvPr/>
        </p:nvSpPr>
        <p:spPr>
          <a:xfrm>
            <a:off x="9866376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30183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3 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0696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10607040" y="1901952"/>
            <a:ext cx="548640" cy="54864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Ti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2039112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86416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0696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第 4 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9296" y="3200400"/>
            <a:ext cx="1024128" cy="274320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369296" y="3200400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需要修改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36118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第 4 步怎么走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406908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05272" y="406908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Rotate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4270248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21792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425196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09160" y="502920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09160" y="502920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05272" y="502920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aCircle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5230368"/>
            <a:ext cx="329184" cy="3291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17920" y="50292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支付宝（非黑名单）订单直接走买票接口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21208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601200" y="5212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上线后增量【待补】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3、思考与未来规划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3429000" cy="3749039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83080"/>
            <a:ext cx="777240" cy="7772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1977390"/>
            <a:ext cx="388620" cy="388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AI native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对模型能力负责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7355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模型本身就是产品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1655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模型表现得好不好</a:t>
            </a:r>
          </a:p>
        </p:txBody>
      </p:sp>
      <p:sp>
        <p:nvSpPr>
          <p:cNvPr id="12" name="arrow"/>
          <p:cNvSpPr/>
          <p:nvPr/>
        </p:nvSpPr>
        <p:spPr>
          <a:xfrm>
            <a:off x="4005072" y="3108960"/>
            <a:ext cx="548640" cy="54864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681728" y="1508760"/>
            <a:ext cx="7050024" cy="3749039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-circle"/>
          <p:cNvSpPr/>
          <p:nvPr/>
        </p:nvSpPr>
        <p:spPr>
          <a:xfrm>
            <a:off x="4956048" y="1783080"/>
            <a:ext cx="777240" cy="7772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358" y="1977390"/>
            <a:ext cx="388620" cy="3886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0448" y="178308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AI × 业务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对业务结果负责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1783080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定位：AI 是服务业务的手段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6048" y="2788920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5093208" y="2898648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Layer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017520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05856" y="2788920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2788920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由业务来定：什么属于火车、什么不属于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6048" y="3593591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-circle"/>
          <p:cNvSpPr/>
          <p:nvPr/>
        </p:nvSpPr>
        <p:spPr>
          <a:xfrm>
            <a:off x="5093208" y="3703320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3822191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705856" y="3593591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3593591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贴合用户习惯：对话 → 列表页，票量明显提升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4398264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-circle"/>
          <p:cNvSpPr/>
          <p:nvPr/>
        </p:nvSpPr>
        <p:spPr>
          <a:xfrm>
            <a:off x="5093208" y="4507992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ChartLi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4626864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705856" y="4398264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4398264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票量这样的业务结果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40680"/>
            <a:ext cx="11274552" cy="77724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FaLight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614416"/>
            <a:ext cx="438912" cy="4389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17320" y="5440680"/>
            <a:ext cx="10149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探索 AI + 业务时，先想清楚：</a:t>
            </a: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业务需要它解决什么？用户习惯怎么用？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抢票业务要同时平衡票量、收益与体验，AI 服务于三者的平衡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868680" y="1965960"/>
            <a:ext cx="3017520" cy="2743200"/>
          </a:xfrm>
          <a:prstGeom prst="triangl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993392" y="139903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416" y="1591056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219456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icon-circle"/>
          <p:cNvSpPr/>
          <p:nvPr/>
        </p:nvSpPr>
        <p:spPr>
          <a:xfrm>
            <a:off x="48463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17136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1" name="icon-circle"/>
          <p:cNvSpPr/>
          <p:nvPr/>
        </p:nvSpPr>
        <p:spPr>
          <a:xfrm>
            <a:off x="350215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4517136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756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14" name="icon-circle"/>
          <p:cNvSpPr/>
          <p:nvPr/>
        </p:nvSpPr>
        <p:spPr>
          <a:xfrm>
            <a:off x="1920240" y="3154680"/>
            <a:ext cx="914400" cy="914400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38328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28800" y="40965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AI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26280" y="1554480"/>
          <a:ext cx="720547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697480"/>
                <a:gridCol w="32735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方向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现状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接下来做什么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小程序受风控影响无法代付，跳客服付款，流失多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小程序内：接入微信合单支付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场景转换：召回 App、引导信用付授权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收益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合规要求下，部分环节存在收益场景空白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梳理用户需要的服务，补齐收益场景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体验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提高收益的前提，是稳住用户体验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外呼场景的策略优化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已固化进个人工作流：飞书 CLI、Claude Code Skill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找到传统方法难解决的痛点，用平台用户最易接受的方式落地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8" name="icon-circle"/>
          <p:cNvSpPr/>
          <p:nvPr/>
        </p:nvSpPr>
        <p:spPr>
          <a:xfrm>
            <a:off x="4636008" y="23682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2464308"/>
            <a:ext cx="192024" cy="192024"/>
          </a:xfrm>
          <a:prstGeom prst="rect">
            <a:avLst/>
          </a:prstGeom>
        </p:spPr>
      </p:pic>
      <p:sp>
        <p:nvSpPr>
          <p:cNvPr id="20" name="icon-circle"/>
          <p:cNvSpPr/>
          <p:nvPr/>
        </p:nvSpPr>
        <p:spPr>
          <a:xfrm>
            <a:off x="4636008" y="33969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20" y="3493008"/>
            <a:ext cx="192024" cy="192024"/>
          </a:xfrm>
          <a:prstGeom prst="rect">
            <a:avLst/>
          </a:prstGeom>
        </p:spPr>
      </p:pic>
      <p:sp>
        <p:nvSpPr>
          <p:cNvPr id="22" name="icon-circle"/>
          <p:cNvSpPr/>
          <p:nvPr/>
        </p:nvSpPr>
        <p:spPr>
          <a:xfrm>
            <a:off x="4636008" y="43113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407408"/>
            <a:ext cx="192024" cy="192024"/>
          </a:xfrm>
          <a:prstGeom prst="rect">
            <a:avLst/>
          </a:prstGeom>
        </p:spPr>
      </p:pic>
      <p:sp>
        <p:nvSpPr>
          <p:cNvPr id="24" name="icon-circle"/>
          <p:cNvSpPr/>
          <p:nvPr/>
        </p:nvSpPr>
        <p:spPr>
          <a:xfrm>
            <a:off x="4636008" y="5317236"/>
            <a:ext cx="384048" cy="384048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020" y="5413248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