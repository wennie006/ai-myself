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</a:t>
            </a:r>
          </a:p>
          <a:p>
            <a:r>
              <a:t>前面讲到的几个需求，其实都是在这三者之间找平衡点：既要让更多订单出票，也要让用户在过程中有好的感受，同时守住平台的收益。</a:t>
            </a:r>
          </a:p>
          <a:p>
            <a:r>
              <a:t>接下来我也想围绕这三点继续推进。</a:t>
            </a:r>
          </a:p>
          <a:p>
            <a:r>
              <a:t>票量上，我想重点补齐小程序的支付策略。</a:t>
            </a:r>
          </a:p>
          <a:p>
            <a:r>
              <a:t>小程序受风控影响比较大，没法走代付出票，需要跳到客服对话付款的订单，只能通过支付召回来完成，付款这一步的流失比较多。</a:t>
            </a:r>
          </a:p>
          <a:p>
            <a:r>
              <a:t>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>
            <a:r>
              <a:t>收益上，我希望在合规的前提下，重新梳理各个场景里用户比较需要的服务，在目前线上的流程和环节中，补上一些收益场景的空白。</a:t>
            </a:r>
          </a:p>
          <a:p>
            <a:r>
              <a:t>同时，提高收益的前提是稳住用户体验，我目前正在探索的一个方向，就是外呼场景下的策略优化。</a:t>
            </a:r>
          </a:p>
          <a:p>
            <a:r>
              <a:t>AI 上，我希望从 AI native 的产品走进业务，把 AI 能力真正落到抢票业务的链路里。</a:t>
            </a:r>
          </a:p>
          <a:p>
            <a:r>
              <a:t>我已经在自己的工作中把Ai运用固定为一套较为固定的流程，比如用飞书命令行工具，直接读取文档、群聊记录，行程我个人的工作日报和提醒，进行材料的整理和数据核对，并且用claudecode写了一个skill，能够辅助进行需求验收。</a:t>
            </a:r>
          </a:p>
          <a:p>
            <a:r>
              <a:t>我一直在思考和探索的，还有如何找出那些用传统方法不太好解决的痛点，引入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926080" cy="4599432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6" name="Picture 5" descr="FaGraduationCap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368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" y="2331720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复旦大学 外国哲学硕士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80720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2770632"/>
            <a:ext cx="20574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10128"/>
            <a:ext cx="237744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42900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实习经历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7" y="3886200"/>
            <a:ext cx="0" cy="1371600"/>
          </a:xfrm>
          <a:prstGeom prst="line">
            <a:avLst/>
          </a:prstGeom>
          <a:ln w="1905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8096" y="3831336"/>
            <a:ext cx="146304" cy="146304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376732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产品经理实习生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04164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2025.7 – 2025.9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4297680"/>
            <a:ext cx="22677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大模型“点点”幽默语境评测与优化</a:t>
            </a:r>
          </a:p>
          <a:p>
            <a:pPr algn="l">
              <a:spcBef>
                <a:spcPts val="100"/>
              </a:spcBef>
            </a:pPr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可复用 Workflow 搭建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" y="5148072"/>
            <a:ext cx="146304" cy="14630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51560" y="508406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携程 · 产品经理实习生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35838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2026.4 – 至今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5614416"/>
            <a:ext cx="2267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火车票 Agent · 抢票业务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1481328"/>
            <a:ext cx="3412776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663440" y="1481328"/>
            <a:ext cx="341277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23" name="Pentagon 22"/>
          <p:cNvSpPr/>
          <p:nvPr/>
        </p:nvSpPr>
        <p:spPr>
          <a:xfrm>
            <a:off x="7498079" y="1481328"/>
            <a:ext cx="4251960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498079" y="1481328"/>
            <a:ext cx="4251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663440" y="2240280"/>
            <a:ext cx="7040880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096511" y="21214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4月</a:t>
            </a:r>
          </a:p>
        </p:txBody>
      </p:sp>
      <p:sp>
        <p:nvSpPr>
          <p:cNvPr id="27" name="Oval 26"/>
          <p:cNvSpPr/>
          <p:nvPr/>
        </p:nvSpPr>
        <p:spPr>
          <a:xfrm>
            <a:off x="461772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466344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2628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30" name="Oval 29"/>
          <p:cNvSpPr/>
          <p:nvPr/>
        </p:nvSpPr>
        <p:spPr>
          <a:xfrm>
            <a:off x="48006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Connector 30"/>
          <p:cNvCxnSpPr/>
          <p:nvPr/>
        </p:nvCxnSpPr>
        <p:spPr>
          <a:xfrm>
            <a:off x="484632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39496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33" name="Oval 32"/>
          <p:cNvSpPr/>
          <p:nvPr/>
        </p:nvSpPr>
        <p:spPr>
          <a:xfrm>
            <a:off x="56692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571500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6364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36" name="Oval 35"/>
          <p:cNvSpPr/>
          <p:nvPr/>
        </p:nvSpPr>
        <p:spPr>
          <a:xfrm>
            <a:off x="653796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658368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17804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39" name="Oval 38"/>
          <p:cNvSpPr/>
          <p:nvPr/>
        </p:nvSpPr>
        <p:spPr>
          <a:xfrm>
            <a:off x="74523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7498079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5820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42" name="Oval 41"/>
          <p:cNvSpPr/>
          <p:nvPr/>
        </p:nvSpPr>
        <p:spPr>
          <a:xfrm>
            <a:off x="873251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3" name="Connector 42"/>
          <p:cNvCxnSpPr/>
          <p:nvPr/>
        </p:nvCxnSpPr>
        <p:spPr>
          <a:xfrm>
            <a:off x="877824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3836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45" name="Oval 44"/>
          <p:cNvSpPr/>
          <p:nvPr/>
        </p:nvSpPr>
        <p:spPr>
          <a:xfrm>
            <a:off x="100126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6" name="Connector 45"/>
          <p:cNvCxnSpPr/>
          <p:nvPr/>
        </p:nvCxnSpPr>
        <p:spPr>
          <a:xfrm>
            <a:off x="1005840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1155680" y="193852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11月</a:t>
            </a:r>
          </a:p>
        </p:txBody>
      </p:sp>
      <p:sp>
        <p:nvSpPr>
          <p:cNvPr id="48" name="Oval 47"/>
          <p:cNvSpPr/>
          <p:nvPr/>
        </p:nvSpPr>
        <p:spPr>
          <a:xfrm>
            <a:off x="114300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9" name="Connector 48"/>
          <p:cNvCxnSpPr/>
          <p:nvPr/>
        </p:nvCxnSpPr>
        <p:spPr>
          <a:xfrm>
            <a:off x="11475720" y="2313432"/>
            <a:ext cx="0" cy="3739896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547872" y="2432304"/>
            <a:ext cx="1005840" cy="941831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547872" y="2432304"/>
            <a:ext cx="1005840" cy="9418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663440" y="2432304"/>
            <a:ext cx="795528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663440" y="2432304"/>
            <a:ext cx="795528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846320" y="2770632"/>
            <a:ext cx="1810511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846320" y="2770632"/>
            <a:ext cx="1810511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 1.0 意图识别优化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83680" y="3108960"/>
            <a:ext cx="2235707" cy="265176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83680" y="3108960"/>
            <a:ext cx="2235707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 2.0 拒答治理与数据回收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547872" y="3611880"/>
            <a:ext cx="1005840" cy="2295144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547872" y="3611880"/>
            <a:ext cx="1005840" cy="22951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026131" y="3611880"/>
            <a:ext cx="183745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7026131" y="3611880"/>
            <a:ext cx="183745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498079" y="3950208"/>
            <a:ext cx="2354579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498079" y="3950208"/>
            <a:ext cx="2354579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智能第二程接直付与直付标记修复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04557" y="4288536"/>
            <a:ext cx="267388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704557" y="4288536"/>
            <a:ext cx="267388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58807" y="4626864"/>
            <a:ext cx="1856920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158807" y="4626864"/>
            <a:ext cx="1856920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62288" y="4965192"/>
            <a:ext cx="1490472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9162288" y="4965192"/>
            <a:ext cx="1490472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332976" y="5303520"/>
            <a:ext cx="1362456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9332976" y="5303520"/>
            <a:ext cx="1362456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698480" y="5641848"/>
            <a:ext cx="1014983" cy="265176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10698480" y="5641848"/>
            <a:ext cx="1014983" cy="265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微信直付 V1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429000" cy="3749039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777240" cy="7772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1977390"/>
            <a:ext cx="388620" cy="3886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2194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对模型能力负责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73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1655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4005072" y="3108960"/>
            <a:ext cx="548640" cy="54864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81728" y="1508760"/>
            <a:ext cx="7050024" cy="3749039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956048" y="1783080"/>
            <a:ext cx="777240" cy="7772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0358" y="1977390"/>
            <a:ext cx="388620" cy="3886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0448" y="178308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4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对业务结果负责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783080"/>
            <a:ext cx="3246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6048" y="2788920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93208" y="2898648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3017520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05856" y="2788920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788920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56048" y="3593591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93208" y="3703320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3822191"/>
            <a:ext cx="237744" cy="23774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705856" y="3593591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593591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398264"/>
            <a:ext cx="6501384" cy="69494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93208" y="4507992"/>
            <a:ext cx="475488" cy="47548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12080" y="4626864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05856" y="4398264"/>
            <a:ext cx="7772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4398264"/>
            <a:ext cx="4983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614416"/>
            <a:ext cx="438912" cy="4389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440680"/>
            <a:ext cx="101498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抢票业务要同时平衡票量、收益与体验，AI 服务于三者的平衡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68680" y="1965960"/>
            <a:ext cx="3017520" cy="2743200"/>
          </a:xfrm>
          <a:prstGeom prst="triangl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993392" y="139903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59105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21945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icon-circle"/>
          <p:cNvSpPr/>
          <p:nvPr/>
        </p:nvSpPr>
        <p:spPr>
          <a:xfrm>
            <a:off x="48463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1713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1" name="icon-circle"/>
          <p:cNvSpPr/>
          <p:nvPr/>
        </p:nvSpPr>
        <p:spPr>
          <a:xfrm>
            <a:off x="350215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4517136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756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14" name="icon-circle"/>
          <p:cNvSpPr/>
          <p:nvPr/>
        </p:nvSpPr>
        <p:spPr>
          <a:xfrm>
            <a:off x="1920240" y="3154680"/>
            <a:ext cx="914400" cy="914400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3832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28800" y="40965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1554480"/>
          <a:ext cx="720547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97480"/>
                <a:gridCol w="3273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现状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接下来做什么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小程序受风控影响无法代付，跳客服付款，流失多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小程序内：接入微信合单支付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场景转换：召回 App、引导信用付授权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收益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合规要求下，部分环节存在收益场景空白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梳理用户需要的服务，补齐收益场景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提高收益的前提，是稳住用户体验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外呼场景的策略优化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已固化进个人工作流：飞书 CLI、Claude Code Skill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找到传统方法难解决的痛点，用平台用户最易接受的方式落地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8" name="icon-circle"/>
          <p:cNvSpPr/>
          <p:nvPr/>
        </p:nvSpPr>
        <p:spPr>
          <a:xfrm>
            <a:off x="4636008" y="23682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464308"/>
            <a:ext cx="192024" cy="192024"/>
          </a:xfrm>
          <a:prstGeom prst="rect">
            <a:avLst/>
          </a:prstGeom>
        </p:spPr>
      </p:pic>
      <p:sp>
        <p:nvSpPr>
          <p:cNvPr id="20" name="icon-circle"/>
          <p:cNvSpPr/>
          <p:nvPr/>
        </p:nvSpPr>
        <p:spPr>
          <a:xfrm>
            <a:off x="4636008" y="33969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3493008"/>
            <a:ext cx="192024" cy="192024"/>
          </a:xfrm>
          <a:prstGeom prst="rect">
            <a:avLst/>
          </a:prstGeom>
        </p:spPr>
      </p:pic>
      <p:sp>
        <p:nvSpPr>
          <p:cNvPr id="22" name="icon-circle"/>
          <p:cNvSpPr/>
          <p:nvPr/>
        </p:nvSpPr>
        <p:spPr>
          <a:xfrm>
            <a:off x="4636008" y="43113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07408"/>
            <a:ext cx="192024" cy="192024"/>
          </a:xfrm>
          <a:prstGeom prst="rect">
            <a:avLst/>
          </a:prstGeom>
        </p:spPr>
      </p:pic>
      <p:sp>
        <p:nvSpPr>
          <p:cNvPr id="24" name="icon-circle"/>
          <p:cNvSpPr/>
          <p:nvPr/>
        </p:nvSpPr>
        <p:spPr>
          <a:xfrm>
            <a:off x="4636008" y="5317236"/>
            <a:ext cx="384048" cy="384048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5413248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