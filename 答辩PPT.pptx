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</a:t>
            </a:r>
          </a:p>
          <a:p>
            <a:r>
              <a:t>在火车票 Agent 上，我做的更多是模型侧的质量工作，离业务结果比较远；到了抢票业务，我开始直接对票量负责，也逐渐学会从业务指标倒推要做什么。</a:t>
            </a:r>
          </a:p>
          <a:p>
            <a:r>
              <a:t>这也让我对 AI 产品有了更具体的理解。</a:t>
            </a:r>
          </a:p>
          <a:p>
            <a:r>
              <a:t>在小红书时，模型本身就是产品，衡量的是模型表现得好不好。</a:t>
            </a:r>
          </a:p>
          <a:p>
            <a:r>
              <a:t>到了携程，AI 是服务业务的手段：边界由业务来定，形态要贴合用户的习惯，例如火车agent二期把对话改成直接操作列表页后，这种更符合用户原有行为链路的做法使得票量明显提升；最终衡量的是票量这样的业务结果。</a:t>
            </a:r>
          </a:p>
          <a:p>
            <a:r>
              <a:t>所以相比于AInative的产品，在探索AI+业务的时候，我始终应该先四骄傲业务需要它解决什么、用户习惯怎么用。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</a:t>
            </a:r>
          </a:p>
          <a:p>
            <a:r>
              <a:t>前面讲到的几个需求，其实都是在这三者之间找平衡点：既要让更多订单出票，也要让用户在过程中有好的感受，同时守住平台的收益。</a:t>
            </a:r>
          </a:p>
          <a:p>
            <a:r>
              <a:t>接下来我也想围绕这三点继续推进。</a:t>
            </a:r>
          </a:p>
          <a:p>
            <a:r>
              <a:t>票量上，我想重点补齐小程序的支付策略。</a:t>
            </a:r>
          </a:p>
          <a:p>
            <a:r>
              <a:t>小程序受风控影响比较大，没法走代付出票，需要跳到客服对话付款的订单，只能通过支付召回来完成，付款这一步的流失比较多。</a:t>
            </a:r>
          </a:p>
          <a:p>
            <a:r>
              <a:t>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>
            <a:r>
              <a:t>收益上，我希望在合规的前提下，重新梳理各个场景里用户比较需要的服务，在目前线上的流程和环节中，补上一些收益场景的空白。</a:t>
            </a:r>
          </a:p>
          <a:p>
            <a:r>
              <a:t>同时，提高收益的前提是稳住用户体验，我目前正在探索的一个方向，就是外呼场景下的策略优化。</a:t>
            </a:r>
          </a:p>
          <a:p>
            <a:r>
              <a:t>AI 上，我希望从 AI native 的产品走进业务，把 AI 能力真正落到抢票业务的链路里。</a:t>
            </a:r>
          </a:p>
          <a:p>
            <a:r>
              <a:t>我已经在自己的工作中把Ai运用固定为一套较为固定的流程，比如用飞书命令行工具，直接读取文档、群聊记录，行程我个人的工作日报和提醒，进行材料的整理和数据核对，并且用claudecode写了一个skill，能够辅助进行需求验收。</a:t>
            </a:r>
          </a:p>
          <a:p>
            <a:r>
              <a:t>我一直在思考和探索的，还有如何找出那些用传统方法不太好解决的痛点，引入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0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514600" cy="457200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2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56432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34015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069080"/>
            <a:ext cx="196596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251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此前经历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大模型“点点”幽默语境下的测评与优化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81328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16" name="Pentagon 15"/>
          <p:cNvSpPr/>
          <p:nvPr/>
        </p:nvSpPr>
        <p:spPr>
          <a:xfrm>
            <a:off x="7680959" y="1481328"/>
            <a:ext cx="3985014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59" y="1481328"/>
            <a:ext cx="398501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2240280"/>
            <a:ext cx="7322574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02335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38912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749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23" name="Oval 22"/>
          <p:cNvSpPr/>
          <p:nvPr/>
        </p:nvSpPr>
        <p:spPr>
          <a:xfrm>
            <a:off x="53949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544067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6363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26" name="Oval 25"/>
          <p:cNvSpPr/>
          <p:nvPr/>
        </p:nvSpPr>
        <p:spPr>
          <a:xfrm>
            <a:off x="658367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662939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19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29" name="Oval 28"/>
          <p:cNvSpPr/>
          <p:nvPr/>
        </p:nvSpPr>
        <p:spPr>
          <a:xfrm>
            <a:off x="763523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768095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325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32" name="Oval 31"/>
          <p:cNvSpPr/>
          <p:nvPr/>
        </p:nvSpPr>
        <p:spPr>
          <a:xfrm>
            <a:off x="90525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909828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49840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1051560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00400" y="2450592"/>
            <a:ext cx="1005840" cy="1060704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0" y="2450592"/>
            <a:ext cx="10058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2450592"/>
            <a:ext cx="1063358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43400" y="2450592"/>
            <a:ext cx="106335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79" y="2834640"/>
            <a:ext cx="14261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40679" y="2834640"/>
            <a:ext cx="14261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一期：意图识别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00770" y="3218688"/>
            <a:ext cx="16488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00770" y="3218688"/>
            <a:ext cx="16488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二期：验收与拒答治理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803904"/>
            <a:ext cx="1005840" cy="2212848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3803904"/>
            <a:ext cx="100584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8219" y="3803904"/>
            <a:ext cx="2054548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38219" y="3803904"/>
            <a:ext cx="205454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59" y="4187952"/>
            <a:ext cx="2409444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80959" y="4187952"/>
            <a:ext cx="2409444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 · 口径修正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59" y="4572000"/>
            <a:ext cx="1897380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09559" y="4572000"/>
            <a:ext cx="18973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956048"/>
            <a:ext cx="2055875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12480" y="4956048"/>
            <a:ext cx="2055875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23476" y="5340096"/>
            <a:ext cx="1490619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3476" y="5340096"/>
            <a:ext cx="149061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12452" y="5724144"/>
            <a:ext cx="1362456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12452" y="5724144"/>
            <a:ext cx="1362456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抢票：支付宝（非黑名单）放开抢转买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用户的让步，换的是“马上能出票”</a:t>
            </a:r>
          </a:p>
        </p:txBody>
      </p:sp>
      <p:pic>
        <p:nvPicPr>
          <p:cNvPr id="4" name="真实截图-抢必走" descr="qb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</a:t>
            </a:r>
          </a:p>
        </p:txBody>
      </p:sp>
      <p:pic>
        <p:nvPicPr>
          <p:cNvPr id="6" name="真实截图-有票方案" descr="yoy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631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535631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有票方案页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5175504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MagnifyingGlas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0391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抢票中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持续监控余票</a:t>
            </a:r>
          </a:p>
        </p:txBody>
      </p:sp>
      <p:sp>
        <p:nvSpPr>
          <p:cNvPr id="12" name="arrow"/>
          <p:cNvSpPr/>
          <p:nvPr/>
        </p:nvSpPr>
        <p:spPr>
          <a:xfrm>
            <a:off x="6245352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09160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986016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List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039112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65392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推荐可立即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出票的替代方案</a:t>
            </a:r>
          </a:p>
        </p:txBody>
      </p:sp>
      <p:sp>
        <p:nvSpPr>
          <p:cNvPr id="18" name="arrow"/>
          <p:cNvSpPr/>
          <p:nvPr/>
        </p:nvSpPr>
        <p:spPr>
          <a:xfrm>
            <a:off x="8055864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9672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-circle"/>
          <p:cNvSpPr/>
          <p:nvPr/>
        </p:nvSpPr>
        <p:spPr>
          <a:xfrm>
            <a:off x="8796528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User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688" y="2039112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75904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用户让步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接受替代方案</a:t>
            </a:r>
          </a:p>
        </p:txBody>
      </p:sp>
      <p:sp>
        <p:nvSpPr>
          <p:cNvPr id="24" name="arrow"/>
          <p:cNvSpPr/>
          <p:nvPr/>
        </p:nvSpPr>
        <p:spPr>
          <a:xfrm>
            <a:off x="9866376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30183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0696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10607040" y="1901952"/>
            <a:ext cx="548640" cy="54864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Ti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203911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86416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0696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9296" y="3200400"/>
            <a:ext cx="1024128" cy="274320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369296" y="3200400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需要修改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36118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第 4 步怎么走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06908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05272" y="406908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Rotate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427024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21792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42519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502920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09160" y="502920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05272" y="502920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aCircle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230368"/>
            <a:ext cx="329184" cy="3291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17920" y="50292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支付宝（非黑名单）订单直接走买票接口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21208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601200" y="5212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上线后增量【待补】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3、思考与未来规划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383280" cy="34747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83080"/>
            <a:ext cx="640080" cy="64008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43100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783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AI native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小红书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3580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模型本身就是产品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8736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模型表现得好不好</a:t>
            </a:r>
          </a:p>
        </p:txBody>
      </p:sp>
      <p:sp>
        <p:nvSpPr>
          <p:cNvPr id="12" name="arrow"/>
          <p:cNvSpPr/>
          <p:nvPr/>
        </p:nvSpPr>
        <p:spPr>
          <a:xfrm>
            <a:off x="3977639" y="3063240"/>
            <a:ext cx="502920" cy="45720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617720" y="1554480"/>
            <a:ext cx="7114032" cy="34747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-circle"/>
          <p:cNvSpPr/>
          <p:nvPr/>
        </p:nvSpPr>
        <p:spPr>
          <a:xfrm>
            <a:off x="4892040" y="178308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059" y="1943100"/>
            <a:ext cx="32004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0" y="17830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AI × 业务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携程 · 火车票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7830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定位：AI 是服务业务的手段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2697480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5029200" y="2798064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4356" y="2903220"/>
            <a:ext cx="210312" cy="2103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77840" y="2697480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697480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由业务来定：什么属于火车、什么不属于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3447288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-circle"/>
          <p:cNvSpPr/>
          <p:nvPr/>
        </p:nvSpPr>
        <p:spPr>
          <a:xfrm>
            <a:off x="5029200" y="3547872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4356" y="3653028"/>
            <a:ext cx="210312" cy="2103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7840" y="3447288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47288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贴合用户习惯：对话 → 直接操作列表页，票量明显提升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4197096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-circle"/>
          <p:cNvSpPr/>
          <p:nvPr/>
        </p:nvSpPr>
        <p:spPr>
          <a:xfrm>
            <a:off x="5029200" y="4297680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ChartLi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4356" y="440283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77840" y="4197096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197096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票量这样的业务结果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57800"/>
            <a:ext cx="11274552" cy="8229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FaLight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58968"/>
            <a:ext cx="420624" cy="4206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17320" y="525780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探索 AI + 业务时，先想清楚：</a:t>
            </a: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业务需要它解决什么？用户习惯怎么用？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抢票业务要同时平衡票量、收益与体验，AI 服务于三者的平衡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68680" y="1965960"/>
            <a:ext cx="3017520" cy="2743200"/>
          </a:xfrm>
          <a:prstGeom prst="triangl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993392" y="139903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416" y="1591056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219456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icon-circle"/>
          <p:cNvSpPr/>
          <p:nvPr/>
        </p:nvSpPr>
        <p:spPr>
          <a:xfrm>
            <a:off x="48463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17136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1" name="icon-circle"/>
          <p:cNvSpPr/>
          <p:nvPr/>
        </p:nvSpPr>
        <p:spPr>
          <a:xfrm>
            <a:off x="350215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4517136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756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14" name="icon-circle"/>
          <p:cNvSpPr/>
          <p:nvPr/>
        </p:nvSpPr>
        <p:spPr>
          <a:xfrm>
            <a:off x="1920240" y="3154680"/>
            <a:ext cx="914400" cy="914400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38328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28800" y="40965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AI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26280" y="1554480"/>
          <a:ext cx="720547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697480"/>
                <a:gridCol w="32735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方向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现状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接下来做什么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小程序受风控影响无法代付，跳客服付款，流失多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小程序内：接入微信合单支付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场景转换：召回 App、引导信用付授权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收益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合规要求下，部分环节存在收益场景空白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梳理用户需要的服务，补齐收益场景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体验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提高收益的前提，是稳住用户体验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外呼场景的策略优化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已固化进个人工作流：飞书 CLI、Claude Code Skill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找到传统方法难解决的痛点，用平台用户最易接受的方式落地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8" name="icon-circle"/>
          <p:cNvSpPr/>
          <p:nvPr/>
        </p:nvSpPr>
        <p:spPr>
          <a:xfrm>
            <a:off x="4636008" y="23682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2464308"/>
            <a:ext cx="192024" cy="192024"/>
          </a:xfrm>
          <a:prstGeom prst="rect">
            <a:avLst/>
          </a:prstGeom>
        </p:spPr>
      </p:pic>
      <p:sp>
        <p:nvSpPr>
          <p:cNvPr id="20" name="icon-circle"/>
          <p:cNvSpPr/>
          <p:nvPr/>
        </p:nvSpPr>
        <p:spPr>
          <a:xfrm>
            <a:off x="4636008" y="33969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20" y="3493008"/>
            <a:ext cx="192024" cy="192024"/>
          </a:xfrm>
          <a:prstGeom prst="rect">
            <a:avLst/>
          </a:prstGeom>
        </p:spPr>
      </p:pic>
      <p:sp>
        <p:nvSpPr>
          <p:cNvPr id="22" name="icon-circle"/>
          <p:cNvSpPr/>
          <p:nvPr/>
        </p:nvSpPr>
        <p:spPr>
          <a:xfrm>
            <a:off x="4636008" y="43113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407408"/>
            <a:ext cx="192024" cy="192024"/>
          </a:xfrm>
          <a:prstGeom prst="rect">
            <a:avLst/>
          </a:prstGeom>
        </p:spPr>
      </p:pic>
      <p:sp>
        <p:nvSpPr>
          <p:cNvPr id="24" name="icon-circle"/>
          <p:cNvSpPr/>
          <p:nvPr/>
        </p:nvSpPr>
        <p:spPr>
          <a:xfrm>
            <a:off x="4636008" y="5317236"/>
            <a:ext cx="384048" cy="384048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5413248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