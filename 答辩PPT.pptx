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回看这几个月，两条主线给我的收获不太一样。在火车票 Agent 上，我做的更多是模型侧的质量工作，离业务结果比较远；到了抢票业务，我开始直接对票量负责，也逐渐学会从业务指标倒推要做什么。</a:t>
            </a:r>
          </a:p>
          <a:p/>
          <a:p>
            <a:r>
              <a:t>这也让我对 AI 产品有了更具体的理解。在小红书时，模型本身就是产品，我的工作是拓展它的能力边界、限制它的行为边界，衡量的是模型表现得好不好。到了携程，AI 是服务业务的手段：边界由业务来定，比如什么问题属于火车、什么不属于；形态要贴合用户的习惯，二期把对话改成直接操作列表页后，票量明显提升；最终衡量的是票量这样的业务结果。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前面讲到的几个需求，其实都是在这三者之间找平衡点：既要让更多订单出票，也要让用户在过程中有好的感受，同时守住平台的收益。接下来我也想围绕这三点继续推进。</a:t>
            </a:r>
          </a:p>
          <a:p/>
          <a:p>
            <a:r>
              <a:t>票量上，我想重点补齐小程序的出票。小程序受风控影响比较大，没法走代付出票，需要跳到客服对话付款的订单，只能通过支付召回来完成，付款这一步的流失比较多。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/>
          <a:p>
            <a:r>
              <a:t>收益上，我希望在合规的前提下，重新梳理各个场景里用户比较需要的服务，在目前线上的流程和环节中，补上一些收益场景的空白。同时，提高收益的前提是稳住用户体验，我目前正在探索的一个方向，就是外呼场景下的策略优化。</a:t>
            </a:r>
          </a:p>
          <a:p/>
          <a:p>
            <a:r>
              <a:t>AI 上，我希望从 AI native 的产品走进业务，把 AI 能力真正落到抢票业务的链路里。我一直在思考和探索的，是如何找出那些用传统方法不太好解决的痛点，引入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/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514600" cy="457200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868680" cy="8686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Gradua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29"/>
            <a:ext cx="434340" cy="434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7432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56432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34015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4069080"/>
            <a:ext cx="196596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2519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此前经历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产品实习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560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大模型“点点”幽默语境下的测评与优化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481328"/>
            <a:ext cx="3977639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43400" y="1481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16" name="Pentagon 15"/>
          <p:cNvSpPr/>
          <p:nvPr/>
        </p:nvSpPr>
        <p:spPr>
          <a:xfrm>
            <a:off x="7680959" y="1481328"/>
            <a:ext cx="3985014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59" y="1481328"/>
            <a:ext cx="398501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43400" y="2240280"/>
            <a:ext cx="7322574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02335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20" name="Oval 19"/>
          <p:cNvSpPr/>
          <p:nvPr/>
        </p:nvSpPr>
        <p:spPr>
          <a:xfrm>
            <a:off x="43434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438912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749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23" name="Oval 22"/>
          <p:cNvSpPr/>
          <p:nvPr/>
        </p:nvSpPr>
        <p:spPr>
          <a:xfrm>
            <a:off x="53949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544067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6363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26" name="Oval 25"/>
          <p:cNvSpPr/>
          <p:nvPr/>
        </p:nvSpPr>
        <p:spPr>
          <a:xfrm>
            <a:off x="658367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662939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19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29" name="Oval 28"/>
          <p:cNvSpPr/>
          <p:nvPr/>
        </p:nvSpPr>
        <p:spPr>
          <a:xfrm>
            <a:off x="763523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768095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325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32" name="Oval 31"/>
          <p:cNvSpPr/>
          <p:nvPr/>
        </p:nvSpPr>
        <p:spPr>
          <a:xfrm>
            <a:off x="90525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909828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49840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35" name="Oval 34"/>
          <p:cNvSpPr/>
          <p:nvPr/>
        </p:nvSpPr>
        <p:spPr>
          <a:xfrm>
            <a:off x="104698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1051560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200400" y="2450592"/>
            <a:ext cx="1005840" cy="1060704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0" y="2450592"/>
            <a:ext cx="10058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2450592"/>
            <a:ext cx="1063358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43400" y="2450592"/>
            <a:ext cx="106335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79" y="2834640"/>
            <a:ext cx="14261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440679" y="2834640"/>
            <a:ext cx="14261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一期：意图识别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00770" y="3218688"/>
            <a:ext cx="16488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900770" y="3218688"/>
            <a:ext cx="16488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二期：验收与拒答治理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803904"/>
            <a:ext cx="1005840" cy="2212848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200400" y="3803904"/>
            <a:ext cx="100584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8219" y="3803904"/>
            <a:ext cx="2054548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138219" y="3803904"/>
            <a:ext cx="205454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80959" y="4187952"/>
            <a:ext cx="2409444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80959" y="4187952"/>
            <a:ext cx="2409444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 · 口径修正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09559" y="4572000"/>
            <a:ext cx="1897380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09559" y="4572000"/>
            <a:ext cx="18973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956048"/>
            <a:ext cx="2055875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412480" y="4956048"/>
            <a:ext cx="2055875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23476" y="5340096"/>
            <a:ext cx="1490619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523476" y="5340096"/>
            <a:ext cx="149061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12452" y="5724144"/>
            <a:ext cx="1362456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712452" y="5724144"/>
            <a:ext cx="1362456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能不能答好，前提是先判断对：该不该由火车来答、属于哪一类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一期 · 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48640" y="2331720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70" y="2457450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22860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8775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提示词有漏洞，把不属于这一类的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48640" y="3429000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70" y="3554730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34440" y="338328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68503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与算法业务标签逐条比对，盯“算法对、Agent 错”的样本，逐类修改关键词和分类标准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262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19472"/>
            <a:ext cx="292607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32120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919472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55321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1508760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45352" y="15087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二期 · 界定什么不属于火车</a:t>
            </a:r>
          </a:p>
        </p:txBody>
      </p:sp>
      <p:sp>
        <p:nvSpPr>
          <p:cNvPr id="22" name="icon-circle"/>
          <p:cNvSpPr/>
          <p:nvPr/>
        </p:nvSpPr>
        <p:spPr>
          <a:xfrm>
            <a:off x="6336792" y="2331720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522" y="2457450"/>
            <a:ext cx="251460" cy="2514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22592" y="22860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258775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约一半问题被拒答，其中一部分根本不属于火车，是被错误分发过来的</a:t>
            </a:r>
          </a:p>
        </p:txBody>
      </p:sp>
      <p:sp>
        <p:nvSpPr>
          <p:cNvPr id="26" name="icon-circle"/>
          <p:cNvSpPr/>
          <p:nvPr/>
        </p:nvSpPr>
        <p:spPr>
          <a:xfrm>
            <a:off x="6336792" y="3429000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522" y="3554730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022592" y="338328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2592" y="3685032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持续推进能力覆盖的同时，优先治理错误分发：人工核查 1,000 多条拒答 query，整理火车问题边界，交给问道调整分发策略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352" y="45262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19672" y="46177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4919472"/>
            <a:ext cx="48463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9672" y="55321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兴奋型需求最怕的不是做不到，而是给了预期又兑现不了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399032" y="169164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052" y="1851660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3957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3035808" y="2148840"/>
            <a:ext cx="292608" cy="292608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383280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4325112" y="169164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5132" y="1851660"/>
            <a:ext cx="320040" cy="320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20440" y="23957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5961888" y="2148840"/>
            <a:ext cx="292608" cy="292608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7251192" y="1691640"/>
            <a:ext cx="640080" cy="64008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1212" y="1851660"/>
            <a:ext cx="320040" cy="3200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46520" y="23957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8887968" y="2148840"/>
            <a:ext cx="292608" cy="292608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235440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10177272" y="169164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37292" y="1851660"/>
            <a:ext cx="320040" cy="3200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72600" y="23957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15468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受风控限制，付款环节容易失败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657600"/>
            <a:ext cx="603504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3886200"/>
            <a:ext cx="36576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34440" y="3886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8912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做到了是惊喜，做不到用户也不会抱怨；但一旦通知了用户、用户也付了款，他就默认一定能出票。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257800"/>
            <a:ext cx="5577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确认出票的付款统一改为直付，付款成功即可出票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812280" y="3657600"/>
          <a:ext cx="274320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9738360" y="3657600"/>
            <a:ext cx="201168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829800" y="416052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4937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用户妥协接受了替代方案，就该用更直接的方式出票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21208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6" name="icon-circle"/>
          <p:cNvSpPr/>
          <p:nvPr/>
        </p:nvSpPr>
        <p:spPr>
          <a:xfrm>
            <a:off x="777240" y="23774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List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51460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760" y="23591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 / YOYO 有票方案页，推荐可立即出票的替代方案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51560" y="2944368"/>
            <a:ext cx="0" cy="329184"/>
          </a:xfrm>
          <a:prstGeom prst="line">
            <a:avLst/>
          </a:prstGeom>
          <a:ln w="19050">
            <a:solidFill>
              <a:srgbClr val="7A8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con-circle"/>
          <p:cNvSpPr/>
          <p:nvPr/>
        </p:nvSpPr>
        <p:spPr>
          <a:xfrm>
            <a:off x="777240" y="32918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User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290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08760" y="32735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用户妥协，接受替代方案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51560" y="3858768"/>
            <a:ext cx="0" cy="329184"/>
          </a:xfrm>
          <a:prstGeom prst="line">
            <a:avLst/>
          </a:prstGeom>
          <a:ln w="19050">
            <a:solidFill>
              <a:srgbClr val="7A8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con-circle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Rota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43400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08760" y="41879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66360"/>
            <a:ext cx="45720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出票概率【待补充】，用户预期落空，体验较差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1554480"/>
            <a:ext cx="5212080" cy="45262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39712" y="17373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21" name="icon-circle"/>
          <p:cNvSpPr/>
          <p:nvPr/>
        </p:nvSpPr>
        <p:spPr>
          <a:xfrm>
            <a:off x="6839712" y="23774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List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72" y="2514600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71231" y="23591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同样推荐可立即出票的替代方案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4032" y="2944368"/>
            <a:ext cx="0" cy="329184"/>
          </a:xfrm>
          <a:prstGeom prst="line">
            <a:avLst/>
          </a:prstGeom>
          <a:ln w="1905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con-circle"/>
          <p:cNvSpPr/>
          <p:nvPr/>
        </p:nvSpPr>
        <p:spPr>
          <a:xfrm>
            <a:off x="6839712" y="32918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User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3429000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71231" y="32735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支付宝（非黑名单）订单，用户接受方案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14032" y="3858768"/>
            <a:ext cx="0" cy="329184"/>
          </a:xfrm>
          <a:prstGeom prst="line">
            <a:avLst/>
          </a:prstGeom>
          <a:ln w="1905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con-circle"/>
          <p:cNvSpPr/>
          <p:nvPr/>
        </p:nvSpPr>
        <p:spPr>
          <a:xfrm>
            <a:off x="6839712" y="42062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6872" y="4343400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571231" y="41879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直接走买票接口出票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39712" y="5166360"/>
            <a:ext cx="45720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976872" y="5166360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上线后的增量【待补】</a:t>
            </a:r>
          </a:p>
        </p:txBody>
      </p:sp>
      <p:sp>
        <p:nvSpPr>
          <p:cNvPr id="34" name="arrow"/>
          <p:cNvSpPr/>
          <p:nvPr/>
        </p:nvSpPr>
        <p:spPr>
          <a:xfrm>
            <a:off x="5806440" y="3520440"/>
            <a:ext cx="594360" cy="45720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68580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24228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模型侧的质量工作，离业务结果比较远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672084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859" y="1824228"/>
            <a:ext cx="32004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80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直接对票量负责，学会从业务指标倒推要做什么</a:t>
            </a:r>
          </a:p>
        </p:txBody>
      </p:sp>
      <p:sp>
        <p:nvSpPr>
          <p:cNvPr id="12" name="arrow"/>
          <p:cNvSpPr/>
          <p:nvPr/>
        </p:nvSpPr>
        <p:spPr>
          <a:xfrm>
            <a:off x="5806440" y="1828800"/>
            <a:ext cx="457200" cy="329184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697480"/>
          <a:ext cx="1127455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  <a:gridCol w="5056632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小红书 · AI native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携程 · AI × 业务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产品是什么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模型本身就是产品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是服务业务的手段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边界由谁定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拓展能力边界、限制行为边界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业务来定：什么属于火车、什么不属于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衡量标准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模型表现得好不好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票量这样的业务结果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457200" y="5440680"/>
            <a:ext cx="11274552" cy="6400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Lightbulb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57784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54406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形态要贴合用户习惯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二期把对话改成直接操作列表页后，票量明显提升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抢票业务要同时平衡三件事，AI 服务于这三者的平衡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MobileScreenButt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补齐小程序的出票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小程序内优化付款：如接入微信合单支付</a:t>
            </a:r>
          </a:p>
          <a:p>
            <a:pPr algn="l">
              <a:spcBef>
                <a:spcPts val="800"/>
              </a:spcBef>
            </a:pPr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场景转换：召回用户回到 App、引导小程序内信用付授权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icon-circle"/>
          <p:cNvSpPr/>
          <p:nvPr/>
        </p:nvSpPr>
        <p:spPr>
          <a:xfrm>
            <a:off x="4553712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1920240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68112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8112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补上收益场景的空白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在合规前提下，重新梳理各场景里用户比较需要的服务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icon-circle"/>
          <p:cNvSpPr/>
          <p:nvPr/>
        </p:nvSpPr>
        <p:spPr>
          <a:xfrm>
            <a:off x="8375904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784" y="1920240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90304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0304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提高收益的前提是稳住体验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正在探索：外呼场景下的策略优化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34840"/>
            <a:ext cx="11274552" cy="1645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777240" y="4846320"/>
            <a:ext cx="822960" cy="822960"/>
          </a:xfrm>
          <a:prstGeom prst="ellipse">
            <a:avLst/>
          </a:prstGeom>
          <a:solidFill>
            <a:srgbClr val="1F6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" y="5052059"/>
            <a:ext cx="411480" cy="411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74519" y="4434840"/>
            <a:ext cx="9601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6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　从 AI native 走进业务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沿抢票链路找到传统方法不好解决的痛点，用我们平台用户最容易接受的方式呈现，提供他们当下最需要的能力，让 AI 服务于票量、收益和体验的平衡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