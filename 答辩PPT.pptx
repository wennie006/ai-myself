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01" r:id="rId2"/>
    <p:sldId id="342" r:id="rId4"/>
    <p:sldId id="351" r:id="rId16"/>
    <p:sldId id="352" r:id="rId17"/>
    <p:sldId id="353" r:id="rId18"/>
    <p:sldId id="354" r:id="rId19"/>
    <p:sldId id="355" r:id="rId20"/>
    <p:sldId id="356" r:id="rId21"/>
    <p:sldId id="357" r:id="rId22"/>
    <p:sldId id="358" r:id="rId23"/>
    <p:sldId id="359" r:id="rId24"/>
    <p:sldId id="334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ym刘怡鸣" initials="l" lastIdx="1" clrIdx="0">
    <p:extLst>
      <p:ext uri="{19B8F6BF-5375-455C-9EA6-DF929625EA0E}">
        <p15:presenceInfo xmlns:p15="http://schemas.microsoft.com/office/powerpoint/2012/main" userId="lym刘怡鸣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A6A6A6"/>
    <a:srgbClr val="28CE83"/>
    <a:srgbClr val="1BB178"/>
    <a:srgbClr val="43BB8D"/>
    <a:srgbClr val="2A69A2"/>
    <a:srgbClr val="D6E1F1"/>
    <a:srgbClr val="9DC3E6"/>
    <a:srgbClr val="70AD47"/>
    <a:srgbClr val="005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91" autoAdjust="0"/>
    <p:restoredTop sz="92279" autoAdjust="0"/>
  </p:normalViewPr>
  <p:slideViewPr>
    <p:cSldViewPr snapToGrid="0">
      <p:cViewPr varScale="1">
        <p:scale>
          <a:sx n="106" d="100"/>
          <a:sy n="106" d="100"/>
        </p:scale>
        <p:origin x="5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智能第二程出票率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出票率</c:v>
                </c:pt>
              </c:strCache>
            </c:strRef>
          </c:tx>
          <c:dPt>
            <c:idx val="0"/>
            <c:spPr>
              <a:solidFill>
                <a:srgbClr val="7A8599"/>
              </a:solidFill>
            </c:spPr>
          </c:dPt>
          <c:dPt>
            <c:idx val="1"/>
            <c:spPr>
              <a:solidFill>
                <a:srgbClr val="287DFA"/>
              </a:solidFill>
            </c:spPr>
          </c:dPt>
          <c:cat>
            <c:strRef>
              <c:f>Sheet1!$A$2:$A$3</c:f>
              <c:strCache>
                <c:ptCount val="2"/>
                <c:pt idx="0">
                  <c:v>改直付前</c:v>
                </c:pt>
                <c:pt idx="1">
                  <c:v>改直付后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72.8</c:v>
                </c:pt>
                <c:pt idx="1">
                  <c:v>94.0</c:v>
                </c:pt>
              </c:numCache>
            </c:numRef>
          </c:val>
        </c:ser>
        <c:dLbls>
          <c:numFmt formatCode="General&quot;%&quot;" sourceLinked="0"/>
          <c:txPr>
            <a:bodyPr/>
            <a:lstStyle/>
            <a:p>
              <a:pPr>
                <a:defRPr sz="1400" b="1">
                  <a:solidFill>
                    <a:srgbClr val="15315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3E2FB"/>
            </a:solidFill>
          </a:ln>
        </c:spPr>
        <c:txPr>
          <a:bodyPr/>
          <a:lstStyle/>
          <a:p>
            <a:pPr>
              <a:defRPr sz="1200">
                <a:solidFill>
                  <a:srgbClr val="3D475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5D70F8-A809-479A-B4E7-7CD7FBA21D45}" type="datetimeFigureOut">
              <a:rPr lang="zh-CN" altLang="en-US" smtClean="0"/>
              <a:t>2022/8/9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A5A24-1C80-4826-8331-A30A6CC3A2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979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4A5A24-1C80-4826-8331-A30A6CC3A2C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053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B9BA1B-5BC9-9444-AC98-CC9DA064656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03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以上就是我的分享，谢谢各位老师。</a:t>
            </a:r>
          </a:p>
        </p:txBody>
      </p:sp>
      <p:sp>
        <p:nvSpPr>
          <p:cNvPr id="104864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B9BA1B-5BC9-9444-AC98-CC9DA064656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012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我是罗蕴文，目前就读于复旦大学外国哲学专业，预计明年六月毕业。大家可能会好奇，为什么会从哲学转来做产品。对我来说，哲学训练留下的最大习惯，就是做事之前先把概念拆清楚、把问题的边界想清楚。</a:t>
            </a:r>
          </a:p>
          <a:p/>
          <a:p>
            <a:r>
              <a:t>在携程实习之前，我在小红书有一段产品实习，主要负责大模型“点点”在幽默语境下的评测和优化。我把这段工作总结为两件事：拓展模型的能力边界，限制模型的行为边界。这段实习让我对 AI 有了初步的理解，也锻炼了我使用各类 AI 平台、本地部署和调试 AI 工具的能力。</a:t>
            </a:r>
          </a:p>
          <a:p/>
          <a:p>
            <a:r>
              <a:t>今年 4 月底，我加入了携程火车票团队，工作围绕 AI 和抢票两条主线展开。这是我对 AI + 业务的一次深度尝试：从 AI native 产品的调优，转向在业务里用 AI 赋能，这是两种差异很大的思维方式。在抢票业务里，我也沉淀了一套可复用的方法论。</a:t>
            </a:r>
          </a:p>
          <a:p/>
          <a:p>
            <a:r>
              <a:t>接下来，我从这两条主线展开，介绍这段时间的工作成果和个人思考。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【过渡页，可一句话带过】先看两条主线的核心结果，接下来分别展开。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我的第一条主线是火车票 Agent，它主要负责承接问道分发过来的火车相关问题，我在这个项目里做的是偏基础的工作。Agent 能不能答好，前提是它能准确判断一个问题该不该由火车来回答、具体属于哪一类。所以我主要负责优化意图识别框架，解决“什么属于火车、什么不属于火车”的问题。</a:t>
            </a:r>
          </a:p>
          <a:p/>
          <a:p>
            <a:r>
              <a:t>一期上线前，我把 Agent 基于意图识别框架的分类结果，和算法按业务标签给出的分类结果逐条比对，核对两边不一致的场景，重点看从业务视角判断、算法对而 Agent 错的情况。这说明 Agent 的提示词有漏洞，才会把不属于这一类的 query 纳进来。我针对这些情况，逐条修改对应类别的关键词和分类标准，一期上线前，意图分类准确率从 94.6% 提升到了 98%。上线后，和问道兜底相比，正文完播率提升了 7.7%，说明回答内容更符合用户的需求。</a:t>
            </a:r>
          </a:p>
          <a:p/>
          <a:p>
            <a:r>
              <a:t>二期主要做拒答治理。降低拒答有两个方向：一是提升模型能力，让它能回答目前还答不了的问题；二是治理分发错误。我们是一个垂直于火车的 Agent，有一部分问题根本不属于火车，是被错误分发过来的，这类问题只要调整问道的分发策略就能解决，见效更快。所以我们在持续推进火车能力覆盖的同时，优先治理分发错误。我人工核查了 1,000 多条拒答 query，整理出火车问题的边界，问道据此调整了对火车 Agent 的分发策略，这类拒答的占比从 10.7% 降到了 4.9%。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我的第二条主线是抢票业务，聚焦的是票量。这里分享两个需求，它们有一个共同点：都是我们主动给了用户“可以出票”的承诺，用户也做出了行动，最后却没能出票。</a:t>
            </a:r>
          </a:p>
          <a:p/>
          <a:p>
            <a:r>
              <a:t>第一个是智能第二程。用户只抢到第一程时，系统会自动帮他生成第二程的捡漏单并完成扣位，再通过外呼或消息通知他确认出票。按 KANO 模型看，这是一个兴奋型需求，做到了是惊喜，做不到用户也不会抱怨；但一旦我们通知了用户、用户也付了款，他就会默认一定能出票。而受风控限制，付款环节容易失败，这个场景的出票率只有 72.8%。我们把这一步的付款统一改为直付，付款成功就能出票，出票率提升到 94%，预估年化票量增加 7 万张。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第二个是放开抢转买。在抢必走和 YOYO 有票方案的页面，我们会向用户推荐可以立即出票的替代方案。但用户妥协接受之后，之前走的仍然是抢票的捡漏扣位，出票概率【待补充】，用户的预期没能被满足，体验较差。所以我们为支付宝（非黑名单）订单放开了抢转买，用户接受方案后直接走买票接口出票。【上线后的增量，待补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两个需求让我意识到两件事。第一，这些订单的用户都已经付了款或做出了妥协，是出票意愿最强的一批人，在这里流失对票量最可惜，修复的回报也最直接。第二，两个问题的根源是一样的：用户的状态已经从“等待”变成了“确认”，后台却还沿用抢票订单原来的链路。所以在每一个让用户做决定的节点，都要检查后面的链路能不能兑现这个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在回收智能第二程的数据时，我发现 BI 取出来的订单几乎都是代付出票。这个需求本身就是把这些订单改成直付，数据却显示代付，说明口径可能有问题。我拿订单后台的直付标记找开发核实，再和 BI、数仓一起排查，原因是数仓判断直付依赖“候补直付”这个业务标记，而捡漏、智能这些后来接入的直付场景没有这个标记，全部被判成了代付。最后改为统一用订单上的直付出票标记来判断，数仓新增了“是否直付出票”字段。口径修正后，智能第二程的效果才能被正确评估，财务的结算报表也随之修正，团队之后可以直接复用。这件事让我意识到，数据口径会随着业务演进而过期：直付场景是陆续接入的，判断逻辑却停在了最早的候补直付。之后业务新增场景时，我会先确认相关的数据标记有没有跟着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回看这几个月，两条主线给我的收获不太一样。在火车票 Agent 上，我做的更多是模型侧的质量工作，离业务结果比较远；到了抢票业务，我开始直接对票量负责，也逐渐学会从业务指标倒推要做什么。</a:t>
            </a:r>
          </a:p>
          <a:p/>
          <a:p>
            <a:r>
              <a:t>这也让我对 AI 产品有了更具体的理解。在小红书时，模型本身就是产品，我的工作是拓展它的能力边界、限制它的行为边界，衡量的是模型表现得好不好。到了携程，AI 是服务业务的手段：边界由业务来定，比如什么问题属于火车、什么不属于；形态要贴合用户的习惯，二期把对话改成直接操作列表页后，票量明显提升；最终衡量的是票量这样的业务结果。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到接下来的规划，我对抢票业务的理解是：它要同时平衡三件事，票量、收益和体验。前面讲到的几个需求，其实都是在这三者之间找平衡点：既要让更多订单出票，也要让用户在过程中有好的感受，同时守住平台的收益。接下来我也想围绕这三点继续推进。</a:t>
            </a:r>
          </a:p>
          <a:p/>
          <a:p>
            <a:r>
              <a:t>票量上，我想重点补齐小程序的出票。小程序受风控影响比较大，没法走代付出票，需要跳到客服对话付款的订单，只能通过支付召回来完成，付款这一步的流失比较多。接下来想从两个方向推进：一是在小程序内部优化付款方式，比如接入微信合单支付，在稳住体验的前提下提升小程序的票量；二是做场景转换，把订单引导到成功率更高的路径上，比如召回用户回到 App 下单，或者引导用户在小程序里完成信用付授权。</a:t>
            </a:r>
          </a:p>
          <a:p/>
          <a:p>
            <a:r>
              <a:t>收益上，我希望在合规的前提下，重新梳理各个场景里用户比较需要的服务，在目前线上的流程和环节中，补上一些收益场景的空白。同时，提高收益的前提是稳住用户体验，我目前正在探索的一个方向，就是外呼场景下的策略优化。</a:t>
            </a:r>
          </a:p>
          <a:p/>
          <a:p>
            <a:r>
              <a:t>AI 上，我希望从 AI native 的产品走进业务，把 AI 能力真正落到抢票业务的链路里。我一直在思考和探索的，是如何找出那些用传统方法不太好解决的痛点，引入 AI，并用我们平台用户最容易接受的方式呈现，提供他们当下最需要的能力，让 AI 真正服务于票量、收益和体验三者之间的平衡。</a:t>
            </a:r>
          </a:p>
          <a:p/>
          <a:p>
            <a:r>
              <a:t>以上就是我的分享，谢谢各位老师。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tiff"/><Relationship Id="rId3" Type="http://schemas.openxmlformats.org/officeDocument/2006/relationships/image" Target="../media/image5.tif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4E85-59A3-4CE8-BD26-2C3F65DE6B0E}" type="datetimeFigureOut">
              <a:rPr lang="zh-CN" altLang="en-US" smtClean="0"/>
              <a:t>2022/8/9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160A2-C136-4A21-8E63-D2C2118CE13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69900" y="555951"/>
            <a:ext cx="2010530" cy="48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64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481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465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9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823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11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034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7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371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6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713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9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23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9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86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041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 cstate="screen">
            <a:alphaModFix amt="40000"/>
          </a:blip>
          <a:stretch>
            <a:fillRect/>
          </a:stretch>
        </p:blipFill>
        <p:spPr>
          <a:xfrm>
            <a:off x="482601" y="6414870"/>
            <a:ext cx="1676880" cy="122400"/>
          </a:xfrm>
          <a:prstGeom prst="rect">
            <a:avLst/>
          </a:prstGeom>
        </p:spPr>
      </p:pic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25551" y="804273"/>
            <a:ext cx="11313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534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943633" y="1565211"/>
            <a:ext cx="8733041" cy="6614959"/>
            <a:chOff x="3943629" y="1765230"/>
            <a:chExt cx="8733041" cy="6614959"/>
          </a:xfrm>
        </p:grpSpPr>
        <p:sp>
          <p:nvSpPr>
            <p:cNvPr id="8" name="Donut 7"/>
            <p:cNvSpPr/>
            <p:nvPr userDrawn="1"/>
          </p:nvSpPr>
          <p:spPr>
            <a:xfrm rot="6104502">
              <a:off x="10513894" y="4182360"/>
              <a:ext cx="1327177" cy="1327177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75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9" name="Donut 8"/>
            <p:cNvSpPr/>
            <p:nvPr userDrawn="1"/>
          </p:nvSpPr>
          <p:spPr>
            <a:xfrm rot="6104502">
              <a:off x="11635129" y="3232034"/>
              <a:ext cx="1041541" cy="104154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31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0" name="Donut 9"/>
            <p:cNvSpPr/>
            <p:nvPr userDrawn="1"/>
          </p:nvSpPr>
          <p:spPr>
            <a:xfrm rot="6104502">
              <a:off x="4885213" y="5754088"/>
              <a:ext cx="2626101" cy="262610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13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1" name="Donut 10"/>
            <p:cNvSpPr/>
            <p:nvPr userDrawn="1"/>
          </p:nvSpPr>
          <p:spPr>
            <a:xfrm rot="6104502">
              <a:off x="9890317" y="6328310"/>
              <a:ext cx="1074806" cy="1074806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2" name="Donut 11"/>
            <p:cNvSpPr/>
            <p:nvPr userDrawn="1"/>
          </p:nvSpPr>
          <p:spPr>
            <a:xfrm rot="6104502">
              <a:off x="11280398" y="2773446"/>
              <a:ext cx="835345" cy="835345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3" name="Oval 12"/>
            <p:cNvSpPr/>
            <p:nvPr userDrawn="1"/>
          </p:nvSpPr>
          <p:spPr>
            <a:xfrm rot="6104502">
              <a:off x="11255956" y="4096902"/>
              <a:ext cx="603202" cy="60320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4" name="Oval 13"/>
            <p:cNvSpPr/>
            <p:nvPr userDrawn="1"/>
          </p:nvSpPr>
          <p:spPr>
            <a:xfrm rot="6104502">
              <a:off x="10988857" y="3411415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5" name="Donut 14"/>
            <p:cNvSpPr/>
            <p:nvPr userDrawn="1"/>
          </p:nvSpPr>
          <p:spPr>
            <a:xfrm rot="20504502">
              <a:off x="8157576" y="4967821"/>
              <a:ext cx="1778283" cy="1778283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42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6" name="Donut 15"/>
            <p:cNvSpPr/>
            <p:nvPr userDrawn="1"/>
          </p:nvSpPr>
          <p:spPr>
            <a:xfrm rot="20504502">
              <a:off x="5967631" y="5517505"/>
              <a:ext cx="1327177" cy="1327177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75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17" name="Oval 16"/>
            <p:cNvSpPr/>
            <p:nvPr userDrawn="1"/>
          </p:nvSpPr>
          <p:spPr>
            <a:xfrm rot="20504502">
              <a:off x="7106071" y="6040256"/>
              <a:ext cx="688490" cy="688490"/>
            </a:xfrm>
            <a:prstGeom prst="ellipse">
              <a:avLst/>
            </a:prstGeom>
            <a:solidFill>
              <a:schemeClr val="bg1">
                <a:lumMod val="95000"/>
                <a:alpha val="39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8" name="Oval 17"/>
            <p:cNvSpPr/>
            <p:nvPr userDrawn="1"/>
          </p:nvSpPr>
          <p:spPr>
            <a:xfrm rot="20504502">
              <a:off x="8828367" y="4697538"/>
              <a:ext cx="536090" cy="536090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19" name="Donut 18"/>
            <p:cNvSpPr/>
            <p:nvPr userDrawn="1"/>
          </p:nvSpPr>
          <p:spPr>
            <a:xfrm rot="20504502">
              <a:off x="7272388" y="5137491"/>
              <a:ext cx="2626101" cy="262610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13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0" name="Donut 19"/>
            <p:cNvSpPr/>
            <p:nvPr userDrawn="1"/>
          </p:nvSpPr>
          <p:spPr>
            <a:xfrm rot="20504502">
              <a:off x="9359434" y="5596700"/>
              <a:ext cx="1074806" cy="1074806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1" name="Donut 20"/>
            <p:cNvSpPr/>
            <p:nvPr userDrawn="1"/>
          </p:nvSpPr>
          <p:spPr>
            <a:xfrm rot="20504502">
              <a:off x="9482547" y="4659556"/>
              <a:ext cx="835345" cy="835345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2" name="Donut 21"/>
            <p:cNvSpPr/>
            <p:nvPr userDrawn="1"/>
          </p:nvSpPr>
          <p:spPr>
            <a:xfrm rot="20504502">
              <a:off x="11146308" y="5868777"/>
              <a:ext cx="1074806" cy="1074806"/>
            </a:xfrm>
            <a:prstGeom prst="donut">
              <a:avLst>
                <a:gd name="adj" fmla="val 24020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3" name="Oval 22"/>
            <p:cNvSpPr/>
            <p:nvPr userDrawn="1"/>
          </p:nvSpPr>
          <p:spPr>
            <a:xfrm rot="20504502">
              <a:off x="7238767" y="5017013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4" name="Oval 23"/>
            <p:cNvSpPr/>
            <p:nvPr userDrawn="1"/>
          </p:nvSpPr>
          <p:spPr>
            <a:xfrm rot="20504502">
              <a:off x="3943629" y="6130310"/>
              <a:ext cx="603202" cy="60320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5" name="Oval 24"/>
            <p:cNvSpPr/>
            <p:nvPr userDrawn="1"/>
          </p:nvSpPr>
          <p:spPr>
            <a:xfrm rot="20504502">
              <a:off x="6479821" y="5990866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6" name="Oval 25"/>
            <p:cNvSpPr/>
            <p:nvPr userDrawn="1"/>
          </p:nvSpPr>
          <p:spPr>
            <a:xfrm rot="20504502">
              <a:off x="9327833" y="4273371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27" name="Donut 26"/>
            <p:cNvSpPr/>
            <p:nvPr userDrawn="1"/>
          </p:nvSpPr>
          <p:spPr>
            <a:xfrm rot="10604502">
              <a:off x="10421842" y="5527974"/>
              <a:ext cx="1327177" cy="1327177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75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8" name="Donut 27"/>
            <p:cNvSpPr/>
            <p:nvPr userDrawn="1"/>
          </p:nvSpPr>
          <p:spPr>
            <a:xfrm rot="10604502">
              <a:off x="11502978" y="1935344"/>
              <a:ext cx="1041541" cy="104154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31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29" name="Oval 28"/>
            <p:cNvSpPr/>
            <p:nvPr userDrawn="1"/>
          </p:nvSpPr>
          <p:spPr>
            <a:xfrm rot="10604502">
              <a:off x="11886320" y="1765230"/>
              <a:ext cx="536090" cy="536090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30" name="Donut 29"/>
            <p:cNvSpPr/>
            <p:nvPr userDrawn="1"/>
          </p:nvSpPr>
          <p:spPr>
            <a:xfrm rot="10604502">
              <a:off x="9874667" y="3536070"/>
              <a:ext cx="2626101" cy="2626101"/>
            </a:xfrm>
            <a:prstGeom prst="donut">
              <a:avLst>
                <a:gd name="adj" fmla="val 15926"/>
              </a:avLst>
            </a:prstGeom>
            <a:solidFill>
              <a:schemeClr val="bg1">
                <a:lumMod val="95000"/>
                <a:alpha val="13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31" name="Donut 30"/>
            <p:cNvSpPr/>
            <p:nvPr userDrawn="1"/>
          </p:nvSpPr>
          <p:spPr>
            <a:xfrm rot="10604502">
              <a:off x="10759809" y="3214182"/>
              <a:ext cx="835345" cy="835345"/>
            </a:xfrm>
            <a:prstGeom prst="donut">
              <a:avLst>
                <a:gd name="adj" fmla="val 11712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32" name="Donut 31"/>
            <p:cNvSpPr/>
            <p:nvPr userDrawn="1"/>
          </p:nvSpPr>
          <p:spPr>
            <a:xfrm rot="10604502">
              <a:off x="4248675" y="6231127"/>
              <a:ext cx="1074806" cy="1074806"/>
            </a:xfrm>
            <a:prstGeom prst="donut">
              <a:avLst>
                <a:gd name="adj" fmla="val 24020"/>
              </a:avLst>
            </a:prstGeom>
            <a:solidFill>
              <a:schemeClr val="bg1">
                <a:lumMod val="95000"/>
                <a:alpha val="54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>
                <a:solidFill>
                  <a:schemeClr val="tx1"/>
                </a:solidFill>
              </a:endParaRPr>
            </a:p>
          </p:txBody>
        </p:sp>
        <p:sp>
          <p:nvSpPr>
            <p:cNvPr id="33" name="Oval 32"/>
            <p:cNvSpPr/>
            <p:nvPr userDrawn="1"/>
          </p:nvSpPr>
          <p:spPr>
            <a:xfrm rot="10604502">
              <a:off x="11516462" y="3055947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34" name="Oval 33"/>
            <p:cNvSpPr/>
            <p:nvPr userDrawn="1"/>
          </p:nvSpPr>
          <p:spPr>
            <a:xfrm rot="10604502">
              <a:off x="8086333" y="6082900"/>
              <a:ext cx="603202" cy="60320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  <p:sp>
          <p:nvSpPr>
            <p:cNvPr id="35" name="Oval 34"/>
            <p:cNvSpPr/>
            <p:nvPr userDrawn="1"/>
          </p:nvSpPr>
          <p:spPr>
            <a:xfrm rot="10604502">
              <a:off x="4659440" y="5686338"/>
              <a:ext cx="312832" cy="312832"/>
            </a:xfrm>
            <a:prstGeom prst="ellipse">
              <a:avLst/>
            </a:prstGeom>
            <a:solidFill>
              <a:schemeClr val="bg1">
                <a:lumMod val="95000"/>
                <a:alpha val="47000"/>
              </a:schemeClr>
            </a:solidFill>
            <a:ln>
              <a:solidFill>
                <a:schemeClr val="bg1">
                  <a:alpha val="7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800"/>
            </a:p>
          </p:txBody>
        </p:sp>
      </p:grpSp>
      <p:grpSp>
        <p:nvGrpSpPr>
          <p:cNvPr id="42" name="Group 41"/>
          <p:cNvGrpSpPr/>
          <p:nvPr userDrawn="1"/>
        </p:nvGrpSpPr>
        <p:grpSpPr>
          <a:xfrm>
            <a:off x="276313" y="6502736"/>
            <a:ext cx="731511" cy="276999"/>
            <a:chOff x="404977" y="6383122"/>
            <a:chExt cx="731513" cy="276999"/>
          </a:xfrm>
        </p:grpSpPr>
        <p:sp>
          <p:nvSpPr>
            <p:cNvPr id="43" name="TextBox 42"/>
            <p:cNvSpPr txBox="1"/>
            <p:nvPr/>
          </p:nvSpPr>
          <p:spPr>
            <a:xfrm>
              <a:off x="512343" y="6383122"/>
              <a:ext cx="6241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200" dirty="0" smtClean="0">
                  <a:solidFill>
                    <a:schemeClr val="bg1">
                      <a:lumMod val="50000"/>
                    </a:schemeClr>
                  </a:solidFill>
                  <a:latin typeface="Raleway" panose="020B0003030101060003" pitchFamily="34" charset="0"/>
                </a:rPr>
                <a:t>MOST</a:t>
              </a:r>
              <a:endParaRPr lang="id-ID" sz="1200" dirty="0">
                <a:solidFill>
                  <a:schemeClr val="bg1">
                    <a:lumMod val="50000"/>
                  </a:schemeClr>
                </a:solidFill>
                <a:latin typeface="Raleway" panose="020B0003030101060003" pitchFamily="34" charset="0"/>
              </a:endParaRPr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404977" y="6417778"/>
              <a:ext cx="181253" cy="189215"/>
              <a:chOff x="4573232" y="2256703"/>
              <a:chExt cx="838558" cy="875393"/>
            </a:xfrm>
          </p:grpSpPr>
          <p:sp>
            <p:nvSpPr>
              <p:cNvPr id="45" name="Oval 44"/>
              <p:cNvSpPr/>
              <p:nvPr/>
            </p:nvSpPr>
            <p:spPr>
              <a:xfrm>
                <a:off x="4573232" y="2542000"/>
                <a:ext cx="590096" cy="590096"/>
              </a:xfrm>
              <a:prstGeom prst="ellipse">
                <a:avLst/>
              </a:prstGeom>
              <a:solidFill>
                <a:srgbClr val="358FCB">
                  <a:alpha val="70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500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4821694" y="2542000"/>
                <a:ext cx="590096" cy="590096"/>
              </a:xfrm>
              <a:prstGeom prst="ellipse">
                <a:avLst/>
              </a:prstGeom>
              <a:solidFill>
                <a:srgbClr val="358FCB">
                  <a:alpha val="70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500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4697463" y="2256703"/>
                <a:ext cx="590096" cy="590096"/>
              </a:xfrm>
              <a:prstGeom prst="ellipse">
                <a:avLst/>
              </a:prstGeom>
              <a:solidFill>
                <a:srgbClr val="358FCB">
                  <a:alpha val="70000"/>
                </a:srgb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500"/>
              </a:p>
            </p:txBody>
          </p:sp>
        </p:grpSp>
      </p:grpSp>
      <p:grpSp>
        <p:nvGrpSpPr>
          <p:cNvPr id="55" name="Group 54"/>
          <p:cNvGrpSpPr/>
          <p:nvPr userDrawn="1"/>
        </p:nvGrpSpPr>
        <p:grpSpPr>
          <a:xfrm>
            <a:off x="11807070" y="6559227"/>
            <a:ext cx="214313" cy="220663"/>
            <a:chOff x="7015550" y="2614882"/>
            <a:chExt cx="214313" cy="220663"/>
          </a:xfrm>
          <a:solidFill>
            <a:srgbClr val="358FCB"/>
          </a:solidFill>
        </p:grpSpPr>
        <p:sp>
          <p:nvSpPr>
            <p:cNvPr id="49" name="Freeform 5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7015550" y="2614882"/>
              <a:ext cx="214313" cy="220663"/>
            </a:xfrm>
            <a:custGeom>
              <a:avLst/>
              <a:gdLst>
                <a:gd name="T0" fmla="*/ 28 w 56"/>
                <a:gd name="T1" fmla="*/ 4 h 56"/>
                <a:gd name="T2" fmla="*/ 52 w 56"/>
                <a:gd name="T3" fmla="*/ 28 h 56"/>
                <a:gd name="T4" fmla="*/ 28 w 56"/>
                <a:gd name="T5" fmla="*/ 52 h 56"/>
                <a:gd name="T6" fmla="*/ 4 w 56"/>
                <a:gd name="T7" fmla="*/ 28 h 56"/>
                <a:gd name="T8" fmla="*/ 28 w 56"/>
                <a:gd name="T9" fmla="*/ 4 h 56"/>
                <a:gd name="T10" fmla="*/ 28 w 56"/>
                <a:gd name="T11" fmla="*/ 0 h 56"/>
                <a:gd name="T12" fmla="*/ 0 w 56"/>
                <a:gd name="T13" fmla="*/ 28 h 56"/>
                <a:gd name="T14" fmla="*/ 28 w 56"/>
                <a:gd name="T15" fmla="*/ 56 h 56"/>
                <a:gd name="T16" fmla="*/ 56 w 56"/>
                <a:gd name="T17" fmla="*/ 28 h 56"/>
                <a:gd name="T18" fmla="*/ 28 w 56"/>
                <a:gd name="T1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4"/>
                  </a:moveTo>
                  <a:cubicBezTo>
                    <a:pt x="41" y="4"/>
                    <a:pt x="52" y="15"/>
                    <a:pt x="52" y="28"/>
                  </a:cubicBezTo>
                  <a:cubicBezTo>
                    <a:pt x="52" y="41"/>
                    <a:pt x="41" y="52"/>
                    <a:pt x="28" y="52"/>
                  </a:cubicBezTo>
                  <a:cubicBezTo>
                    <a:pt x="15" y="52"/>
                    <a:pt x="4" y="41"/>
                    <a:pt x="4" y="28"/>
                  </a:cubicBezTo>
                  <a:cubicBezTo>
                    <a:pt x="4" y="15"/>
                    <a:pt x="15" y="4"/>
                    <a:pt x="28" y="4"/>
                  </a:cubicBezTo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3" y="56"/>
                    <a:pt x="56" y="43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  <p:sp>
          <p:nvSpPr>
            <p:cNvPr id="50" name="Freeform 6">
              <a:hlinkClick r:id="" action="ppaction://hlinkshowjump?jump=nextslide"/>
            </p:cNvPr>
            <p:cNvSpPr/>
            <p:nvPr userDrawn="1"/>
          </p:nvSpPr>
          <p:spPr bwMode="auto">
            <a:xfrm>
              <a:off x="7091750" y="2657745"/>
              <a:ext cx="76200" cy="131763"/>
            </a:xfrm>
            <a:custGeom>
              <a:avLst/>
              <a:gdLst>
                <a:gd name="T0" fmla="*/ 0 w 48"/>
                <a:gd name="T1" fmla="*/ 70 h 83"/>
                <a:gd name="T2" fmla="*/ 34 w 48"/>
                <a:gd name="T3" fmla="*/ 40 h 83"/>
                <a:gd name="T4" fmla="*/ 0 w 48"/>
                <a:gd name="T5" fmla="*/ 13 h 83"/>
                <a:gd name="T6" fmla="*/ 0 w 48"/>
                <a:gd name="T7" fmla="*/ 0 h 83"/>
                <a:gd name="T8" fmla="*/ 48 w 48"/>
                <a:gd name="T9" fmla="*/ 40 h 83"/>
                <a:gd name="T10" fmla="*/ 0 w 48"/>
                <a:gd name="T11" fmla="*/ 83 h 83"/>
                <a:gd name="T12" fmla="*/ 0 w 48"/>
                <a:gd name="T13" fmla="*/ 7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83">
                  <a:moveTo>
                    <a:pt x="0" y="70"/>
                  </a:moveTo>
                  <a:lnTo>
                    <a:pt x="34" y="40"/>
                  </a:lnTo>
                  <a:lnTo>
                    <a:pt x="0" y="13"/>
                  </a:lnTo>
                  <a:lnTo>
                    <a:pt x="0" y="0"/>
                  </a:lnTo>
                  <a:lnTo>
                    <a:pt x="48" y="40"/>
                  </a:lnTo>
                  <a:lnTo>
                    <a:pt x="0" y="83"/>
                  </a:lnTo>
                  <a:lnTo>
                    <a:pt x="0" y="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</p:grpSp>
      <p:grpSp>
        <p:nvGrpSpPr>
          <p:cNvPr id="56" name="Group 55"/>
          <p:cNvGrpSpPr/>
          <p:nvPr userDrawn="1"/>
        </p:nvGrpSpPr>
        <p:grpSpPr>
          <a:xfrm>
            <a:off x="11370388" y="6559227"/>
            <a:ext cx="214313" cy="220663"/>
            <a:chOff x="7395183" y="3832633"/>
            <a:chExt cx="214313" cy="220663"/>
          </a:xfrm>
          <a:solidFill>
            <a:srgbClr val="358FCB"/>
          </a:solidFill>
        </p:grpSpPr>
        <p:sp>
          <p:nvSpPr>
            <p:cNvPr id="51" name="Freeform 7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7395183" y="3832633"/>
              <a:ext cx="214313" cy="220663"/>
            </a:xfrm>
            <a:custGeom>
              <a:avLst/>
              <a:gdLst>
                <a:gd name="T0" fmla="*/ 28 w 56"/>
                <a:gd name="T1" fmla="*/ 4 h 56"/>
                <a:gd name="T2" fmla="*/ 52 w 56"/>
                <a:gd name="T3" fmla="*/ 28 h 56"/>
                <a:gd name="T4" fmla="*/ 28 w 56"/>
                <a:gd name="T5" fmla="*/ 52 h 56"/>
                <a:gd name="T6" fmla="*/ 4 w 56"/>
                <a:gd name="T7" fmla="*/ 28 h 56"/>
                <a:gd name="T8" fmla="*/ 28 w 56"/>
                <a:gd name="T9" fmla="*/ 4 h 56"/>
                <a:gd name="T10" fmla="*/ 28 w 56"/>
                <a:gd name="T11" fmla="*/ 0 h 56"/>
                <a:gd name="T12" fmla="*/ 0 w 56"/>
                <a:gd name="T13" fmla="*/ 28 h 56"/>
                <a:gd name="T14" fmla="*/ 28 w 56"/>
                <a:gd name="T15" fmla="*/ 56 h 56"/>
                <a:gd name="T16" fmla="*/ 56 w 56"/>
                <a:gd name="T17" fmla="*/ 28 h 56"/>
                <a:gd name="T18" fmla="*/ 28 w 56"/>
                <a:gd name="T1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" h="56">
                  <a:moveTo>
                    <a:pt x="28" y="4"/>
                  </a:moveTo>
                  <a:cubicBezTo>
                    <a:pt x="41" y="4"/>
                    <a:pt x="52" y="15"/>
                    <a:pt x="52" y="28"/>
                  </a:cubicBezTo>
                  <a:cubicBezTo>
                    <a:pt x="52" y="41"/>
                    <a:pt x="41" y="52"/>
                    <a:pt x="28" y="52"/>
                  </a:cubicBezTo>
                  <a:cubicBezTo>
                    <a:pt x="15" y="52"/>
                    <a:pt x="4" y="41"/>
                    <a:pt x="4" y="28"/>
                  </a:cubicBezTo>
                  <a:cubicBezTo>
                    <a:pt x="4" y="15"/>
                    <a:pt x="15" y="4"/>
                    <a:pt x="28" y="4"/>
                  </a:cubicBezTo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3" y="56"/>
                    <a:pt x="56" y="43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  <p:sp>
          <p:nvSpPr>
            <p:cNvPr id="52" name="Freeform 8">
              <a:hlinkClick r:id="" action="ppaction://hlinkshowjump?jump=previousslide"/>
            </p:cNvPr>
            <p:cNvSpPr/>
            <p:nvPr userDrawn="1"/>
          </p:nvSpPr>
          <p:spPr bwMode="auto">
            <a:xfrm>
              <a:off x="7457096" y="3880258"/>
              <a:ext cx="76200" cy="130175"/>
            </a:xfrm>
            <a:custGeom>
              <a:avLst/>
              <a:gdLst>
                <a:gd name="T0" fmla="*/ 48 w 48"/>
                <a:gd name="T1" fmla="*/ 12 h 82"/>
                <a:gd name="T2" fmla="*/ 14 w 48"/>
                <a:gd name="T3" fmla="*/ 42 h 82"/>
                <a:gd name="T4" fmla="*/ 48 w 48"/>
                <a:gd name="T5" fmla="*/ 70 h 82"/>
                <a:gd name="T6" fmla="*/ 48 w 48"/>
                <a:gd name="T7" fmla="*/ 82 h 82"/>
                <a:gd name="T8" fmla="*/ 0 w 48"/>
                <a:gd name="T9" fmla="*/ 42 h 82"/>
                <a:gd name="T10" fmla="*/ 48 w 48"/>
                <a:gd name="T11" fmla="*/ 0 h 82"/>
                <a:gd name="T12" fmla="*/ 48 w 48"/>
                <a:gd name="T13" fmla="*/ 1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82">
                  <a:moveTo>
                    <a:pt x="48" y="12"/>
                  </a:moveTo>
                  <a:lnTo>
                    <a:pt x="14" y="42"/>
                  </a:lnTo>
                  <a:lnTo>
                    <a:pt x="48" y="70"/>
                  </a:lnTo>
                  <a:lnTo>
                    <a:pt x="48" y="82"/>
                  </a:lnTo>
                  <a:lnTo>
                    <a:pt x="0" y="42"/>
                  </a:lnTo>
                  <a:lnTo>
                    <a:pt x="48" y="0"/>
                  </a:lnTo>
                  <a:lnTo>
                    <a:pt x="48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sz="1800"/>
            </a:p>
          </p:txBody>
        </p:sp>
      </p:grpSp>
      <p:sp>
        <p:nvSpPr>
          <p:cNvPr id="57" name="Rectangle 56"/>
          <p:cNvSpPr/>
          <p:nvPr userDrawn="1"/>
        </p:nvSpPr>
        <p:spPr>
          <a:xfrm>
            <a:off x="3102781" y="6383339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© 2020 </a:t>
            </a:r>
            <a:r>
              <a:rPr lang="en-US" sz="9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Companyname</a:t>
            </a:r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id-ID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PowerPoint</a:t>
            </a:r>
            <a:r>
              <a:rPr lang="id-ID" sz="900" baseline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Business </a:t>
            </a:r>
            <a:r>
              <a:rPr lang="en-US" sz="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Theme. All Rights Reserved. </a:t>
            </a:r>
            <a:endParaRPr lang="id-ID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36" name="Group 35"/>
          <p:cNvGrpSpPr/>
          <p:nvPr userDrawn="1"/>
        </p:nvGrpSpPr>
        <p:grpSpPr>
          <a:xfrm rot="16200000">
            <a:off x="504088" y="768356"/>
            <a:ext cx="383327" cy="67506"/>
            <a:chOff x="2013527" y="1616364"/>
            <a:chExt cx="576928" cy="101600"/>
          </a:xfrm>
        </p:grpSpPr>
        <p:sp>
          <p:nvSpPr>
            <p:cNvPr id="6" name="Oval 5"/>
            <p:cNvSpPr/>
            <p:nvPr userDrawn="1"/>
          </p:nvSpPr>
          <p:spPr>
            <a:xfrm>
              <a:off x="2013527" y="1616364"/>
              <a:ext cx="101600" cy="101600"/>
            </a:xfrm>
            <a:prstGeom prst="ellipse">
              <a:avLst/>
            </a:prstGeom>
            <a:solidFill>
              <a:srgbClr val="358FCB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53" name="Oval 52"/>
            <p:cNvSpPr/>
            <p:nvPr userDrawn="1"/>
          </p:nvSpPr>
          <p:spPr>
            <a:xfrm>
              <a:off x="2132359" y="1616364"/>
              <a:ext cx="101600" cy="101600"/>
            </a:xfrm>
            <a:prstGeom prst="ellipse">
              <a:avLst/>
            </a:prstGeom>
            <a:solidFill>
              <a:srgbClr val="358FCB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1" name="Oval 60"/>
            <p:cNvSpPr/>
            <p:nvPr userDrawn="1"/>
          </p:nvSpPr>
          <p:spPr>
            <a:xfrm>
              <a:off x="2251191" y="1616364"/>
              <a:ext cx="101600" cy="101600"/>
            </a:xfrm>
            <a:prstGeom prst="ellipse">
              <a:avLst/>
            </a:prstGeom>
            <a:solidFill>
              <a:srgbClr val="358FCB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2" name="Oval 61"/>
            <p:cNvSpPr/>
            <p:nvPr userDrawn="1"/>
          </p:nvSpPr>
          <p:spPr>
            <a:xfrm>
              <a:off x="2370023" y="1616364"/>
              <a:ext cx="101600" cy="101600"/>
            </a:xfrm>
            <a:prstGeom prst="ellipse">
              <a:avLst/>
            </a:prstGeom>
            <a:solidFill>
              <a:srgbClr val="358FCB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63" name="Oval 62"/>
            <p:cNvSpPr/>
            <p:nvPr userDrawn="1"/>
          </p:nvSpPr>
          <p:spPr>
            <a:xfrm>
              <a:off x="2488855" y="1616364"/>
              <a:ext cx="101600" cy="101600"/>
            </a:xfrm>
            <a:prstGeom prst="ellipse">
              <a:avLst/>
            </a:prstGeom>
            <a:solidFill>
              <a:srgbClr val="358F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sp>
        <p:nvSpPr>
          <p:cNvPr id="54" name="Oval 53"/>
          <p:cNvSpPr/>
          <p:nvPr userDrawn="1"/>
        </p:nvSpPr>
        <p:spPr>
          <a:xfrm>
            <a:off x="11672882" y="-148007"/>
            <a:ext cx="655570" cy="655569"/>
          </a:xfrm>
          <a:prstGeom prst="ellipse">
            <a:avLst/>
          </a:prstGeom>
          <a:solidFill>
            <a:srgbClr val="358FCB"/>
          </a:solidFill>
          <a:ln w="698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44B5E3D8-B559-49FC-84E7-900B409E63B2}" type="slidenum">
              <a:rPr lang="id-ID" sz="1400" b="1" smtClean="0">
                <a:solidFill>
                  <a:schemeClr val="bg1"/>
                </a:solidFill>
              </a:rPr>
              <a:t>‹#›</a:t>
            </a:fld>
            <a:endParaRPr lang="id-ID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72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7" grpId="1"/>
      <p:bldP spid="57" grpId="2"/>
      <p:bldP spid="57" grpId="3"/>
      <p:bldP spid="57" grpId="4"/>
      <p:bldP spid="57" grpId="5"/>
      <p:bldP spid="57" grpId="6"/>
      <p:bldP spid="57" grpId="7"/>
      <p:bldP spid="57" grpId="8"/>
      <p:bldP spid="57" grpId="9"/>
      <p:bldP spid="57" grpId="10"/>
      <p:bldP spid="57" grpId="11"/>
      <p:bldP spid="57" grpId="12"/>
      <p:bldP spid="57" grpId="13"/>
    </p:bldLst>
  </p:timing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97159" name="Picture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165259" y="6083808"/>
            <a:ext cx="1625159" cy="3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005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7DFA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8304" y="6084592"/>
            <a:ext cx="1622114" cy="39161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826" y="6280400"/>
            <a:ext cx="1699655" cy="1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810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94E85-59A3-4CE8-BD26-2C3F65DE6B0E}" type="datetimeFigureOut">
              <a:rPr lang="zh-CN" altLang="en-US" smtClean="0"/>
              <a:t>2022/8/9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160A2-C136-4A21-8E63-D2C2118CE1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579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tif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17.png"/><Relationship Id="rId8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/>
          <p:nvPr/>
        </p:nvSpPr>
        <p:spPr>
          <a:xfrm>
            <a:off x="419100" y="5943938"/>
            <a:ext cx="10414000" cy="510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 smtClean="0">
                <a:solidFill>
                  <a:schemeClr val="bg1">
                    <a:alpha val="60000"/>
                  </a:schemeClr>
                </a:solidFill>
                <a:latin typeface="Arial" charset="0"/>
                <a:ea typeface="Arial" charset="0"/>
                <a:cs typeface="Arial" charset="0"/>
              </a:rPr>
              <a:t>This information is confidential or privileged. The information is intended to be for internal use. </a:t>
            </a:r>
          </a:p>
          <a:p>
            <a:r>
              <a:rPr lang="en-US" sz="1000" dirty="0" smtClean="0">
                <a:solidFill>
                  <a:schemeClr val="bg1">
                    <a:alpha val="60000"/>
                  </a:schemeClr>
                </a:solidFill>
                <a:latin typeface="Arial" charset="0"/>
                <a:ea typeface="Arial" charset="0"/>
                <a:cs typeface="Arial" charset="0"/>
              </a:rPr>
              <a:t>If you are not the intended recipient, be aware that any disclosure, copying, distribution, or use of the contents of this information is prohibited. </a:t>
            </a:r>
          </a:p>
          <a:p>
            <a:r>
              <a:rPr lang="en-US" sz="1000" dirty="0" smtClean="0">
                <a:solidFill>
                  <a:schemeClr val="bg1">
                    <a:alpha val="60000"/>
                  </a:schemeClr>
                </a:solidFill>
                <a:latin typeface="Arial" charset="0"/>
                <a:ea typeface="Arial" charset="0"/>
                <a:cs typeface="Arial" charset="0"/>
              </a:rPr>
              <a:t>If you have received this message in error, please delete it and all copies from your system and notify the sender immediately. </a:t>
            </a:r>
            <a:endParaRPr lang="en-US" sz="1000" dirty="0">
              <a:solidFill>
                <a:schemeClr val="bg1">
                  <a:alpha val="6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368300" y="2059744"/>
            <a:ext cx="92202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0" indent="-63500" latinLnBrk="1">
              <a:spcBef>
                <a:spcPts val="1200"/>
              </a:spcBef>
            </a:pPr>
            <a:r>
              <a:rPr lang="zh-CN" altLang="en-US" sz="5000" b="1" dirty="0" smtClean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rPr>
              <a:t>留用</a:t>
            </a:r>
            <a:r>
              <a:rPr lang="zh-CN" altLang="en-US" sz="5000" b="1" dirty="0" smtClean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rPr>
              <a:t>答辩</a:t>
            </a:r>
            <a:endParaRPr lang="zh-CN" altLang="en-US" sz="5000" b="1" dirty="0">
              <a:ln>
                <a:solidFill>
                  <a:sysClr val="window" lastClr="FFFFFF">
                    <a:alpha val="0"/>
                  </a:sysClr>
                </a:solidFill>
              </a:ln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368300" y="3140067"/>
            <a:ext cx="9220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0" indent="-63500" latinLnBrk="1">
              <a:spcBef>
                <a:spcPts val="1200"/>
              </a:spcBef>
            </a:pPr>
            <a:r>
              <a:rPr lang="zh-CN" altLang="en-US" sz="2400" b="1" dirty="0" smtClean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rPr>
              <a:t>汇报人：罗蕴文　｜　携程火车票</a:t>
            </a:r>
            <a:endParaRPr lang="zh-CN" altLang="en-US" sz="2400" b="1" dirty="0">
              <a:ln>
                <a:solidFill>
                  <a:sysClr val="window" lastClr="FFFFFF">
                    <a:alpha val="0"/>
                  </a:sysClr>
                </a:solidFill>
              </a:ln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733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2785570" y="1053912"/>
            <a:ext cx="6172200" cy="85725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defTabSz="5139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000" b="1" dirty="0">
                <a:solidFill>
                  <a:srgbClr val="0F6FC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4325652" y="2715790"/>
            <a:ext cx="586551" cy="572207"/>
            <a:chOff x="1254722" y="1864234"/>
            <a:chExt cx="782068" cy="762943"/>
          </a:xfrm>
        </p:grpSpPr>
        <p:grpSp>
          <p:nvGrpSpPr>
            <p:cNvPr id="7" name="组合 6"/>
            <p:cNvGrpSpPr/>
            <p:nvPr/>
          </p:nvGrpSpPr>
          <p:grpSpPr>
            <a:xfrm>
              <a:off x="1254722" y="1864234"/>
              <a:ext cx="762943" cy="762943"/>
              <a:chOff x="2894659" y="1465288"/>
              <a:chExt cx="1727827" cy="1727827"/>
            </a:xfrm>
          </p:grpSpPr>
          <p:grpSp>
            <p:nvGrpSpPr>
              <p:cNvPr id="9" name="组合 8"/>
              <p:cNvGrpSpPr/>
              <p:nvPr/>
            </p:nvGrpSpPr>
            <p:grpSpPr>
              <a:xfrm rot="1771504">
                <a:off x="2914532" y="1485269"/>
                <a:ext cx="1688083" cy="1687866"/>
                <a:chOff x="1827622" y="1343919"/>
                <a:chExt cx="2304000" cy="2304000"/>
              </a:xfrm>
            </p:grpSpPr>
            <p:sp>
              <p:nvSpPr>
                <p:cNvPr id="11" name="椭圆 10"/>
                <p:cNvSpPr/>
                <p:nvPr/>
              </p:nvSpPr>
              <p:spPr>
                <a:xfrm>
                  <a:off x="1827622" y="1343919"/>
                  <a:ext cx="2304000" cy="2304000"/>
                </a:xfrm>
                <a:prstGeom prst="ellipse">
                  <a:avLst/>
                </a:prstGeom>
                <a:gradFill flip="none" rotWithShape="1">
                  <a:gsLst>
                    <a:gs pos="100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12700">
                  <a:noFill/>
                </a:ln>
                <a:effectLst>
                  <a:outerShdw blurRad="254000" dist="241300" dir="7800000" sx="85000" sy="85000" algn="tr" rotWithShape="0">
                    <a:prstClr val="black">
                      <a:alpha val="3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385763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788">
                    <a:solidFill>
                      <a:srgbClr val="00B7CA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sp>
              <p:nvSpPr>
                <p:cNvPr id="12" name="椭圆 11"/>
                <p:cNvSpPr/>
                <p:nvPr/>
              </p:nvSpPr>
              <p:spPr>
                <a:xfrm>
                  <a:off x="1877481" y="1393778"/>
                  <a:ext cx="2204282" cy="220428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rgbClr val="FEFEFE"/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  <a:ln w="127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385763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788">
                    <a:solidFill>
                      <a:srgbClr val="00B7CA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</p:grpSp>
          <p:sp>
            <p:nvSpPr>
              <p:cNvPr id="10" name="流程图: 联系 31"/>
              <p:cNvSpPr/>
              <p:nvPr/>
            </p:nvSpPr>
            <p:spPr>
              <a:xfrm>
                <a:off x="2894659" y="1465288"/>
                <a:ext cx="1727827" cy="1727827"/>
              </a:xfrm>
              <a:prstGeom prst="flowChartConnector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rgbClr val="00B7CA"/>
                  </a:solidFill>
                  <a:latin typeface="微软雅黑"/>
                  <a:ea typeface="微软雅黑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378895" y="2045650"/>
              <a:ext cx="657895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3429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500" b="1" dirty="0">
                  <a:solidFill>
                    <a:srgbClr val="0F6FC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500" b="1" dirty="0">
                <a:solidFill>
                  <a:srgbClr val="0F6FC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 rot="1771504">
            <a:off x="4725598" y="3085961"/>
            <a:ext cx="204183" cy="204157"/>
            <a:chOff x="1827622" y="1343919"/>
            <a:chExt cx="2304000" cy="2304000"/>
          </a:xfrm>
        </p:grpSpPr>
        <p:sp>
          <p:nvSpPr>
            <p:cNvPr id="15" name="椭圆 14"/>
            <p:cNvSpPr/>
            <p:nvPr/>
          </p:nvSpPr>
          <p:spPr>
            <a:xfrm>
              <a:off x="1827622" y="1343919"/>
              <a:ext cx="2304000" cy="2304000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>
              <a:outerShdw blurRad="254000" dist="241300" dir="7800000" sx="85000" sy="85000" algn="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576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788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1877481" y="1393778"/>
              <a:ext cx="2204282" cy="220428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EFEFE"/>
                </a:gs>
              </a:gsLst>
              <a:path path="circle">
                <a:fillToRect l="100000" b="100000"/>
              </a:path>
              <a:tileRect t="-100000" r="-10000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576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788">
                <a:solidFill>
                  <a:srgbClr val="FF0000"/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cxnSp>
        <p:nvCxnSpPr>
          <p:cNvPr id="17" name="直接连接符 16"/>
          <p:cNvCxnSpPr/>
          <p:nvPr/>
        </p:nvCxnSpPr>
        <p:spPr>
          <a:xfrm flipV="1">
            <a:off x="5447915" y="2710992"/>
            <a:ext cx="0" cy="1443318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6698970" y="2700773"/>
            <a:ext cx="0" cy="1443318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52"/>
          <p:cNvSpPr txBox="1"/>
          <p:nvPr/>
        </p:nvSpPr>
        <p:spPr>
          <a:xfrm>
            <a:off x="4207838" y="3582612"/>
            <a:ext cx="14856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1399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500" b="1" dirty="0">
                <a:solidFill>
                  <a:srgbClr val="0F6FC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5576595" y="2730359"/>
            <a:ext cx="1003403" cy="1172691"/>
            <a:chOff x="2322174" y="2643308"/>
            <a:chExt cx="1337871" cy="1563587"/>
          </a:xfrm>
        </p:grpSpPr>
        <p:grpSp>
          <p:nvGrpSpPr>
            <p:cNvPr id="21" name="组合 20"/>
            <p:cNvGrpSpPr/>
            <p:nvPr/>
          </p:nvGrpSpPr>
          <p:grpSpPr>
            <a:xfrm>
              <a:off x="2523732" y="2643308"/>
              <a:ext cx="762943" cy="762943"/>
              <a:chOff x="2705448" y="1864234"/>
              <a:chExt cx="762943" cy="762943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2705448" y="1864234"/>
                <a:ext cx="762943" cy="762943"/>
                <a:chOff x="2894659" y="1465288"/>
                <a:chExt cx="1727827" cy="1727827"/>
              </a:xfrm>
            </p:grpSpPr>
            <p:grpSp>
              <p:nvGrpSpPr>
                <p:cNvPr id="28" name="组合 27"/>
                <p:cNvGrpSpPr/>
                <p:nvPr/>
              </p:nvGrpSpPr>
              <p:grpSpPr>
                <a:xfrm rot="1771504">
                  <a:off x="2914532" y="1485269"/>
                  <a:ext cx="1688083" cy="1687866"/>
                  <a:chOff x="1827622" y="1343919"/>
                  <a:chExt cx="2304000" cy="2304000"/>
                </a:xfrm>
              </p:grpSpPr>
              <p:sp>
                <p:nvSpPr>
                  <p:cNvPr id="30" name="椭圆 29"/>
                  <p:cNvSpPr/>
                  <p:nvPr/>
                </p:nvSpPr>
                <p:spPr>
                  <a:xfrm>
                    <a:off x="1827622" y="1343919"/>
                    <a:ext cx="2304000" cy="2304000"/>
                  </a:xfrm>
                  <a:prstGeom prst="ellipse">
                    <a:avLst/>
                  </a:prstGeom>
                  <a:gradFill flip="none" rotWithShape="1">
                    <a:gsLst>
                      <a:gs pos="100000">
                        <a:schemeClr val="bg1">
                          <a:lumMod val="85000"/>
                        </a:schemeClr>
                      </a:gs>
                      <a:gs pos="0">
                        <a:schemeClr val="bg1"/>
                      </a:gs>
                    </a:gsLst>
                    <a:path path="circle">
                      <a:fillToRect l="100000" b="100000"/>
                    </a:path>
                    <a:tileRect t="-100000" r="-100000"/>
                  </a:gradFill>
                  <a:ln w="12700">
                    <a:noFill/>
                  </a:ln>
                  <a:effectLst>
                    <a:outerShdw blurRad="254000" dist="241300" dir="7800000" sx="85000" sy="85000" algn="tr" rotWithShape="0">
                      <a:prstClr val="black">
                        <a:alpha val="3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385763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788">
                      <a:solidFill>
                        <a:srgbClr val="FFB757"/>
                      </a:solidFill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  <p:sp>
                <p:nvSpPr>
                  <p:cNvPr id="31" name="椭圆 30"/>
                  <p:cNvSpPr/>
                  <p:nvPr/>
                </p:nvSpPr>
                <p:spPr>
                  <a:xfrm>
                    <a:off x="1877481" y="1393778"/>
                    <a:ext cx="2204282" cy="2204282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100000">
                        <a:srgbClr val="FEFEFE"/>
                      </a:gs>
                    </a:gsLst>
                    <a:path path="circle">
                      <a:fillToRect l="100000" b="100000"/>
                    </a:path>
                    <a:tileRect t="-100000" r="-100000"/>
                  </a:gradFill>
                  <a:ln w="1270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385763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788">
                      <a:solidFill>
                        <a:srgbClr val="FFB757"/>
                      </a:solidFill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</p:grpSp>
            <p:sp>
              <p:nvSpPr>
                <p:cNvPr id="29" name="流程图: 联系 38"/>
                <p:cNvSpPr/>
                <p:nvPr/>
              </p:nvSpPr>
              <p:spPr>
                <a:xfrm>
                  <a:off x="2894659" y="1465288"/>
                  <a:ext cx="1727827" cy="1727827"/>
                </a:xfrm>
                <a:prstGeom prst="flowChartConnector">
                  <a:avLst/>
                </a:prstGeom>
                <a:no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3429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>
                    <a:solidFill>
                      <a:srgbClr val="FFB757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sp>
            <p:nvSpPr>
              <p:cNvPr id="27" name="文本框 26"/>
              <p:cNvSpPr txBox="1"/>
              <p:nvPr/>
            </p:nvSpPr>
            <p:spPr>
              <a:xfrm>
                <a:off x="2824945" y="2053130"/>
                <a:ext cx="568506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000" b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defTabSz="3429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500" dirty="0">
                    <a:solidFill>
                      <a:srgbClr val="0F6FC6"/>
                    </a:solidFill>
                  </a:rPr>
                  <a:t>02</a:t>
                </a:r>
                <a:endParaRPr lang="zh-CN" altLang="en-US" sz="1500" dirty="0">
                  <a:solidFill>
                    <a:srgbClr val="0F6FC6"/>
                  </a:solidFill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 rot="1771504">
              <a:off x="3072564" y="3144899"/>
              <a:ext cx="272244" cy="272209"/>
              <a:chOff x="1827622" y="1343919"/>
              <a:chExt cx="2304000" cy="2304000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1827622" y="1343919"/>
                <a:ext cx="2304000" cy="2304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>
                <a:outerShdw blurRad="254000" dist="241300" dir="7800000" sx="85000" sy="85000" algn="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8576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788">
                  <a:solidFill>
                    <a:srgbClr val="FF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1877481" y="1393778"/>
                <a:ext cx="2204282" cy="220428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rgbClr val="FEFEFE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8576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788">
                  <a:solidFill>
                    <a:srgbClr val="FF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23" name="文本框 73"/>
            <p:cNvSpPr txBox="1"/>
            <p:nvPr/>
          </p:nvSpPr>
          <p:spPr>
            <a:xfrm>
              <a:off x="2322174" y="3776009"/>
              <a:ext cx="1337871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51399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500" b="1" dirty="0">
                  <a:solidFill>
                    <a:srgbClr val="0F6FC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主要项目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911017" y="2705569"/>
            <a:ext cx="1485615" cy="1205220"/>
            <a:chOff x="4673318" y="2643310"/>
            <a:chExt cx="1980820" cy="1606959"/>
          </a:xfrm>
        </p:grpSpPr>
        <p:grpSp>
          <p:nvGrpSpPr>
            <p:cNvPr id="44" name="组合 43"/>
            <p:cNvGrpSpPr/>
            <p:nvPr/>
          </p:nvGrpSpPr>
          <p:grpSpPr>
            <a:xfrm>
              <a:off x="4861357" y="2643310"/>
              <a:ext cx="762943" cy="762943"/>
              <a:chOff x="4132381" y="1864234"/>
              <a:chExt cx="762943" cy="762943"/>
            </a:xfrm>
          </p:grpSpPr>
          <p:grpSp>
            <p:nvGrpSpPr>
              <p:cNvPr id="49" name="组合 48"/>
              <p:cNvGrpSpPr/>
              <p:nvPr/>
            </p:nvGrpSpPr>
            <p:grpSpPr>
              <a:xfrm>
                <a:off x="4132381" y="1864234"/>
                <a:ext cx="762943" cy="762943"/>
                <a:chOff x="2894659" y="1465288"/>
                <a:chExt cx="1727827" cy="1727827"/>
              </a:xfrm>
            </p:grpSpPr>
            <p:grpSp>
              <p:nvGrpSpPr>
                <p:cNvPr id="51" name="组合 50"/>
                <p:cNvGrpSpPr/>
                <p:nvPr/>
              </p:nvGrpSpPr>
              <p:grpSpPr>
                <a:xfrm rot="1771504">
                  <a:off x="2914532" y="1485269"/>
                  <a:ext cx="1688083" cy="1687866"/>
                  <a:chOff x="1827622" y="1343919"/>
                  <a:chExt cx="2304000" cy="2304000"/>
                </a:xfrm>
              </p:grpSpPr>
              <p:sp>
                <p:nvSpPr>
                  <p:cNvPr id="53" name="椭圆 52"/>
                  <p:cNvSpPr/>
                  <p:nvPr/>
                </p:nvSpPr>
                <p:spPr>
                  <a:xfrm>
                    <a:off x="1827622" y="1343919"/>
                    <a:ext cx="2304000" cy="2304000"/>
                  </a:xfrm>
                  <a:prstGeom prst="ellipse">
                    <a:avLst/>
                  </a:prstGeom>
                  <a:gradFill flip="none" rotWithShape="1">
                    <a:gsLst>
                      <a:gs pos="100000">
                        <a:schemeClr val="bg1">
                          <a:lumMod val="85000"/>
                        </a:schemeClr>
                      </a:gs>
                      <a:gs pos="0">
                        <a:schemeClr val="bg1"/>
                      </a:gs>
                    </a:gsLst>
                    <a:path path="circle">
                      <a:fillToRect l="100000" b="100000"/>
                    </a:path>
                    <a:tileRect t="-100000" r="-100000"/>
                  </a:gradFill>
                  <a:ln w="12700">
                    <a:noFill/>
                  </a:ln>
                  <a:effectLst>
                    <a:outerShdw blurRad="254000" dist="241300" dir="7800000" sx="85000" sy="85000" algn="tr" rotWithShape="0">
                      <a:prstClr val="black">
                        <a:alpha val="3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385763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788">
                      <a:solidFill>
                        <a:srgbClr val="FF0000"/>
                      </a:solidFill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  <p:sp>
                <p:nvSpPr>
                  <p:cNvPr id="54" name="椭圆 53"/>
                  <p:cNvSpPr/>
                  <p:nvPr/>
                </p:nvSpPr>
                <p:spPr>
                  <a:xfrm>
                    <a:off x="1877481" y="1393778"/>
                    <a:ext cx="2204282" cy="2204282"/>
                  </a:xfrm>
                  <a:prstGeom prst="ellipse">
                    <a:avLst/>
                  </a:prstGeom>
                  <a:gradFill flip="none"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100000">
                        <a:srgbClr val="FEFEFE"/>
                      </a:gs>
                    </a:gsLst>
                    <a:path path="circle">
                      <a:fillToRect l="100000" b="100000"/>
                    </a:path>
                    <a:tileRect t="-100000" r="-100000"/>
                  </a:gradFill>
                  <a:ln w="1270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385763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sz="788">
                      <a:solidFill>
                        <a:srgbClr val="FF0000"/>
                      </a:solidFill>
                      <a:latin typeface="华文细黑" panose="02010600040101010101" pitchFamily="2" charset="-122"/>
                      <a:ea typeface="华文细黑" panose="02010600040101010101" pitchFamily="2" charset="-122"/>
                    </a:endParaRPr>
                  </a:p>
                </p:txBody>
              </p:sp>
            </p:grpSp>
            <p:sp>
              <p:nvSpPr>
                <p:cNvPr id="52" name="流程图: 联系 45"/>
                <p:cNvSpPr/>
                <p:nvPr/>
              </p:nvSpPr>
              <p:spPr>
                <a:xfrm>
                  <a:off x="2894659" y="1465288"/>
                  <a:ext cx="1727827" cy="1727827"/>
                </a:xfrm>
                <a:prstGeom prst="flowChartConnector">
                  <a:avLst/>
                </a:prstGeom>
                <a:noFill/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3429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>
                    <a:solidFill>
                      <a:prstClr val="white"/>
                    </a:solidFill>
                    <a:latin typeface="微软雅黑"/>
                    <a:ea typeface="微软雅黑"/>
                  </a:endParaRPr>
                </a:p>
              </p:txBody>
            </p:sp>
          </p:grpSp>
          <p:sp>
            <p:nvSpPr>
              <p:cNvPr id="50" name="文本框 49"/>
              <p:cNvSpPr txBox="1"/>
              <p:nvPr/>
            </p:nvSpPr>
            <p:spPr>
              <a:xfrm>
                <a:off x="4247986" y="2048949"/>
                <a:ext cx="580563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000" b="1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defRPr>
                </a:lvl1pPr>
              </a:lstStyle>
              <a:p>
                <a:pPr defTabSz="3429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500" dirty="0">
                    <a:solidFill>
                      <a:srgbClr val="0F6FC6"/>
                    </a:solidFill>
                  </a:rPr>
                  <a:t>03</a:t>
                </a: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 rot="1771504">
              <a:off x="5425579" y="3131584"/>
              <a:ext cx="272244" cy="272209"/>
              <a:chOff x="1827622" y="1343919"/>
              <a:chExt cx="2304000" cy="2304000"/>
            </a:xfrm>
          </p:grpSpPr>
          <p:sp>
            <p:nvSpPr>
              <p:cNvPr id="47" name="椭圆 46"/>
              <p:cNvSpPr/>
              <p:nvPr/>
            </p:nvSpPr>
            <p:spPr>
              <a:xfrm>
                <a:off x="1827622" y="1343919"/>
                <a:ext cx="2304000" cy="2304000"/>
              </a:xfrm>
              <a:prstGeom prst="ellipse">
                <a:avLst/>
              </a:prstGeom>
              <a:gradFill flip="none" rotWithShape="1">
                <a:gsLst>
                  <a:gs pos="100000">
                    <a:schemeClr val="bg1">
                      <a:lumMod val="85000"/>
                    </a:schemeClr>
                  </a:gs>
                  <a:gs pos="0">
                    <a:schemeClr val="bg1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>
                <a:outerShdw blurRad="254000" dist="241300" dir="7800000" sx="85000" sy="85000" algn="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8576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788">
                  <a:solidFill>
                    <a:srgbClr val="FF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1877481" y="1393778"/>
                <a:ext cx="2204282" cy="220428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100000">
                    <a:srgbClr val="FEFEFE"/>
                  </a:gs>
                </a:gsLst>
                <a:path path="circle">
                  <a:fillToRect l="100000" b="100000"/>
                </a:path>
                <a:tileRect t="-100000" r="-100000"/>
              </a:gra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85763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788">
                  <a:solidFill>
                    <a:srgbClr val="FF000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sp>
          <p:nvSpPr>
            <p:cNvPr id="46" name="文本框 75"/>
            <p:cNvSpPr txBox="1"/>
            <p:nvPr/>
          </p:nvSpPr>
          <p:spPr>
            <a:xfrm>
              <a:off x="4673318" y="3819383"/>
              <a:ext cx="1980820" cy="430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51399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500" b="1" dirty="0">
                  <a:solidFill>
                    <a:srgbClr val="0F6FC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未来规划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690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Picture 1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482600" y="6280400"/>
            <a:ext cx="1696196" cy="123810"/>
          </a:xfrm>
          <a:prstGeom prst="rect">
            <a:avLst/>
          </a:prstGeom>
        </p:spPr>
      </p:pic>
      <p:sp>
        <p:nvSpPr>
          <p:cNvPr id="1048643" name="Rectangle 7"/>
          <p:cNvSpPr/>
          <p:nvPr/>
        </p:nvSpPr>
        <p:spPr>
          <a:xfrm>
            <a:off x="368300" y="2365325"/>
            <a:ext cx="2509371" cy="828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0" indent="-63500" latinLnBrk="1"/>
            <a:r>
              <a:rPr lang="en-US" sz="5000" b="1" dirty="0" smtClean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3120957538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 txBox="1">
            <a:spLocks/>
          </p:cNvSpPr>
          <p:nvPr/>
        </p:nvSpPr>
        <p:spPr>
          <a:xfrm>
            <a:off x="457615" y="99753"/>
            <a:ext cx="11226268" cy="689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 smtClean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1、个人介绍</a:t>
            </a:r>
            <a:endParaRPr lang="zh-CN" altLang="en-US" sz="2400" b="1" dirty="0">
              <a:solidFill>
                <a:srgbClr val="4472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key-message"/>
          <p:cNvSpPr txBox="1"/>
          <p:nvPr/>
        </p:nvSpPr>
        <p:spPr>
          <a:xfrm>
            <a:off x="457200" y="89611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哲学训练留下的习惯：做事之前，先把概念拆清楚、把边界想清楚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81328"/>
            <a:ext cx="2514600" cy="457200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icon-circle"/>
          <p:cNvSpPr/>
          <p:nvPr/>
        </p:nvSpPr>
        <p:spPr>
          <a:xfrm>
            <a:off x="731520" y="1737360"/>
            <a:ext cx="868680" cy="86868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aUserGraduat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1954529"/>
            <a:ext cx="434340" cy="4343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7432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罗蕴文</a:t>
            </a:r>
          </a:p>
        </p:txBody>
      </p:sp>
      <p:pic>
        <p:nvPicPr>
          <p:cNvPr id="8" name="Picture 7" descr="FaCalendarCheck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456432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1288" y="3401568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2027 年 6 月毕业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4069080"/>
            <a:ext cx="1965960" cy="0"/>
          </a:xfrm>
          <a:prstGeom prst="line">
            <a:avLst/>
          </a:prstGeom>
          <a:ln w="12700">
            <a:solidFill>
              <a:srgbClr val="D3E2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425196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A8599"/>
                </a:solidFill>
                <a:latin typeface="微软雅黑"/>
                <a:ea typeface="微软雅黑"/>
                <a:cs typeface="微软雅黑"/>
              </a:rPr>
              <a:t>此前经历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5371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小红书 · 产品实习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56048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大模型“点点”幽默语境下的测评与优化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481328"/>
            <a:ext cx="4417916" cy="384048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4840" y="1481328"/>
            <a:ext cx="44179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第一阶段：火车票 AI</a:t>
            </a:r>
          </a:p>
        </p:txBody>
      </p:sp>
      <p:sp>
        <p:nvSpPr>
          <p:cNvPr id="16" name="Pentagon 15"/>
          <p:cNvSpPr/>
          <p:nvPr/>
        </p:nvSpPr>
        <p:spPr>
          <a:xfrm>
            <a:off x="8370801" y="1481328"/>
            <a:ext cx="3379238" cy="384048"/>
          </a:xfrm>
          <a:prstGeom prst="homePlat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370801" y="1481328"/>
            <a:ext cx="33335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第二阶段：抢票业务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34840" y="2240280"/>
            <a:ext cx="7269480" cy="0"/>
          </a:xfrm>
          <a:prstGeom prst="line">
            <a:avLst/>
          </a:prstGeom>
          <a:ln w="15875">
            <a:solidFill>
              <a:srgbClr val="287D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29731" y="193852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5月</a:t>
            </a:r>
          </a:p>
        </p:txBody>
      </p:sp>
      <p:sp>
        <p:nvSpPr>
          <p:cNvPr id="20" name="Oval 19"/>
          <p:cNvSpPr/>
          <p:nvPr/>
        </p:nvSpPr>
        <p:spPr>
          <a:xfrm>
            <a:off x="4549771" y="219456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>
            <a:off x="4595491" y="2313432"/>
            <a:ext cx="0" cy="3739896"/>
          </a:xfrm>
          <a:prstGeom prst="line">
            <a:avLst/>
          </a:prstGeom>
          <a:ln w="9525">
            <a:solidFill>
              <a:srgbClr val="E3EB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74780" y="193852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6月</a:t>
            </a:r>
          </a:p>
        </p:txBody>
      </p:sp>
      <p:sp>
        <p:nvSpPr>
          <p:cNvPr id="23" name="Oval 22"/>
          <p:cNvSpPr/>
          <p:nvPr/>
        </p:nvSpPr>
        <p:spPr>
          <a:xfrm>
            <a:off x="5794820" y="219456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4" name="Connector 23"/>
          <p:cNvCxnSpPr/>
          <p:nvPr/>
        </p:nvCxnSpPr>
        <p:spPr>
          <a:xfrm>
            <a:off x="5840540" y="2313432"/>
            <a:ext cx="0" cy="3739896"/>
          </a:xfrm>
          <a:prstGeom prst="line">
            <a:avLst/>
          </a:prstGeom>
          <a:ln w="9525">
            <a:solidFill>
              <a:srgbClr val="E3EB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679666" y="193852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7月</a:t>
            </a:r>
          </a:p>
        </p:txBody>
      </p:sp>
      <p:sp>
        <p:nvSpPr>
          <p:cNvPr id="26" name="Oval 25"/>
          <p:cNvSpPr/>
          <p:nvPr/>
        </p:nvSpPr>
        <p:spPr>
          <a:xfrm>
            <a:off x="6999706" y="219456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7" name="Connector 26"/>
          <p:cNvCxnSpPr/>
          <p:nvPr/>
        </p:nvCxnSpPr>
        <p:spPr>
          <a:xfrm>
            <a:off x="7045426" y="2313432"/>
            <a:ext cx="0" cy="3739896"/>
          </a:xfrm>
          <a:prstGeom prst="line">
            <a:avLst/>
          </a:prstGeom>
          <a:ln w="9525">
            <a:solidFill>
              <a:srgbClr val="E3EB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924715" y="193852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8月</a:t>
            </a:r>
          </a:p>
        </p:txBody>
      </p:sp>
      <p:sp>
        <p:nvSpPr>
          <p:cNvPr id="29" name="Oval 28"/>
          <p:cNvSpPr/>
          <p:nvPr/>
        </p:nvSpPr>
        <p:spPr>
          <a:xfrm>
            <a:off x="8244755" y="219456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0" name="Connector 29"/>
          <p:cNvCxnSpPr/>
          <p:nvPr/>
        </p:nvCxnSpPr>
        <p:spPr>
          <a:xfrm>
            <a:off x="8290475" y="2313432"/>
            <a:ext cx="0" cy="3739896"/>
          </a:xfrm>
          <a:prstGeom prst="line">
            <a:avLst/>
          </a:prstGeom>
          <a:ln w="9525">
            <a:solidFill>
              <a:srgbClr val="E3EB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69764" y="193852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9月</a:t>
            </a:r>
          </a:p>
        </p:txBody>
      </p:sp>
      <p:sp>
        <p:nvSpPr>
          <p:cNvPr id="32" name="Oval 31"/>
          <p:cNvSpPr/>
          <p:nvPr/>
        </p:nvSpPr>
        <p:spPr>
          <a:xfrm>
            <a:off x="9489804" y="219456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3" name="Connector 32"/>
          <p:cNvCxnSpPr/>
          <p:nvPr/>
        </p:nvCxnSpPr>
        <p:spPr>
          <a:xfrm>
            <a:off x="9535524" y="2313432"/>
            <a:ext cx="0" cy="3739896"/>
          </a:xfrm>
          <a:prstGeom prst="line">
            <a:avLst/>
          </a:prstGeom>
          <a:ln w="9525">
            <a:solidFill>
              <a:srgbClr val="E3EB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374651" y="193852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10月</a:t>
            </a:r>
          </a:p>
        </p:txBody>
      </p:sp>
      <p:sp>
        <p:nvSpPr>
          <p:cNvPr id="35" name="Oval 34"/>
          <p:cNvSpPr/>
          <p:nvPr/>
        </p:nvSpPr>
        <p:spPr>
          <a:xfrm>
            <a:off x="10694691" y="219456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Connector 35"/>
          <p:cNvCxnSpPr/>
          <p:nvPr/>
        </p:nvCxnSpPr>
        <p:spPr>
          <a:xfrm>
            <a:off x="10740411" y="2313432"/>
            <a:ext cx="0" cy="3739896"/>
          </a:xfrm>
          <a:prstGeom prst="line">
            <a:avLst/>
          </a:prstGeom>
          <a:ln w="9525">
            <a:solidFill>
              <a:srgbClr val="E3EB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200400" y="2395728"/>
            <a:ext cx="1097280" cy="566928"/>
          </a:xfrm>
          <a:prstGeom prst="roundRect">
            <a:avLst>
              <a:gd name="adj" fmla="val 12000"/>
            </a:avLst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200400" y="2395728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业务学习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34840" y="2395728"/>
            <a:ext cx="1084397" cy="237744"/>
          </a:xfrm>
          <a:prstGeom prst="roundRect">
            <a:avLst>
              <a:gd name="adj" fmla="val 30000"/>
            </a:avLst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574101" y="2395728"/>
            <a:ext cx="172821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7A1A"/>
                </a:solidFill>
                <a:latin typeface="微软雅黑"/>
                <a:ea typeface="微软雅黑"/>
                <a:cs typeface="微软雅黑"/>
              </a:rPr>
              <a:t>竞品分析与业务熟悉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70801" y="2706624"/>
            <a:ext cx="361465" cy="237744"/>
          </a:xfrm>
          <a:prstGeom prst="roundRect">
            <a:avLst>
              <a:gd name="adj" fmla="val 30000"/>
            </a:avLst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787131" y="2706624"/>
            <a:ext cx="172821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7A1A"/>
                </a:solidFill>
                <a:latin typeface="微软雅黑"/>
                <a:ea typeface="微软雅黑"/>
                <a:cs typeface="微软雅黑"/>
              </a:rPr>
              <a:t>抢票 &amp; 收益交接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00400" y="3127248"/>
            <a:ext cx="1097280" cy="877824"/>
          </a:xfrm>
          <a:prstGeom prst="roundRect">
            <a:avLst>
              <a:gd name="adj" fmla="val 12000"/>
            </a:avLst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200400" y="3127248"/>
            <a:ext cx="1097280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火车票 Agent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78260" y="3127248"/>
            <a:ext cx="1004071" cy="237744"/>
          </a:xfrm>
          <a:prstGeom prst="roundRect">
            <a:avLst>
              <a:gd name="adj" fmla="val 30000"/>
            </a:avLst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337196" y="3127248"/>
            <a:ext cx="216712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一期：意图识别与上线验收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06892" y="3438144"/>
            <a:ext cx="843420" cy="237744"/>
          </a:xfrm>
          <a:prstGeom prst="roundRect">
            <a:avLst>
              <a:gd name="adj" fmla="val 30000"/>
            </a:avLst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305176" y="3438144"/>
            <a:ext cx="260603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二期：验收与 GUI 实验分析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0964" y="3749039"/>
            <a:ext cx="642605" cy="237744"/>
          </a:xfrm>
          <a:prstGeom prst="roundRect">
            <a:avLst>
              <a:gd name="adj" fmla="val 30000"/>
            </a:avLst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108434" y="3749039"/>
            <a:ext cx="14356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拒答治理与交接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00400" y="4169664"/>
            <a:ext cx="1097280" cy="1188720"/>
          </a:xfrm>
          <a:prstGeom prst="roundRect">
            <a:avLst>
              <a:gd name="adj" fmla="val 12000"/>
            </a:avLst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200400" y="4169664"/>
            <a:ext cx="10972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抢票需求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51941" y="4169664"/>
            <a:ext cx="1486026" cy="237744"/>
          </a:xfrm>
          <a:prstGeom prst="roundRect">
            <a:avLst>
              <a:gd name="adj" fmla="val 30000"/>
            </a:avLst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651941" y="4169664"/>
            <a:ext cx="148602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双节活动日历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54384" y="4480560"/>
            <a:ext cx="682768" cy="237744"/>
          </a:xfrm>
          <a:prstGeom prst="roundRect">
            <a:avLst>
              <a:gd name="adj" fmla="val 30000"/>
            </a:avLst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992017" y="4480560"/>
            <a:ext cx="158191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默认截止时间优化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535524" y="4791456"/>
            <a:ext cx="1727003" cy="237744"/>
          </a:xfrm>
          <a:prstGeom prst="roundRect">
            <a:avLst>
              <a:gd name="adj" fmla="val 30000"/>
            </a:avLst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535524" y="4791456"/>
            <a:ext cx="172700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支付流程补足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96990" y="5102352"/>
            <a:ext cx="1365537" cy="237744"/>
          </a:xfrm>
          <a:prstGeom prst="roundRect">
            <a:avLst>
              <a:gd name="adj" fmla="val 30000"/>
            </a:avLst>
          </a:prstGeom>
          <a:solidFill>
            <a:srgbClr val="15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896990" y="5102352"/>
            <a:ext cx="136553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在线换座体验优化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200400" y="5522976"/>
            <a:ext cx="1097280" cy="566928"/>
          </a:xfrm>
          <a:prstGeom prst="roundRect">
            <a:avLst>
              <a:gd name="adj" fmla="val 12000"/>
            </a:avLst>
          </a:prstGeom>
          <a:solidFill>
            <a:srgbClr val="4F8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200400" y="5522976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专题跟进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410964" y="5522976"/>
            <a:ext cx="1967980" cy="237744"/>
          </a:xfrm>
          <a:prstGeom prst="roundRect">
            <a:avLst>
              <a:gd name="adj" fmla="val 30000"/>
            </a:avLst>
          </a:prstGeom>
          <a:solidFill>
            <a:srgbClr val="4F8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6042668" y="5522976"/>
            <a:ext cx="23134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4F8DF5"/>
                </a:solidFill>
                <a:latin typeface="微软雅黑"/>
                <a:ea typeface="微软雅黑"/>
                <a:cs typeface="微软雅黑"/>
              </a:rPr>
              <a:t>支付需求数据回收与口径修正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1061714" y="5833872"/>
            <a:ext cx="441791" cy="237744"/>
          </a:xfrm>
          <a:prstGeom prst="roundRect">
            <a:avLst>
              <a:gd name="adj" fmla="val 30000"/>
            </a:avLst>
          </a:prstGeom>
          <a:solidFill>
            <a:srgbClr val="4F8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717546" y="5833872"/>
            <a:ext cx="12893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4F8DF5"/>
                </a:solidFill>
                <a:latin typeface="微软雅黑"/>
                <a:ea typeface="微软雅黑"/>
                <a:cs typeface="微软雅黑"/>
              </a:rPr>
              <a:t>消息模板整改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 txBox="1">
            <a:spLocks/>
          </p:cNvSpPr>
          <p:nvPr/>
        </p:nvSpPr>
        <p:spPr>
          <a:xfrm>
            <a:off x="457615" y="99753"/>
            <a:ext cx="11226268" cy="689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 smtClean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2、主要项目</a:t>
            </a:r>
            <a:endParaRPr lang="zh-CN" altLang="en-US" sz="2400" b="1" dirty="0">
              <a:solidFill>
                <a:srgbClr val="4472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key-message"/>
          <p:cNvSpPr txBox="1"/>
          <p:nvPr/>
        </p:nvSpPr>
        <p:spPr>
          <a:xfrm>
            <a:off x="457200" y="89611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两条主线：AI 线让 Agent“判断对”，抢票线让用户“出得了票”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486400" cy="452628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icon-circle"/>
          <p:cNvSpPr/>
          <p:nvPr/>
        </p:nvSpPr>
        <p:spPr>
          <a:xfrm>
            <a:off x="777240" y="1783080"/>
            <a:ext cx="685800" cy="68580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aRobo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1954530"/>
            <a:ext cx="342900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20" y="178308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火车票 Agent · 意图识别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88920"/>
            <a:ext cx="4846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2898648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94.6% → 98%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意图分类准确率</a:t>
            </a:r>
            <a:r>
              <a:rPr sz="1200" b="0">
                <a:solidFill>
                  <a:srgbClr val="7A8599"/>
                </a:solidFill>
                <a:latin typeface="微软雅黑"/>
                <a:ea typeface="微软雅黑"/>
                <a:cs typeface="微软雅黑"/>
              </a:rPr>
              <a:t>　一期上线前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389120"/>
            <a:ext cx="4846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5840" y="4498848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10.7% → 4.9%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66359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错误分发导致的拒答占比</a:t>
            </a:r>
            <a:r>
              <a:rPr sz="1200" b="0">
                <a:solidFill>
                  <a:srgbClr val="7A8599"/>
                </a:solidFill>
                <a:latin typeface="微软雅黑"/>
                <a:ea typeface="微软雅黑"/>
                <a:cs typeface="微软雅黑"/>
              </a:rPr>
              <a:t>　二期分发策略调整后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554480"/>
            <a:ext cx="5486400" cy="452628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icon-circle"/>
          <p:cNvSpPr/>
          <p:nvPr/>
        </p:nvSpPr>
        <p:spPr>
          <a:xfrm>
            <a:off x="6565392" y="1783080"/>
            <a:ext cx="685800" cy="68580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aTi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842" y="1954530"/>
            <a:ext cx="342900" cy="342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34072" y="1783080"/>
            <a:ext cx="4114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抢票 · 支付链路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65392" y="2788920"/>
            <a:ext cx="4846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93992" y="2898648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72.8% → 94%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3992" y="356616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智能第二程出票率</a:t>
            </a:r>
            <a:r>
              <a:rPr sz="1200" b="0">
                <a:solidFill>
                  <a:srgbClr val="7A8599"/>
                </a:solidFill>
                <a:latin typeface="微软雅黑"/>
                <a:ea typeface="微软雅黑"/>
                <a:cs typeface="微软雅黑"/>
              </a:rPr>
              <a:t>　确认出票改为直付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65392" y="4389120"/>
            <a:ext cx="4846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793992" y="4498848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+7 万张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5166359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预估年化票量</a:t>
            </a:r>
            <a:r>
              <a:rPr sz="1200" b="0">
                <a:solidFill>
                  <a:srgbClr val="7A8599"/>
                </a:solidFill>
                <a:latin typeface="微软雅黑"/>
                <a:ea typeface="微软雅黑"/>
                <a:cs typeface="微软雅黑"/>
              </a:rPr>
              <a:t>　智能第二程接直付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 txBox="1">
            <a:spLocks/>
          </p:cNvSpPr>
          <p:nvPr/>
        </p:nvSpPr>
        <p:spPr>
          <a:xfrm>
            <a:off x="457615" y="99753"/>
            <a:ext cx="11226268" cy="689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 smtClean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2、主要项目 · 火车票 Agent</a:t>
            </a:r>
            <a:endParaRPr lang="zh-CN" altLang="en-US" sz="2400" b="1" dirty="0">
              <a:solidFill>
                <a:srgbClr val="4472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key-message"/>
          <p:cNvSpPr txBox="1"/>
          <p:nvPr/>
        </p:nvSpPr>
        <p:spPr>
          <a:xfrm>
            <a:off x="457200" y="89611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Agent 能不能答好，前提是先判断对：该不该由火车来答、属于哪一类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一期 · 界定什么属于火车</a:t>
            </a:r>
          </a:p>
        </p:txBody>
      </p:sp>
      <p:sp>
        <p:nvSpPr>
          <p:cNvPr id="6" name="icon-circle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FaTriangleExclamatio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2457450"/>
            <a:ext cx="251460" cy="2514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4440" y="22860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7A1A"/>
                </a:solidFill>
                <a:latin typeface="微软雅黑"/>
                <a:ea typeface="微软雅黑"/>
                <a:cs typeface="微软雅黑"/>
              </a:rPr>
              <a:t>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87752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提示词有漏洞，把不属于这一类的 query 纳了进来</a:t>
            </a:r>
          </a:p>
        </p:txBody>
      </p:sp>
      <p:sp>
        <p:nvSpPr>
          <p:cNvPr id="10" name="icon-circle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FaMagnifyingGlas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3554730"/>
            <a:ext cx="251460" cy="2514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4440" y="33832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685032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与算法业务标签逐条比对，盯“算法对、Agent 错”的样本，逐类修改关键词和分类标准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2628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19472"/>
            <a:ext cx="292607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94.6% → 98%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2926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意图分类准确率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919472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+7.7%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5532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正文完播率（对比问道兜底）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150876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45352" y="15087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二期 · 界定什么不属于火车</a:t>
            </a:r>
          </a:p>
        </p:txBody>
      </p:sp>
      <p:sp>
        <p:nvSpPr>
          <p:cNvPr id="22" name="icon-circle"/>
          <p:cNvSpPr/>
          <p:nvPr/>
        </p:nvSpPr>
        <p:spPr>
          <a:xfrm>
            <a:off x="6336792" y="2331720"/>
            <a:ext cx="502920" cy="502920"/>
          </a:xfrm>
          <a:prstGeom prst="ellipse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FaTriangleExclamatio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522" y="2457450"/>
            <a:ext cx="251460" cy="2514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22592" y="22860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7A1A"/>
                </a:solidFill>
                <a:latin typeface="微软雅黑"/>
                <a:ea typeface="微软雅黑"/>
                <a:cs typeface="微软雅黑"/>
              </a:rPr>
              <a:t>问题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2587752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约一半问题被拒答，其中一部分根本不属于火车，是被错误分发过来的</a:t>
            </a:r>
          </a:p>
        </p:txBody>
      </p:sp>
      <p:sp>
        <p:nvSpPr>
          <p:cNvPr id="26" name="icon-circle"/>
          <p:cNvSpPr/>
          <p:nvPr/>
        </p:nvSpPr>
        <p:spPr>
          <a:xfrm>
            <a:off x="6336792" y="3429000"/>
            <a:ext cx="502920" cy="50292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FaFilt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522" y="3554730"/>
            <a:ext cx="251460" cy="2514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022592" y="33832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3685032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持续推进能力覆盖的同时，优先治理错误分发：人工核查 1,000 多条拒答 query，整理火车问题边界，交给问道调整分发策略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5352" y="4526280"/>
            <a:ext cx="5486400" cy="155448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19672" y="46177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结果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9672" y="4919472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10.7% → 4.9%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672" y="55321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错误分发导致的拒答占比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 txBox="1">
            <a:spLocks/>
          </p:cNvSpPr>
          <p:nvPr/>
        </p:nvSpPr>
        <p:spPr>
          <a:xfrm>
            <a:off x="457615" y="99753"/>
            <a:ext cx="11226268" cy="689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 smtClean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2、主要项目 · 抢票：智能第二程接直付</a:t>
            </a:r>
            <a:endParaRPr lang="zh-CN" altLang="en-US" sz="2400" b="1" dirty="0">
              <a:solidFill>
                <a:srgbClr val="4472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key-message"/>
          <p:cNvSpPr txBox="1"/>
          <p:nvPr/>
        </p:nvSpPr>
        <p:spPr>
          <a:xfrm>
            <a:off x="457200" y="89611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兴奋型需求最怕的不是做不到，而是给了预期又兑现不了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514600" cy="150876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icon-circle"/>
          <p:cNvSpPr/>
          <p:nvPr/>
        </p:nvSpPr>
        <p:spPr>
          <a:xfrm>
            <a:off x="1399032" y="1691640"/>
            <a:ext cx="640080" cy="64008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aWandMagicSparkle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052" y="1851660"/>
            <a:ext cx="320040" cy="320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395728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生成第二程捡漏单</a:t>
            </a:r>
          </a:p>
          <a:p>
            <a:pPr algn="ctr">
              <a:spcBef>
                <a:spcPts val="0"/>
              </a:spcBef>
            </a:pPr>
            <a:r>
              <a:rPr sz="14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并完成扣位</a:t>
            </a:r>
          </a:p>
        </p:txBody>
      </p:sp>
      <p:sp>
        <p:nvSpPr>
          <p:cNvPr id="8" name="arrow"/>
          <p:cNvSpPr/>
          <p:nvPr/>
        </p:nvSpPr>
        <p:spPr>
          <a:xfrm>
            <a:off x="3035808" y="2148840"/>
            <a:ext cx="292608" cy="292608"/>
          </a:xfrm>
          <a:prstGeom prst="rightArrow">
            <a:avLst/>
          </a:prstGeom>
          <a:solidFill>
            <a:srgbClr val="D3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383280" y="1554480"/>
            <a:ext cx="2514600" cy="150876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icon-circle"/>
          <p:cNvSpPr/>
          <p:nvPr/>
        </p:nvSpPr>
        <p:spPr>
          <a:xfrm>
            <a:off x="4325112" y="1691640"/>
            <a:ext cx="640080" cy="64008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FaPhoneVolum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132" y="1851660"/>
            <a:ext cx="320040" cy="320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20440" y="2395728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外呼 / 消息通知</a:t>
            </a:r>
          </a:p>
          <a:p>
            <a:pPr algn="ctr">
              <a:spcBef>
                <a:spcPts val="0"/>
              </a:spcBef>
            </a:pPr>
            <a:r>
              <a:rPr sz="14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用户确认出票</a:t>
            </a:r>
          </a:p>
        </p:txBody>
      </p:sp>
      <p:sp>
        <p:nvSpPr>
          <p:cNvPr id="13" name="arrow"/>
          <p:cNvSpPr/>
          <p:nvPr/>
        </p:nvSpPr>
        <p:spPr>
          <a:xfrm>
            <a:off x="5961888" y="2148840"/>
            <a:ext cx="292608" cy="292608"/>
          </a:xfrm>
          <a:prstGeom prst="rightArrow">
            <a:avLst/>
          </a:prstGeom>
          <a:solidFill>
            <a:srgbClr val="D3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309360" y="1554480"/>
            <a:ext cx="2514600" cy="1508760"/>
          </a:xfrm>
          <a:prstGeom prst="roundRect">
            <a:avLst>
              <a:gd name="adj" fmla="val 6000"/>
            </a:avLst>
          </a:prstGeom>
          <a:solidFill>
            <a:srgbClr val="FFF3EA"/>
          </a:solidFill>
          <a:ln w="1270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icon-circle"/>
          <p:cNvSpPr/>
          <p:nvPr/>
        </p:nvSpPr>
        <p:spPr>
          <a:xfrm>
            <a:off x="7251192" y="1691640"/>
            <a:ext cx="640080" cy="640080"/>
          </a:xfrm>
          <a:prstGeom prst="ellipse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aCreditCar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12" y="1851660"/>
            <a:ext cx="320040" cy="320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46520" y="2395728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用户确认并付款</a:t>
            </a:r>
          </a:p>
        </p:txBody>
      </p:sp>
      <p:sp>
        <p:nvSpPr>
          <p:cNvPr id="18" name="arrow"/>
          <p:cNvSpPr/>
          <p:nvPr/>
        </p:nvSpPr>
        <p:spPr>
          <a:xfrm>
            <a:off x="8887968" y="2148840"/>
            <a:ext cx="292608" cy="292608"/>
          </a:xfrm>
          <a:prstGeom prst="rightArrow">
            <a:avLst/>
          </a:prstGeom>
          <a:solidFill>
            <a:srgbClr val="D3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9235440" y="1554480"/>
            <a:ext cx="2514600" cy="150876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icon-circle"/>
          <p:cNvSpPr/>
          <p:nvPr/>
        </p:nvSpPr>
        <p:spPr>
          <a:xfrm>
            <a:off x="10177272" y="1691640"/>
            <a:ext cx="640080" cy="64008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FaTick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7292" y="1851660"/>
            <a:ext cx="320040" cy="3200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372600" y="2395728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出票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15468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7A1A"/>
                </a:solidFill>
                <a:latin typeface="微软雅黑"/>
                <a:ea typeface="微软雅黑"/>
                <a:cs typeface="微软雅黑"/>
              </a:rPr>
              <a:t>受风控限制，付款环节容易失败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657600"/>
            <a:ext cx="6035040" cy="242316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FaLightbulb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886200"/>
            <a:ext cx="365760" cy="365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34440" y="3886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KANO：兴奋型需求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89120"/>
            <a:ext cx="5577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做到了是惊喜，做不到用户也不会抱怨；但一旦通知了用户、用户也付了款，他就默认一定能出票。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57800"/>
            <a:ext cx="5577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解决方案　</a:t>
            </a:r>
            <a:r>
              <a:rPr sz="14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确认出票的付款统一改为直付，付款成功即可出票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6812280" y="3657600"/>
          <a:ext cx="2743200" cy="242316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9738360" y="3657600"/>
            <a:ext cx="2011680" cy="2423160"/>
          </a:xfrm>
          <a:prstGeom prst="roundRect">
            <a:avLst>
              <a:gd name="adj" fmla="val 6000"/>
            </a:avLst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829800" y="416052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+7 万张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4937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预估年化票量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 txBox="1">
            <a:spLocks/>
          </p:cNvSpPr>
          <p:nvPr/>
        </p:nvSpPr>
        <p:spPr>
          <a:xfrm>
            <a:off x="457615" y="99753"/>
            <a:ext cx="11226268" cy="689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 smtClean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2、主要项目 · 抢票：放开抢转买</a:t>
            </a:r>
            <a:endParaRPr lang="zh-CN" altLang="en-US" sz="2400" b="1" dirty="0">
              <a:solidFill>
                <a:srgbClr val="4472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key-message"/>
          <p:cNvSpPr txBox="1"/>
          <p:nvPr/>
        </p:nvSpPr>
        <p:spPr>
          <a:xfrm>
            <a:off x="457200" y="89611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用户妥协接受了替代方案，就该用更直接的方式出票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212080" cy="452628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7A8599"/>
                </a:solidFill>
                <a:latin typeface="微软雅黑"/>
                <a:ea typeface="微软雅黑"/>
                <a:cs typeface="微软雅黑"/>
              </a:rPr>
              <a:t>之前</a:t>
            </a:r>
          </a:p>
        </p:txBody>
      </p:sp>
      <p:sp>
        <p:nvSpPr>
          <p:cNvPr id="6" name="icon-circle"/>
          <p:cNvSpPr/>
          <p:nvPr/>
        </p:nvSpPr>
        <p:spPr>
          <a:xfrm>
            <a:off x="777240" y="2377440"/>
            <a:ext cx="548640" cy="548640"/>
          </a:xfrm>
          <a:prstGeom prst="ellipse">
            <a:avLst/>
          </a:prstGeom>
          <a:solidFill>
            <a:srgbClr val="7A8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FaList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14600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2359152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抢必走 / YOYO 有票方案页，推荐可立即出票的替代方案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51560" y="2944368"/>
            <a:ext cx="0" cy="329184"/>
          </a:xfrm>
          <a:prstGeom prst="line">
            <a:avLst/>
          </a:prstGeom>
          <a:ln w="19050">
            <a:solidFill>
              <a:srgbClr val="7A8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con-circle"/>
          <p:cNvSpPr/>
          <p:nvPr/>
        </p:nvSpPr>
        <p:spPr>
          <a:xfrm>
            <a:off x="777240" y="3291840"/>
            <a:ext cx="548640" cy="548640"/>
          </a:xfrm>
          <a:prstGeom prst="ellipse">
            <a:avLst/>
          </a:prstGeom>
          <a:solidFill>
            <a:srgbClr val="7A8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FaUser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29000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08760" y="3273552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用户妥协，接受替代方案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51560" y="3858768"/>
            <a:ext cx="0" cy="329184"/>
          </a:xfrm>
          <a:prstGeom prst="line">
            <a:avLst/>
          </a:prstGeom>
          <a:ln w="19050">
            <a:solidFill>
              <a:srgbClr val="7A8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con-circle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7A8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FaRotat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43400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08760" y="4187952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仍走抢票的捡漏扣位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166360"/>
            <a:ext cx="45720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7A1A"/>
                </a:solidFill>
                <a:latin typeface="微软雅黑"/>
                <a:ea typeface="微软雅黑"/>
                <a:cs typeface="微软雅黑"/>
              </a:rPr>
              <a:t>出票概率【待补充】，用户预期落空，体验较差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9672" y="1554480"/>
            <a:ext cx="5212080" cy="452628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39712" y="17373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之后</a:t>
            </a:r>
          </a:p>
        </p:txBody>
      </p:sp>
      <p:sp>
        <p:nvSpPr>
          <p:cNvPr id="21" name="icon-circle"/>
          <p:cNvSpPr/>
          <p:nvPr/>
        </p:nvSpPr>
        <p:spPr>
          <a:xfrm>
            <a:off x="6839712" y="2377440"/>
            <a:ext cx="548640" cy="54864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FaList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872" y="2514600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71231" y="2359152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同样推荐可立即出票的替代方案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14032" y="2944368"/>
            <a:ext cx="0" cy="329184"/>
          </a:xfrm>
          <a:prstGeom prst="line">
            <a:avLst/>
          </a:prstGeom>
          <a:ln w="19050">
            <a:solidFill>
              <a:srgbClr val="287D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con-circle"/>
          <p:cNvSpPr/>
          <p:nvPr/>
        </p:nvSpPr>
        <p:spPr>
          <a:xfrm>
            <a:off x="6839712" y="3291840"/>
            <a:ext cx="548640" cy="54864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FaUserChe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3429000"/>
            <a:ext cx="274320" cy="274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571231" y="3273552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支付宝（非黑名单）订单，用户接受方案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14032" y="3858768"/>
            <a:ext cx="0" cy="329184"/>
          </a:xfrm>
          <a:prstGeom prst="line">
            <a:avLst/>
          </a:prstGeom>
          <a:ln w="19050">
            <a:solidFill>
              <a:srgbClr val="287D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con-circle"/>
          <p:cNvSpPr/>
          <p:nvPr/>
        </p:nvSpPr>
        <p:spPr>
          <a:xfrm>
            <a:off x="6839712" y="4206240"/>
            <a:ext cx="548640" cy="54864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FaTick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6872" y="4343400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571231" y="4187952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直接走买票接口出票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39712" y="5166360"/>
            <a:ext cx="45720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976872" y="5166360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上线后的增量【待补】</a:t>
            </a:r>
          </a:p>
        </p:txBody>
      </p:sp>
      <p:sp>
        <p:nvSpPr>
          <p:cNvPr id="34" name="arrow"/>
          <p:cNvSpPr/>
          <p:nvPr/>
        </p:nvSpPr>
        <p:spPr>
          <a:xfrm>
            <a:off x="5806440" y="3520440"/>
            <a:ext cx="594360" cy="457200"/>
          </a:xfrm>
          <a:prstGeom prst="rightArrow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 txBox="1">
            <a:spLocks/>
          </p:cNvSpPr>
          <p:nvPr/>
        </p:nvSpPr>
        <p:spPr>
          <a:xfrm>
            <a:off x="457615" y="99753"/>
            <a:ext cx="11226268" cy="689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 smtClean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2、主要项目 · 抢票：两个需求的共同点</a:t>
            </a:r>
            <a:endParaRPr lang="zh-CN" altLang="en-US" sz="2400" b="1" dirty="0">
              <a:solidFill>
                <a:srgbClr val="4472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key-message"/>
          <p:cNvSpPr txBox="1"/>
          <p:nvPr/>
        </p:nvSpPr>
        <p:spPr>
          <a:xfrm>
            <a:off x="457200" y="89611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我们主动给了“可以出票”的承诺，用户做出了行动，最后却没能出票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486400" cy="274320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icon-circle"/>
          <p:cNvSpPr/>
          <p:nvPr/>
        </p:nvSpPr>
        <p:spPr>
          <a:xfrm>
            <a:off x="777240" y="1783080"/>
            <a:ext cx="731520" cy="73152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a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65960"/>
            <a:ext cx="36576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37360" y="1874519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出票意愿最强的一批人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这些订单的用户都已经付了款或做出了妥协，在这里流失对票量最可惜，修复的回报也最直接。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554480"/>
            <a:ext cx="5486400" cy="274320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icon-circle"/>
          <p:cNvSpPr/>
          <p:nvPr/>
        </p:nvSpPr>
        <p:spPr>
          <a:xfrm>
            <a:off x="6565392" y="1783080"/>
            <a:ext cx="731520" cy="73152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FaRout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1965960"/>
            <a:ext cx="365760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25512" y="1874519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两个问题的根源相同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74320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用户的状态已经从“等待”变成了“确认”，后台却还沿用抢票订单原来的链路。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57600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已付款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3657600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87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331720" y="36576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已妥协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3657600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7A8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23760" y="36576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等待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3657600"/>
            <a:ext cx="1280160" cy="457200"/>
          </a:xfrm>
          <a:prstGeom prst="roundRect">
            <a:avLst>
              <a:gd name="adj" fmla="val 30000"/>
            </a:avLst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0" y="365760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确认</a:t>
            </a:r>
          </a:p>
        </p:txBody>
      </p:sp>
      <p:sp>
        <p:nvSpPr>
          <p:cNvPr id="22" name="arrow"/>
          <p:cNvSpPr/>
          <p:nvPr/>
        </p:nvSpPr>
        <p:spPr>
          <a:xfrm>
            <a:off x="8641080" y="3749039"/>
            <a:ext cx="640080" cy="274320"/>
          </a:xfrm>
          <a:prstGeom prst="rightArrow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457200" y="4572000"/>
            <a:ext cx="11274552" cy="1508760"/>
          </a:xfrm>
          <a:prstGeom prst="roundRect">
            <a:avLst>
              <a:gd name="adj" fmla="val 6000"/>
            </a:avLst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FaBullsey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983480"/>
            <a:ext cx="685800" cy="685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83080" y="4572000"/>
            <a:ext cx="96926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D6E6FF"/>
                </a:solidFill>
                <a:latin typeface="微软雅黑"/>
                <a:ea typeface="微软雅黑"/>
                <a:cs typeface="微软雅黑"/>
              </a:rPr>
              <a:t>可复用的原则</a:t>
            </a:r>
          </a:p>
          <a:p>
            <a:pPr algn="l">
              <a:spcBef>
                <a:spcPts val="600"/>
              </a:spcBef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在每一个让用户做决定的节点，都要检查后面的链路能不能兑现这个决定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 txBox="1">
            <a:spLocks/>
          </p:cNvSpPr>
          <p:nvPr/>
        </p:nvSpPr>
        <p:spPr>
          <a:xfrm>
            <a:off x="457615" y="99753"/>
            <a:ext cx="11226268" cy="689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 smtClean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2、主要项目 · 抢票：数据口径修正</a:t>
            </a:r>
            <a:endParaRPr lang="zh-CN" altLang="en-US" sz="2400" b="1" dirty="0">
              <a:solidFill>
                <a:srgbClr val="4472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key-message"/>
          <p:cNvSpPr txBox="1"/>
          <p:nvPr/>
        </p:nvSpPr>
        <p:spPr>
          <a:xfrm>
            <a:off x="457200" y="89611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需求改成了直付，数据却显示代付：数据口径会随业务演进而过期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6949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651760"/>
                <a:gridCol w="292608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anchor="ctr" marL="137160" marR="137160">
                    <a:solidFill>
                      <a:srgbClr val="287D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原口径</a:t>
                      </a:r>
                    </a:p>
                  </a:txBody>
                  <a:tcPr anchor="ctr" marL="137160" marR="137160">
                    <a:solidFill>
                      <a:srgbClr val="287D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新口径</a:t>
                      </a:r>
                    </a:p>
                  </a:txBody>
                  <a:tcPr anchor="ctr" marL="137160" marR="137160">
                    <a:solidFill>
                      <a:srgbClr val="287D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531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判断依据</a:t>
                      </a:r>
                    </a:p>
                  </a:txBody>
                  <a:tcPr anchor="ctr" marL="137160" marR="137160">
                    <a:solidFill>
                      <a:srgbClr val="EA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7A859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“候补直付”业务标记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87DF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订单上的直付出票标记</a:t>
                      </a:r>
                    </a:p>
                  </a:txBody>
                  <a:tcPr anchor="ctr" marL="137160" marR="137160">
                    <a:solidFill>
                      <a:srgbClr val="F5F9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531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覆盖场景</a:t>
                      </a:r>
                    </a:p>
                  </a:txBody>
                  <a:tcPr anchor="ctr" marL="137160" marR="137160">
                    <a:solidFill>
                      <a:srgbClr val="EA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7A859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只覆盖候补直付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87DF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候补、捡漏、智能等全部直付场景</a:t>
                      </a:r>
                    </a:p>
                  </a:txBody>
                  <a:tcPr anchor="ctr" marL="137160" marR="137160">
                    <a:solidFill>
                      <a:srgbClr val="F5F9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531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</a:t>
                      </a:r>
                    </a:p>
                  </a:txBody>
                  <a:tcPr anchor="ctr" marL="137160" marR="137160">
                    <a:solidFill>
                      <a:srgbClr val="EA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7A859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捡漏、智能直付被判成代付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87DF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数仓新增“是否直付出票”字段</a:t>
                      </a:r>
                    </a:p>
                  </a:txBody>
                  <a:tcPr anchor="ctr" marL="137160" marR="137160">
                    <a:solidFill>
                      <a:srgbClr val="F5F9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09160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处理过程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120640"/>
            <a:ext cx="1554480" cy="548640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发现数据异常</a:t>
            </a:r>
          </a:p>
        </p:txBody>
      </p:sp>
      <p:sp>
        <p:nvSpPr>
          <p:cNvPr id="8" name="arrow"/>
          <p:cNvSpPr/>
          <p:nvPr/>
        </p:nvSpPr>
        <p:spPr>
          <a:xfrm>
            <a:off x="2029967" y="5303520"/>
            <a:ext cx="182880" cy="182880"/>
          </a:xfrm>
          <a:prstGeom prst="rightArrow">
            <a:avLst/>
          </a:prstGeom>
          <a:solidFill>
            <a:srgbClr val="D3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2240280" y="5120640"/>
            <a:ext cx="1554480" cy="548640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240280" y="51206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找开发核实标记</a:t>
            </a:r>
          </a:p>
        </p:txBody>
      </p:sp>
      <p:sp>
        <p:nvSpPr>
          <p:cNvPr id="11" name="arrow"/>
          <p:cNvSpPr/>
          <p:nvPr/>
        </p:nvSpPr>
        <p:spPr>
          <a:xfrm>
            <a:off x="3813048" y="5303520"/>
            <a:ext cx="182880" cy="182880"/>
          </a:xfrm>
          <a:prstGeom prst="rightArrow">
            <a:avLst/>
          </a:prstGeom>
          <a:solidFill>
            <a:srgbClr val="D3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023360" y="5120640"/>
            <a:ext cx="1554480" cy="548640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023360" y="51206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与 BI、数仓排查</a:t>
            </a:r>
          </a:p>
        </p:txBody>
      </p:sp>
      <p:sp>
        <p:nvSpPr>
          <p:cNvPr id="14" name="arrow"/>
          <p:cNvSpPr/>
          <p:nvPr/>
        </p:nvSpPr>
        <p:spPr>
          <a:xfrm>
            <a:off x="5596128" y="5303520"/>
            <a:ext cx="182880" cy="182880"/>
          </a:xfrm>
          <a:prstGeom prst="rightArrow">
            <a:avLst/>
          </a:prstGeom>
          <a:solidFill>
            <a:srgbClr val="D3E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5806440" y="5120640"/>
            <a:ext cx="1554480" cy="548640"/>
          </a:xfrm>
          <a:prstGeom prst="roundRect">
            <a:avLst>
              <a:gd name="adj" fmla="val 30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806440" y="51206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统一判断口径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15544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修正之后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2103120"/>
            <a:ext cx="3931920" cy="109728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icon-circle"/>
          <p:cNvSpPr/>
          <p:nvPr/>
        </p:nvSpPr>
        <p:spPr>
          <a:xfrm>
            <a:off x="8046720" y="2331720"/>
            <a:ext cx="640080" cy="64008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FaChartLin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2491739"/>
            <a:ext cx="320040" cy="320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69680" y="210312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需求效果能被正确评估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3429000"/>
            <a:ext cx="3931920" cy="109728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icon-circle"/>
          <p:cNvSpPr/>
          <p:nvPr/>
        </p:nvSpPr>
        <p:spPr>
          <a:xfrm>
            <a:off x="8046720" y="3657600"/>
            <a:ext cx="640080" cy="64008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FaFileInvoiceDolla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740" y="3817620"/>
            <a:ext cx="320040" cy="3200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69680" y="34290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财务结算报表随之修正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4754879"/>
            <a:ext cx="3931920" cy="109728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icon-circle"/>
          <p:cNvSpPr/>
          <p:nvPr/>
        </p:nvSpPr>
        <p:spPr>
          <a:xfrm>
            <a:off x="8046720" y="4983479"/>
            <a:ext cx="640080" cy="64008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FaPeopleGrou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6740" y="5143499"/>
            <a:ext cx="320040" cy="3200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869680" y="4754879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团队之后的直付代付取数可直接复用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 txBox="1">
            <a:spLocks/>
          </p:cNvSpPr>
          <p:nvPr/>
        </p:nvSpPr>
        <p:spPr>
          <a:xfrm>
            <a:off x="457615" y="99753"/>
            <a:ext cx="11226268" cy="689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 smtClean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3、未来规划 · 从 AI native 到 AI × 业务</a:t>
            </a:r>
            <a:endParaRPr lang="zh-CN" altLang="en-US" sz="2400" b="1" dirty="0">
              <a:solidFill>
                <a:srgbClr val="4472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key-message"/>
          <p:cNvSpPr txBox="1"/>
          <p:nvPr/>
        </p:nvSpPr>
        <p:spPr>
          <a:xfrm>
            <a:off x="457200" y="89611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从模型侧的质量工作，走到直接对业务结果负责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5239512" cy="96012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icon-circle"/>
          <p:cNvSpPr/>
          <p:nvPr/>
        </p:nvSpPr>
        <p:spPr>
          <a:xfrm>
            <a:off x="685800" y="1664208"/>
            <a:ext cx="640080" cy="64008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aRobo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824228"/>
            <a:ext cx="320040" cy="320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1508760"/>
            <a:ext cx="4069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火车票 Agent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模型侧的质量工作，离业务结果比较远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508760"/>
            <a:ext cx="5239512" cy="96012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icon-circle"/>
          <p:cNvSpPr/>
          <p:nvPr/>
        </p:nvSpPr>
        <p:spPr>
          <a:xfrm>
            <a:off x="6720840" y="1664208"/>
            <a:ext cx="640080" cy="64008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FaTi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859" y="1824228"/>
            <a:ext cx="320040" cy="320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3800" y="1508760"/>
            <a:ext cx="4069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抢票业务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直接对票量负责，学会从业务指标倒推要做什么</a:t>
            </a:r>
          </a:p>
        </p:txBody>
      </p:sp>
      <p:sp>
        <p:nvSpPr>
          <p:cNvPr id="12" name="arrow"/>
          <p:cNvSpPr/>
          <p:nvPr/>
        </p:nvSpPr>
        <p:spPr>
          <a:xfrm>
            <a:off x="5806440" y="1828800"/>
            <a:ext cx="457200" cy="329184"/>
          </a:xfrm>
          <a:prstGeom prst="rightArrow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2697480"/>
          <a:ext cx="1127455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06240"/>
                <a:gridCol w="5056632"/>
              </a:tblGrid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anchor="ctr" marL="182880">
                    <a:solidFill>
                      <a:srgbClr val="287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小红书 · AI native</a:t>
                      </a:r>
                    </a:p>
                  </a:txBody>
                  <a:tcPr anchor="ctr" marL="182880">
                    <a:solidFill>
                      <a:srgbClr val="287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携程 · AI × 业务</a:t>
                      </a:r>
                    </a:p>
                  </a:txBody>
                  <a:tcPr anchor="ctr" marL="182880">
                    <a:solidFill>
                      <a:srgbClr val="287D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31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产品是什么</a:t>
                      </a:r>
                    </a:p>
                  </a:txBody>
                  <a:tcPr anchor="ctr" marL="18288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D475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模型本身就是产品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87DF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是服务业务的手段</a:t>
                      </a:r>
                    </a:p>
                  </a:txBody>
                  <a:tcPr anchor="ctr" marL="182880">
                    <a:solidFill>
                      <a:srgbClr val="F5F9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31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边界由谁定</a:t>
                      </a:r>
                    </a:p>
                  </a:txBody>
                  <a:tcPr anchor="ctr" marL="18288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D475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拓展能力边界、限制行为边界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87DF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业务来定：什么属于火车、什么不属于</a:t>
                      </a:r>
                    </a:p>
                  </a:txBody>
                  <a:tcPr anchor="ctr" marL="182880">
                    <a:solidFill>
                      <a:srgbClr val="F5F9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5315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衡量标准</a:t>
                      </a:r>
                    </a:p>
                  </a:txBody>
                  <a:tcPr anchor="ctr" marL="18288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D475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模型表现得好不好</a:t>
                      </a:r>
                    </a:p>
                  </a:txBody>
                  <a:tcPr anchor="ctr" marL="18288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87DF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票量这样的业务结果</a:t>
                      </a:r>
                    </a:p>
                  </a:txBody>
                  <a:tcPr anchor="ctr" marL="182880">
                    <a:solidFill>
                      <a:srgbClr val="F5F9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457200" y="5440680"/>
            <a:ext cx="11274552" cy="640080"/>
          </a:xfrm>
          <a:prstGeom prst="roundRect">
            <a:avLst>
              <a:gd name="adj" fmla="val 6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FaLightbulb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577840"/>
            <a:ext cx="365760" cy="365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88720" y="544068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形态要贴合用户习惯　</a:t>
            </a:r>
            <a:r>
              <a:rPr sz="14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二期把对话改成直接操作列表页后，票量明显提升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 txBox="1">
            <a:spLocks/>
          </p:cNvSpPr>
          <p:nvPr/>
        </p:nvSpPr>
        <p:spPr>
          <a:xfrm>
            <a:off x="457615" y="99753"/>
            <a:ext cx="11226268" cy="689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 smtClean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3、未来规划 · 在票量、收益、体验之间找平衡</a:t>
            </a:r>
            <a:endParaRPr lang="zh-CN" altLang="en-US" sz="2400" b="1" dirty="0">
              <a:solidFill>
                <a:srgbClr val="4472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key-message"/>
          <p:cNvSpPr txBox="1"/>
          <p:nvPr/>
        </p:nvSpPr>
        <p:spPr>
          <a:xfrm>
            <a:off x="457200" y="896112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抢票业务要同时平衡三件事，AI 服务于这三者的平衡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3630168" cy="269748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icon-circle"/>
          <p:cNvSpPr/>
          <p:nvPr/>
        </p:nvSpPr>
        <p:spPr>
          <a:xfrm>
            <a:off x="731520" y="1737360"/>
            <a:ext cx="731520" cy="73152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aMobileScreenButto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36576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45920" y="173736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票量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488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补齐小程序的出票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小程序内优化付款：如接入微信合单支付</a:t>
            </a:r>
          </a:p>
          <a:p>
            <a:pPr algn="l">
              <a:spcBef>
                <a:spcPts val="800"/>
              </a:spcBef>
            </a:pPr>
            <a:r>
              <a:rPr sz="1000" b="0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场景转换：召回用户回到 App、引导小程序内信用付授权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508760"/>
            <a:ext cx="3630168" cy="269748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icon-circle"/>
          <p:cNvSpPr/>
          <p:nvPr/>
        </p:nvSpPr>
        <p:spPr>
          <a:xfrm>
            <a:off x="4553712" y="1737360"/>
            <a:ext cx="731520" cy="73152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aCoin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920240"/>
            <a:ext cx="365760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68112" y="173736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收益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8112" y="21488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补上收益场景的空白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74320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在合规前提下，重新梳理各场景里用户比较需要的服务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508760"/>
            <a:ext cx="3630168" cy="269748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 w="12700">
            <a:solidFill>
              <a:srgbClr val="D3E2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icon-circle"/>
          <p:cNvSpPr/>
          <p:nvPr/>
        </p:nvSpPr>
        <p:spPr>
          <a:xfrm>
            <a:off x="8375904" y="1737360"/>
            <a:ext cx="731520" cy="731520"/>
          </a:xfrm>
          <a:prstGeom prst="ellipse">
            <a:avLst/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FaFaceSmi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4" y="1920240"/>
            <a:ext cx="365760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290304" y="173736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体验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214884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5315E"/>
                </a:solidFill>
                <a:latin typeface="微软雅黑"/>
                <a:ea typeface="微软雅黑"/>
                <a:cs typeface="微软雅黑"/>
              </a:rPr>
              <a:t>提高收益的前提是稳住体验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274320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87DFA"/>
                </a:solidFill>
                <a:latin typeface="微软雅黑"/>
                <a:ea typeface="微软雅黑"/>
                <a:cs typeface="微软雅黑"/>
              </a:rPr>
              <a:t>●  </a:t>
            </a:r>
            <a:r>
              <a:rPr sz="1400" b="0">
                <a:solidFill>
                  <a:srgbClr val="3D4757"/>
                </a:solidFill>
                <a:latin typeface="微软雅黑"/>
                <a:ea typeface="微软雅黑"/>
                <a:cs typeface="微软雅黑"/>
              </a:rPr>
              <a:t>正在探索：外呼场景下的策略优化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434840"/>
            <a:ext cx="11274552" cy="1645920"/>
          </a:xfrm>
          <a:prstGeom prst="roundRect">
            <a:avLst>
              <a:gd name="adj" fmla="val 6000"/>
            </a:avLst>
          </a:prstGeom>
          <a:solidFill>
            <a:srgbClr val="287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icon-circle"/>
          <p:cNvSpPr/>
          <p:nvPr/>
        </p:nvSpPr>
        <p:spPr>
          <a:xfrm>
            <a:off x="777240" y="4846320"/>
            <a:ext cx="822960" cy="822960"/>
          </a:xfrm>
          <a:prstGeom prst="ellipse">
            <a:avLst/>
          </a:prstGeom>
          <a:solidFill>
            <a:srgbClr val="1F6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Fa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" y="5052059"/>
            <a:ext cx="411480" cy="4114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874519" y="4434840"/>
            <a:ext cx="960120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</a:t>
            </a:r>
            <a:r>
              <a:rPr sz="1600" b="1">
                <a:solidFill>
                  <a:srgbClr val="D6E6FF"/>
                </a:solidFill>
                <a:latin typeface="微软雅黑"/>
                <a:ea typeface="微软雅黑"/>
                <a:cs typeface="微软雅黑"/>
              </a:rPr>
              <a:t>　从 AI native 走进业务</a:t>
            </a:r>
          </a:p>
          <a:p>
            <a:pPr algn="l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沿抢票链路找到传统方法不好解决的痛点，用我们平台用户最容易接受的方式呈现，提供他们当下最需要的能力，让 AI 服务于票量、收益和体验的平衡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24346</TotalTime>
  <Words>214</Words>
  <Application>Microsoft Office PowerPoint</Application>
  <PresentationFormat>宽屏</PresentationFormat>
  <Paragraphs>33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等线 Light</vt:lpstr>
      <vt:lpstr>华文细黑</vt:lpstr>
      <vt:lpstr>微软雅黑</vt:lpstr>
      <vt:lpstr>Arial</vt:lpstr>
      <vt:lpstr>Raleway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lym刘怡鸣</dc:creator>
  <cp:lastModifiedBy>Julia Tian （田颖）</cp:lastModifiedBy>
  <cp:revision>295</cp:revision>
  <dcterms:created xsi:type="dcterms:W3CDTF">2019-08-14T08:41:25Z</dcterms:created>
  <dcterms:modified xsi:type="dcterms:W3CDTF">2022-08-09T06:50:14Z</dcterms:modified>
</cp:coreProperties>
</file>