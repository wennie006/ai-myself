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01" r:id="rId2"/>
    <p:sldId id="342" r:id="rId4"/>
    <p:sldId id="351" r:id="rId16"/>
    <p:sldId id="352" r:id="rId17"/>
    <p:sldId id="353" r:id="rId18"/>
    <p:sldId id="354" r:id="rId19"/>
    <p:sldId id="355" r:id="rId20"/>
    <p:sldId id="356" r:id="rId21"/>
    <p:sldId id="357" r:id="rId22"/>
    <p:sldId id="358" r:id="rId23"/>
    <p:sldId id="359" r:id="rId24"/>
    <p:sldId id="334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出票率</c:v>
                </c:pt>
              </c:strCache>
            </c:strRef>
          </c:tx>
          <c:dPt>
            <c:idx val="0"/>
            <c:spPr>
              <a:solidFill>
                <a:srgbClr val="7A8599"/>
              </a:solidFill>
            </c:spPr>
          </c:dPt>
          <c:dPt>
            <c:idx val="1"/>
            <c:spPr>
              <a:solidFill>
                <a:srgbClr val="287DFA"/>
              </a:solidFill>
            </c:spPr>
          </c:dPt>
          <c:cat>
            <c:strRef>
              <c:f>Sheet1!$A$2:$A$3</c:f>
              <c:strCache>
                <c:ptCount val="2"/>
                <c:pt idx="0">
                  <c:v>改直付前</c:v>
                </c:pt>
                <c:pt idx="1">
                  <c:v>改直付后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72.8</c:v>
                </c:pt>
                <c:pt idx="1">
                  <c:v>94.0</c:v>
                </c:pt>
              </c:numCache>
            </c:numRef>
          </c:val>
        </c:ser>
        <c:dLbls>
          <c:numFmt formatCode="General&quot;%&quot;" sourceLinked="0"/>
          <c:txPr>
            <a:bodyPr/>
            <a:lstStyle/>
            <a:p>
              <a:pPr>
                <a:defRPr sz="1400" b="1">
                  <a:solidFill>
                    <a:srgbClr val="15315E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E2FB"/>
            </a:solidFill>
          </a:ln>
        </c:spPr>
        <c:txPr>
          <a:bodyPr/>
          <a:lstStyle/>
          <a:p>
            <a:pPr>
              <a:defRPr sz="1200">
                <a:solidFill>
                  <a:srgbClr val="3D475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4A5A24-1C80-4826-8331-A30A6CC3A2C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6053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03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以上就是我的分享，谢谢各位老师。</a:t>
            </a:r>
          </a:p>
        </p:txBody>
      </p:sp>
      <p:sp>
        <p:nvSpPr>
          <p:cNvPr id="104864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3012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罗蕴文，目前就读于复旦大学外国哲学专业，预计明年六月毕业。大家可能会好奇，为什么会从哲学转来做产品。对我来说，哲学训练留下的最大习惯，就是做事之前先把概念拆清楚、把问题的边界想清楚。</a:t>
            </a:r>
          </a:p>
          <a:p/>
          <a:p>
            <a:r>
              <a:t>在携程实习之前，我在小红书有一段产品实习，主要负责大模型“点点”在幽默语境下的评测和优化。我把这段工作总结为两件事：拓展模型的能力边界，限制模型的行为边界。这段实习让我对 AI 有了初步的理解，也锻炼了我使用各类 AI 平台、本地部署和调试 AI 工具的能力。</a:t>
            </a:r>
          </a:p>
          <a:p/>
          <a:p>
            <a:r>
              <a:t>今年 4 月底，我加入了携程火车票团队，工作围绕 AI 和抢票两条主线展开。这是我对 AI + 业务的一次深度尝试：从 AI native 产品的调优，转向在业务里用 AI 赋能，这是两种差异很大的思维方式。在抢票业务里，我也沉淀了一套可复用的方法论。</a:t>
            </a:r>
          </a:p>
          <a:p/>
          <a:p>
            <a:r>
              <a:t>接下来，我从这两条主线展开，介绍这段时间的工作成果和个人思考。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【过渡页，可一句话带过】先看两条主线的核心结果，接下来分别展开。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我的第一条主线是火车票 Agent，它主要负责承接问道分发过来的火车相关问题，我在这个项目里做的是偏基础的工作。Agent 能不能答好，前提是它能准确判断一个问题该不该由火车来回答、具体属于哪一类。所以我主要负责优化意图识别框架，解决“什么属于火车、什么不属于火车”的问题。</a:t>
            </a:r>
          </a:p>
          <a:p/>
          <a:p>
            <a:r>
              <a:t>一期上线前，我把 Agent 基于意图识别框架的分类结果，和算法按业务标签给出的分类结果逐条比对，核对两边不一致的场景，重点看从业务视角判断、算法对而 Agent 错的情况。这说明 Agent 的提示词有漏洞，才会把不属于这一类的 query 纳进来。我针对这些情况，逐条修改对应类别的关键词和分类标准，一期上线前，意图分类准确率从 94.6% 提升到了 98%。上线后，和问道兜底相比，正文完播率提升了 7.7%，说明回答内容更符合用户的需求。</a:t>
            </a:r>
          </a:p>
          <a:p/>
          <a:p>
            <a:r>
              <a:t>二期主要做拒答治理。降低拒答有两个方向：一是提升模型能力，让它能回答目前还答不了的问题；二是治理分发错误。我们是一个垂直于火车的 Agent，有一部分问题根本不属于火车，是被错误分发过来的，这类问题只要调整问道的分发策略就能解决，见效更快。所以我们在持续推进火车能力覆盖的同时，优先治理分发错误。我人工核查了 1,000 多条拒答 query，整理出火车问题的边界，问道据此调整了对火车 Agent 的分发策略，这类拒答的占比从 10.7% 降到了 4.9%。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我的第二条主线是抢票业务，聚焦的是票量。这里分享两个需求，它们有一个共同点：都是我们主动给了用户“可以出票”的承诺，用户也做出了行动，最后却没能出票。</a:t>
            </a:r>
          </a:p>
          <a:p/>
          <a:p>
            <a:r>
              <a:t>第一个是智能第二程。用户只抢到第一程时，系统会自动帮他生成第二程的捡漏单并完成扣位，再通过外呼或消息通知他确认出票。按 KANO 模型看，这是一个兴奋型需求，做到了是惊喜，做不到用户也不会抱怨；但一旦我们通知了用户、用户也付了款，他就会默认一定能出票。而受风控限制，付款环节容易失败，这个场景的出票率只有 72.8%。我们把这一步的付款统一改为直付，付款成功就能出票，出票率提升到 94%，预估年化票量增加 7 万张。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第二个是放开抢转买。在抢必走和 YOYO 有票方案的页面，我们会向用户推荐可以立即出票的替代方案。但用户妥协接受之后，之前走的仍然是抢票的捡漏扣位，出票概率【待补充】，用户的预期没能被满足，体验较差。所以我们为支付宝（非黑名单）订单放开了抢转买，用户接受方案后直接走买票接口出票。【上线后的增量，待补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两个需求让我意识到两件事。第一，这些订单的用户都已经付了款或做出了妥协，是出票意愿最强的一批人，在这里流失对票量最可惜，修复的回报也最直接。第二，两个问题的根源是一样的：用户的状态已经从“等待”变成了“确认”，后台却还沿用抢票订单原来的链路。所以在每一个让用户做决定的节点，都要检查后面的链路能不能兑现这个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在回收智能第二程的数据时，我发现 BI 取出来的订单几乎都是代付出票。这个需求本身就是把这些订单改成直付，数据却显示代付，说明口径可能有问题。我拿订单后台的直付标记找开发核实，再和 BI、数仓一起排查，原因是数仓判断直付依赖“候补直付”这个业务标记，而捡漏、智能这些后来接入的直付场景没有这个标记，全部被判成了代付。最后改为统一用订单上的直付出票标记来判断，数仓新增了“是否直付出票”字段。口径修正后，智能第二程的效果才能被正确评估，财务的结算报表也随之修正，团队之后可以直接复用。这件事让我意识到，数据口径会随着业务演进而过期：直付场景是陆续接入的，判断逻辑却停在了最早的候补直付。之后业务新增场景时，我会先确认相关的数据标记有没有跟着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回看这几个月，两条主线给我的收获不太一样。</a:t>
            </a:r>
          </a:p>
          <a:p>
            <a:r>
              <a:t>在火车票 Agent 上，我做的更多是模型侧的质量工作，离业务结果比较远；到了抢票业务，我开始直接对票量负责，也逐渐学会从业务指标倒推要做什么。</a:t>
            </a:r>
          </a:p>
          <a:p>
            <a:r>
              <a:t>这也让我对 AI 产品有了更具体的理解。</a:t>
            </a:r>
          </a:p>
          <a:p>
            <a:r>
              <a:t>在小红书时，模型本身就是产品，衡量的是模型表现得好不好。</a:t>
            </a:r>
          </a:p>
          <a:p>
            <a:r>
              <a:t>到了携程，AI 是服务业务的手段：边界由业务来定，形态要贴合用户的习惯，例如火车agent二期把对话改成直接操作列表页后，这种更符合用户原有行为链路的做法使得票量明显提升；最终衡量的是票量这样的业务结果。</a:t>
            </a:r>
          </a:p>
          <a:p>
            <a:r>
              <a:t>所以相比于AInative的产品，在探索AI+业务的时候，我始终应该先四骄傲业务需要它解决什么、用户习惯怎么用。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说到接下来的规划，我对抢票业务的理解是：它要同时平衡三件事，票量、收益和体验。</a:t>
            </a:r>
          </a:p>
          <a:p>
            <a:r>
              <a:t>前面讲到的几个需求，其实都是在这三者之间找平衡点：既要让更多订单出票，也要让用户在过程中有好的感受，同时守住平台的收益。</a:t>
            </a:r>
          </a:p>
          <a:p>
            <a:r>
              <a:t>接下来我也想围绕这三点继续推进。</a:t>
            </a:r>
          </a:p>
          <a:p>
            <a:r>
              <a:t>票量上，我想重点补齐小程序的支付策略。</a:t>
            </a:r>
          </a:p>
          <a:p>
            <a:r>
              <a:t>小程序受风控影响比较大，没法走代付出票，需要跳到客服对话付款的订单，只能通过支付召回来完成，付款这一步的流失比较多。</a:t>
            </a:r>
          </a:p>
          <a:p>
            <a:r>
              <a:t>接下来想从两个方向推进：一是在小程序内部优化付款方式，比如接入微信合单支付，在稳住体验的前提下提升小程序的票量；二是做场景转换，把订单引导到成功率更高的路径上，比如召回用户回到 App 下单，或者引导用户在小程序里完成信用付授权。</a:t>
            </a:r>
          </a:p>
          <a:p>
            <a:r>
              <a:t>收益上，我希望在合规的前提下，重新梳理各个场景里用户比较需要的服务，在目前线上的流程和环节中，补上一些收益场景的空白。</a:t>
            </a:r>
          </a:p>
          <a:p>
            <a:r>
              <a:t>同时，提高收益的前提是稳住用户体验，我目前正在探索的一个方向，就是外呼场景下的策略优化。</a:t>
            </a:r>
          </a:p>
          <a:p>
            <a:r>
              <a:t>AI 上，我希望从 AI native 的产品走进业务，把 AI 能力真正落到抢票业务的链路里。</a:t>
            </a:r>
          </a:p>
          <a:p>
            <a:r>
              <a:t>我已经在自己的工作中把Ai运用固定为一套较为固定的流程，比如用飞书命令行工具，直接读取文档、群聊记录，行程我个人的工作日报和提醒，进行材料的整理和数据核对，并且用claudecode写了一个skill，能够辅助进行需求验收。</a:t>
            </a:r>
          </a:p>
          <a:p>
            <a:r>
              <a:t>我一直在思考和探索的，还有如何找出那些用传统方法不太好解决的痛点，引入 AI，并用我们平台用户最容易接受的方式呈现，提供他们当下最需要的能力，让 AI 真正服务于票量、收益和体验三者之间的平衡。</a:t>
            </a:r>
          </a:p>
          <a:p>
            <a:r>
              <a:t>以上就是我的分享，谢谢各位老师。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tif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chart" Target="../charts/chart1.xml"/><Relationship Id="rId9" Type="http://schemas.openxmlformats.org/officeDocument/2006/relationships/image" Target="../media/image1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2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10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28.png"/><Relationship Id="rId8" Type="http://schemas.openxmlformats.org/officeDocument/2006/relationships/image" Target="../media/image3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/>
          <p:nvPr/>
        </p:nvSpPr>
        <p:spPr>
          <a:xfrm>
            <a:off x="419100" y="5943938"/>
            <a:ext cx="10414000" cy="510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This information is confidential or privileged. The information is intended to be for internal use.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are not the intended recipient, be aware that any disclosure, copying, distribution, or use of the contents of this information is prohibited.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have received this message in error, please delete it and all copies from your system and notify the sender immediately. </a:t>
            </a:r>
            <a:endParaRPr lang="en-US" sz="1000" dirty="0">
              <a:solidFill>
                <a:schemeClr val="bg1">
                  <a:alpha val="6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6" name="Rectangle 4"/>
          <p:cNvSpPr/>
          <p:nvPr/>
        </p:nvSpPr>
        <p:spPr>
          <a:xfrm>
            <a:off x="368300" y="2059744"/>
            <a:ext cx="922020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留用</a:t>
            </a: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答辩</a:t>
            </a:r>
            <a:endParaRPr lang="zh-CN" altLang="en-US" sz="50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368300" y="3140067"/>
            <a:ext cx="9220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24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汇报人：罗蕴文　｜　携程火车票</a:t>
            </a:r>
            <a:endParaRPr lang="zh-CN" altLang="en-US" sz="24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2733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>
            <a:spLocks/>
          </p:cNvSpPr>
          <p:nvPr/>
        </p:nvSpPr>
        <p:spPr>
          <a:xfrm>
            <a:off x="2785570" y="1053912"/>
            <a:ext cx="6172200" cy="857250"/>
          </a:xfrm>
          <a:prstGeom prst="rect">
            <a:avLst/>
          </a:prstGeom>
        </p:spPr>
        <p:txBody>
          <a:bodyPr>
            <a:norm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9pPr>
          </a:lstStyle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30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</a:p>
        </p:txBody>
      </p:sp>
      <p:grpSp>
        <p:nvGrpSpPr>
          <p:cNvPr id="6" name="组合 5"/>
          <p:cNvGrpSpPr/>
          <p:nvPr/>
        </p:nvGrpSpPr>
        <p:grpSpPr>
          <a:xfrm>
            <a:off x="4325652" y="2715790"/>
            <a:ext cx="586551" cy="572207"/>
            <a:chOff x="1254722" y="1864234"/>
            <a:chExt cx="782068" cy="762943"/>
          </a:xfrm>
        </p:grpSpPr>
        <p:grpSp>
          <p:nvGrpSpPr>
            <p:cNvPr id="7" name="组合 6"/>
            <p:cNvGrpSpPr/>
            <p:nvPr/>
          </p:nvGrpSpPr>
          <p:grpSpPr>
            <a:xfrm>
              <a:off x="1254722" y="1864234"/>
              <a:ext cx="762943" cy="762943"/>
              <a:chOff x="2894659" y="1465288"/>
              <a:chExt cx="1727827" cy="1727827"/>
            </a:xfrm>
          </p:grpSpPr>
          <p:grpSp>
            <p:nvGrpSpPr>
              <p:cNvPr id="9" name="组合 8"/>
              <p:cNvGrpSpPr/>
              <p:nvPr/>
            </p:nvGrpSpPr>
            <p:grpSpPr>
              <a:xfrm rot="1771504">
                <a:off x="2914532" y="1485269"/>
                <a:ext cx="1688083" cy="1687866"/>
                <a:chOff x="1827622" y="1343919"/>
                <a:chExt cx="2304000" cy="2304000"/>
              </a:xfrm>
            </p:grpSpPr>
            <p:sp>
              <p:nvSpPr>
                <p:cNvPr id="11" name="椭圆 10"/>
                <p:cNvSpPr/>
                <p:nvPr/>
              </p:nvSpPr>
              <p:spPr>
                <a:xfrm>
                  <a:off x="1827622" y="1343919"/>
                  <a:ext cx="2304000" cy="2304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bg1">
                        <a:lumMod val="85000"/>
                      </a:schemeClr>
                    </a:gs>
                    <a:gs pos="0">
                      <a:schemeClr val="bg1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>
                  <a:outerShdw blurRad="254000" dist="241300" dir="7800000" sx="85000" sy="85000" algn="tr" rotWithShape="0">
                    <a:prstClr val="black">
                      <a:alpha val="3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877481" y="1393778"/>
                  <a:ext cx="2204282" cy="220428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rgbClr val="FEFEFE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</p:grpSp>
          <p:sp>
            <p:nvSpPr>
              <p:cNvPr id="10" name="流程图: 联系 31"/>
              <p:cNvSpPr/>
              <p:nvPr/>
            </p:nvSpPr>
            <p:spPr>
              <a:xfrm>
                <a:off x="2894659" y="1465288"/>
                <a:ext cx="1727827" cy="1727827"/>
              </a:xfrm>
              <a:prstGeom prst="flowChartConnector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>
                  <a:solidFill>
                    <a:srgbClr val="00B7CA"/>
                  </a:solidFill>
                  <a:latin typeface="微软雅黑"/>
                  <a:ea typeface="微软雅黑"/>
                </a:endParaRPr>
              </a:p>
            </p:txBody>
          </p:sp>
        </p:grpSp>
        <p:sp>
          <p:nvSpPr>
            <p:cNvPr id="8" name="文本框 7"/>
            <p:cNvSpPr txBox="1"/>
            <p:nvPr/>
          </p:nvSpPr>
          <p:spPr>
            <a:xfrm>
              <a:off x="1378895" y="2045650"/>
              <a:ext cx="657895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3429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1771504">
            <a:off x="4725598" y="3085961"/>
            <a:ext cx="204183" cy="204157"/>
            <a:chOff x="1827622" y="1343919"/>
            <a:chExt cx="2304000" cy="2304000"/>
          </a:xfrm>
        </p:grpSpPr>
        <p:sp>
          <p:nvSpPr>
            <p:cNvPr id="15" name="椭圆 14"/>
            <p:cNvSpPr/>
            <p:nvPr/>
          </p:nvSpPr>
          <p:spPr>
            <a:xfrm>
              <a:off x="1827622" y="1343919"/>
              <a:ext cx="2304000" cy="2304000"/>
            </a:xfrm>
            <a:prstGeom prst="ellipse">
              <a:avLst/>
            </a:prstGeom>
            <a:gradFill flip="none" rotWithShape="1"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>
              <a:outerShdw blurRad="254000" dist="241300" dir="7800000" sx="85000" sy="85000" algn="tr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1877481" y="1393778"/>
              <a:ext cx="2204282" cy="2204282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EFEFE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</p:grpSp>
      <p:cxnSp>
        <p:nvCxnSpPr>
          <p:cNvPr id="17" name="直接连接符 16"/>
          <p:cNvCxnSpPr/>
          <p:nvPr/>
        </p:nvCxnSpPr>
        <p:spPr>
          <a:xfrm flipV="1">
            <a:off x="5447915" y="2710992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6698970" y="2700773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52"/>
          <p:cNvSpPr txBox="1"/>
          <p:nvPr/>
        </p:nvSpPr>
        <p:spPr>
          <a:xfrm>
            <a:off x="4207838" y="3582612"/>
            <a:ext cx="14856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</a:p>
        </p:txBody>
      </p:sp>
      <p:grpSp>
        <p:nvGrpSpPr>
          <p:cNvPr id="20" name="组合 19"/>
          <p:cNvGrpSpPr/>
          <p:nvPr/>
        </p:nvGrpSpPr>
        <p:grpSpPr>
          <a:xfrm>
            <a:off x="5576595" y="2730359"/>
            <a:ext cx="1003403" cy="1172691"/>
            <a:chOff x="2322174" y="2643308"/>
            <a:chExt cx="1337871" cy="1563587"/>
          </a:xfrm>
        </p:grpSpPr>
        <p:grpSp>
          <p:nvGrpSpPr>
            <p:cNvPr id="21" name="组合 20"/>
            <p:cNvGrpSpPr/>
            <p:nvPr/>
          </p:nvGrpSpPr>
          <p:grpSpPr>
            <a:xfrm>
              <a:off x="2523732" y="2643308"/>
              <a:ext cx="762943" cy="762943"/>
              <a:chOff x="2705448" y="1864234"/>
              <a:chExt cx="762943" cy="762943"/>
            </a:xfrm>
          </p:grpSpPr>
          <p:grpSp>
            <p:nvGrpSpPr>
              <p:cNvPr id="26" name="组合 25"/>
              <p:cNvGrpSpPr/>
              <p:nvPr/>
            </p:nvGrpSpPr>
            <p:grpSpPr>
              <a:xfrm>
                <a:off x="2705448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28" name="组合 27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30" name="椭圆 29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31" name="椭圆 30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29" name="流程图: 联系 38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srgbClr val="FFB757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27" name="文本框 26"/>
              <p:cNvSpPr txBox="1"/>
              <p:nvPr/>
            </p:nvSpPr>
            <p:spPr>
              <a:xfrm>
                <a:off x="2824945" y="2053130"/>
                <a:ext cx="568506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02</a:t>
                </a:r>
                <a:endParaRPr lang="zh-CN" altLang="en-US" sz="1500" dirty="0">
                  <a:solidFill>
                    <a:srgbClr val="0F6FC6"/>
                  </a:solidFill>
                </a:endParaRPr>
              </a:p>
            </p:txBody>
          </p:sp>
        </p:grpSp>
        <p:grpSp>
          <p:nvGrpSpPr>
            <p:cNvPr id="22" name="组合 21"/>
            <p:cNvGrpSpPr/>
            <p:nvPr/>
          </p:nvGrpSpPr>
          <p:grpSpPr>
            <a:xfrm rot="1771504">
              <a:off x="3072564" y="3144899"/>
              <a:ext cx="272244" cy="272209"/>
              <a:chOff x="1827622" y="1343919"/>
              <a:chExt cx="2304000" cy="2304000"/>
            </a:xfrm>
          </p:grpSpPr>
          <p:sp>
            <p:nvSpPr>
              <p:cNvPr id="24" name="椭圆 23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23" name="文本框 73"/>
            <p:cNvSpPr txBox="1"/>
            <p:nvPr/>
          </p:nvSpPr>
          <p:spPr>
            <a:xfrm>
              <a:off x="2322174" y="3776009"/>
              <a:ext cx="1337871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主要项目</a:t>
              </a: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911017" y="2705569"/>
            <a:ext cx="1485615" cy="1205220"/>
            <a:chOff x="4673318" y="2643310"/>
            <a:chExt cx="1980820" cy="1606959"/>
          </a:xfrm>
        </p:grpSpPr>
        <p:grpSp>
          <p:nvGrpSpPr>
            <p:cNvPr id="44" name="组合 43"/>
            <p:cNvGrpSpPr/>
            <p:nvPr/>
          </p:nvGrpSpPr>
          <p:grpSpPr>
            <a:xfrm>
              <a:off x="4861357" y="2643310"/>
              <a:ext cx="762943" cy="762943"/>
              <a:chOff x="4132381" y="1864234"/>
              <a:chExt cx="762943" cy="762943"/>
            </a:xfrm>
          </p:grpSpPr>
          <p:grpSp>
            <p:nvGrpSpPr>
              <p:cNvPr id="49" name="组合 48"/>
              <p:cNvGrpSpPr/>
              <p:nvPr/>
            </p:nvGrpSpPr>
            <p:grpSpPr>
              <a:xfrm>
                <a:off x="4132381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51" name="组合 50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53" name="椭圆 52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54" name="椭圆 53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52" name="流程图: 联系 45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prstClr val="white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50" name="文本框 49"/>
              <p:cNvSpPr txBox="1"/>
              <p:nvPr/>
            </p:nvSpPr>
            <p:spPr>
              <a:xfrm>
                <a:off x="4247986" y="2048949"/>
                <a:ext cx="580563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03</a:t>
                </a:r>
              </a:p>
            </p:txBody>
          </p:sp>
        </p:grpSp>
        <p:grpSp>
          <p:nvGrpSpPr>
            <p:cNvPr id="45" name="组合 44"/>
            <p:cNvGrpSpPr/>
            <p:nvPr/>
          </p:nvGrpSpPr>
          <p:grpSpPr>
            <a:xfrm rot="1771504">
              <a:off x="5425579" y="3131584"/>
              <a:ext cx="272244" cy="272209"/>
              <a:chOff x="1827622" y="1343919"/>
              <a:chExt cx="2304000" cy="2304000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46" name="文本框 75"/>
            <p:cNvSpPr txBox="1"/>
            <p:nvPr/>
          </p:nvSpPr>
          <p:spPr>
            <a:xfrm>
              <a:off x="4673318" y="3819383"/>
              <a:ext cx="1980820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未来规划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6903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0" name="Picture 1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482600" y="6280400"/>
            <a:ext cx="1696196" cy="123810"/>
          </a:xfrm>
          <a:prstGeom prst="rect">
            <a:avLst/>
          </a:prstGeom>
        </p:spPr>
      </p:pic>
      <p:sp>
        <p:nvSpPr>
          <p:cNvPr id="1048643" name="Rectangle 7"/>
          <p:cNvSpPr/>
          <p:nvPr/>
        </p:nvSpPr>
        <p:spPr>
          <a:xfrm>
            <a:off x="368300" y="2365325"/>
            <a:ext cx="2509371" cy="828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/>
            <a:r>
              <a:rPr 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Thanks</a:t>
            </a:r>
          </a:p>
        </p:txBody>
      </p:sp>
    </p:spTree>
    <p:extLst>
      <p:ext uri="{BB962C8B-B14F-4D97-AF65-F5344CB8AC3E}">
        <p14:creationId xmlns:p14="http://schemas.microsoft.com/office/powerpoint/2010/main" val="312095753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1、个人介绍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哲学训练留下的习惯：做事之前，先把概念拆清楚、把边界想清楚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2514600" cy="457200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37360"/>
            <a:ext cx="868680" cy="8686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Gradua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29"/>
            <a:ext cx="434340" cy="4343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7432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罗蕴文</a:t>
            </a:r>
          </a:p>
        </p:txBody>
      </p:sp>
      <p:pic>
        <p:nvPicPr>
          <p:cNvPr id="8" name="Picture 7" descr="FaCalendarCheck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456432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3401568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2027 年 6 月毕业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4069080"/>
            <a:ext cx="1965960" cy="0"/>
          </a:xfrm>
          <a:prstGeom prst="line">
            <a:avLst/>
          </a:prstGeom>
          <a:ln w="12700">
            <a:solidFill>
              <a:srgbClr val="D3E2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2519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此前经历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5371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小红书 · 产品实习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56048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大模型“点点”幽默语境下的测评与优化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481328"/>
            <a:ext cx="3977639" cy="384048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43400" y="1481328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第一阶段：火车票 AI</a:t>
            </a:r>
          </a:p>
        </p:txBody>
      </p:sp>
      <p:sp>
        <p:nvSpPr>
          <p:cNvPr id="16" name="Pentagon 15"/>
          <p:cNvSpPr/>
          <p:nvPr/>
        </p:nvSpPr>
        <p:spPr>
          <a:xfrm>
            <a:off x="7680959" y="1481328"/>
            <a:ext cx="3985014" cy="384048"/>
          </a:xfrm>
          <a:prstGeom prst="homePlat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680959" y="1481328"/>
            <a:ext cx="398501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第二阶段：抢票业务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43400" y="2240280"/>
            <a:ext cx="7322574" cy="0"/>
          </a:xfrm>
          <a:prstGeom prst="line">
            <a:avLst/>
          </a:prstGeom>
          <a:ln w="15875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02335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5月</a:t>
            </a:r>
          </a:p>
        </p:txBody>
      </p:sp>
      <p:sp>
        <p:nvSpPr>
          <p:cNvPr id="20" name="Oval 19"/>
          <p:cNvSpPr/>
          <p:nvPr/>
        </p:nvSpPr>
        <p:spPr>
          <a:xfrm>
            <a:off x="434340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438912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749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6月</a:t>
            </a:r>
          </a:p>
        </p:txBody>
      </p:sp>
      <p:sp>
        <p:nvSpPr>
          <p:cNvPr id="23" name="Oval 22"/>
          <p:cNvSpPr/>
          <p:nvPr/>
        </p:nvSpPr>
        <p:spPr>
          <a:xfrm>
            <a:off x="53949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544067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6363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7月</a:t>
            </a:r>
          </a:p>
        </p:txBody>
      </p:sp>
      <p:sp>
        <p:nvSpPr>
          <p:cNvPr id="26" name="Oval 25"/>
          <p:cNvSpPr/>
          <p:nvPr/>
        </p:nvSpPr>
        <p:spPr>
          <a:xfrm>
            <a:off x="658367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662939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1519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8月</a:t>
            </a:r>
          </a:p>
        </p:txBody>
      </p:sp>
      <p:sp>
        <p:nvSpPr>
          <p:cNvPr id="29" name="Oval 28"/>
          <p:cNvSpPr/>
          <p:nvPr/>
        </p:nvSpPr>
        <p:spPr>
          <a:xfrm>
            <a:off x="763523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768095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7325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9月</a:t>
            </a:r>
          </a:p>
        </p:txBody>
      </p:sp>
      <p:sp>
        <p:nvSpPr>
          <p:cNvPr id="32" name="Oval 31"/>
          <p:cNvSpPr/>
          <p:nvPr/>
        </p:nvSpPr>
        <p:spPr>
          <a:xfrm>
            <a:off x="90525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Connector 32"/>
          <p:cNvCxnSpPr/>
          <p:nvPr/>
        </p:nvCxnSpPr>
        <p:spPr>
          <a:xfrm>
            <a:off x="909828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149840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10月</a:t>
            </a:r>
          </a:p>
        </p:txBody>
      </p:sp>
      <p:sp>
        <p:nvSpPr>
          <p:cNvPr id="35" name="Oval 34"/>
          <p:cNvSpPr/>
          <p:nvPr/>
        </p:nvSpPr>
        <p:spPr>
          <a:xfrm>
            <a:off x="1046988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6" name="Connector 35"/>
          <p:cNvCxnSpPr/>
          <p:nvPr/>
        </p:nvCxnSpPr>
        <p:spPr>
          <a:xfrm>
            <a:off x="1051560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200400" y="2450592"/>
            <a:ext cx="1005840" cy="1060704"/>
          </a:xfrm>
          <a:prstGeom prst="roundRect">
            <a:avLst>
              <a:gd name="adj" fmla="val 12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200400" y="2450592"/>
            <a:ext cx="10058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火车票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43400" y="2450592"/>
            <a:ext cx="1063358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343400" y="2450592"/>
            <a:ext cx="106335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竞品分析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40679" y="2834640"/>
            <a:ext cx="14261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440679" y="2834640"/>
            <a:ext cx="14261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一期：意图识别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00770" y="3218688"/>
            <a:ext cx="16488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900770" y="3218688"/>
            <a:ext cx="16488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二期：验收与拒答治理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00400" y="3803904"/>
            <a:ext cx="1005840" cy="2212848"/>
          </a:xfrm>
          <a:prstGeom prst="roundRect">
            <a:avLst>
              <a:gd name="adj" fmla="val 12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200400" y="3803904"/>
            <a:ext cx="1005840" cy="22128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抢票需求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38219" y="3803904"/>
            <a:ext cx="2054548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138219" y="3803904"/>
            <a:ext cx="205454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支付失败小场景修复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80959" y="4187952"/>
            <a:ext cx="2409444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80959" y="4187952"/>
            <a:ext cx="2409444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智能第二程接直付 · 口径修正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09559" y="4572000"/>
            <a:ext cx="1897380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909559" y="4572000"/>
            <a:ext cx="18973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双节活动日历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4956048"/>
            <a:ext cx="2055875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412480" y="4956048"/>
            <a:ext cx="2055875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默认截止时间设置优化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23476" y="5340096"/>
            <a:ext cx="1490619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523476" y="5340096"/>
            <a:ext cx="149061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支付流程补足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712452" y="5724144"/>
            <a:ext cx="1362456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712452" y="5724144"/>
            <a:ext cx="1362456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在线换座体验优化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两条主线：AI 线让 Agent“判断对”，抢票线让用户“出得了票”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30"/>
            <a:ext cx="342900" cy="342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 · 意图识别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意图分类准确率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一期上线前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05840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二期分发策略调整后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565392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842" y="1954530"/>
            <a:ext cx="342900" cy="3429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34072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 · 支付链路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93992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72.8% → 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确认出票改为直付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65392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93992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预估年化票量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智能第二程接直付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火车票 Agent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Agent 最基础的能力，是正确理解用户的问题：该不该由火车来答、属于哪一类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意图识别优化：界定什么属于火车</a:t>
            </a:r>
          </a:p>
        </p:txBody>
      </p:sp>
      <p:sp>
        <p:nvSpPr>
          <p:cNvPr id="6" name="icon-circle"/>
          <p:cNvSpPr/>
          <p:nvPr/>
        </p:nvSpPr>
        <p:spPr>
          <a:xfrm>
            <a:off x="502920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302002"/>
            <a:ext cx="251460" cy="251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问题：意图识别存在错误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意图识别是最基础的能力，分错了类就会答非所问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提示词存在不足，把不属于该类的 query 纳了进来</a:t>
            </a:r>
          </a:p>
        </p:txBody>
      </p:sp>
      <p:sp>
        <p:nvSpPr>
          <p:cNvPr id="10" name="icon-circle"/>
          <p:cNvSpPr/>
          <p:nvPr/>
        </p:nvSpPr>
        <p:spPr>
          <a:xfrm>
            <a:off x="502920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MagnifyingGlas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3490722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88720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方案：以算法业务标签为参照，修订分类框架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抽样 1,000 条线上 query，与算法业务标签逐条比对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针对“算法正确、Agent 错误”的样本，逐类修订分类标准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意图识别准确率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9834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64608" y="50566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64608" y="50566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+3.59%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138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正文完播率（对比问道兜底）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51383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57% → 60.7%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64608" y="558698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64608" y="5586984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+7.7%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45352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拒答治理：界定什么不属于火车</a:t>
            </a:r>
          </a:p>
        </p:txBody>
      </p:sp>
      <p:sp>
        <p:nvSpPr>
          <p:cNvPr id="26" name="icon-circle"/>
          <p:cNvSpPr/>
          <p:nvPr/>
        </p:nvSpPr>
        <p:spPr>
          <a:xfrm>
            <a:off x="6291072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02" y="2302002"/>
            <a:ext cx="251460" cy="2514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76872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问题：火车 Agent 拒答率偏高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约一半问题被拒答，其中部分是被错误分发的非火车问题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这类问题在火车 Agent 内无法回答，只能从上游分发解决</a:t>
            </a:r>
          </a:p>
        </p:txBody>
      </p:sp>
      <p:sp>
        <p:nvSpPr>
          <p:cNvPr id="30" name="icon-circle"/>
          <p:cNvSpPr/>
          <p:nvPr/>
        </p:nvSpPr>
        <p:spPr>
          <a:xfrm>
            <a:off x="6291072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FaFilt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802" y="3490722"/>
            <a:ext cx="251460" cy="2514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76872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方案：推进能力覆盖的同时，优先治理错误分发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6872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人工核查 1,000 多条拒答 query，整理火车问题的边界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推动问道调整分发，非火车问题交由其他 Agent 回答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5352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19672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9672" y="52120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14232" y="52120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52760" y="52852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652760" y="52852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−54.2%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抢票：智能第二程接直付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智能第二程——兴奋型需求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129284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WandMagicSparkl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731" y="1856232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生成第二程捡漏单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并完成扣位</a:t>
            </a:r>
          </a:p>
        </p:txBody>
      </p:sp>
      <p:sp>
        <p:nvSpPr>
          <p:cNvPr id="8" name="arrow"/>
          <p:cNvSpPr/>
          <p:nvPr/>
        </p:nvSpPr>
        <p:spPr>
          <a:xfrm>
            <a:off x="2459736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724912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3396996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PhoneVolum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2444" y="185623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16352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外呼 / 消息通知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用户确认出票</a:t>
            </a:r>
          </a:p>
        </p:txBody>
      </p:sp>
      <p:sp>
        <p:nvSpPr>
          <p:cNvPr id="13" name="arrow"/>
          <p:cNvSpPr/>
          <p:nvPr/>
        </p:nvSpPr>
        <p:spPr>
          <a:xfrm>
            <a:off x="4727448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992624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5664708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CreditCar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0156" y="1856232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84064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用户确认并付款</a:t>
            </a:r>
          </a:p>
        </p:txBody>
      </p:sp>
      <p:sp>
        <p:nvSpPr>
          <p:cNvPr id="18" name="arrow"/>
          <p:cNvSpPr/>
          <p:nvPr/>
        </p:nvSpPr>
        <p:spPr>
          <a:xfrm>
            <a:off x="6995159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7260336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-circle"/>
          <p:cNvSpPr/>
          <p:nvPr/>
        </p:nvSpPr>
        <p:spPr>
          <a:xfrm>
            <a:off x="7932419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7867" y="1856232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51775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01184" y="1463040"/>
            <a:ext cx="4416552" cy="1645920"/>
          </a:xfrm>
          <a:prstGeom prst="rect">
            <a:avLst/>
          </a:prstGeom>
          <a:noFill/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901184" y="3154680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受风控限制，付款到出票环节容易失败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657600"/>
            <a:ext cx="4480560" cy="24231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Lightbulb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858768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70432" y="385876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KANO：兴奋型需求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89120"/>
            <a:ext cx="4069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通知 + 付款后，用户默认一定能出票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出票失败，体验比没有这个功能更差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303520"/>
            <a:ext cx="40233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30352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解决方案　</a:t>
            </a:r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确认出票统一改为直付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5120640" y="3657600"/>
          <a:ext cx="2377440" cy="24231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7680960" y="3657600"/>
            <a:ext cx="1691640" cy="24231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726679" y="434340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预估年化票量</a:t>
            </a:r>
          </a:p>
          <a:p>
            <a:pPr algn="ctr">
              <a:spcBef>
                <a:spcPts val="600"/>
              </a:spcBef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pic>
        <p:nvPicPr>
          <p:cNvPr id="34" name="真实截图-车票待确认" descr="second_leg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0689" y="1463040"/>
            <a:ext cx="2101062" cy="461772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抢票：支付宝（非黑名单）放开抢转买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用户的让步，换的是“马上能出票”</a:t>
            </a:r>
          </a:p>
        </p:txBody>
      </p:sp>
      <p:pic>
        <p:nvPicPr>
          <p:cNvPr id="4" name="真实截图-抢必走" descr="qb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抢必走</a:t>
            </a:r>
          </a:p>
        </p:txBody>
      </p:sp>
      <p:pic>
        <p:nvPicPr>
          <p:cNvPr id="6" name="真实截图-有票方案" descr="yoy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5631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535631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有票方案页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con-circle"/>
          <p:cNvSpPr/>
          <p:nvPr/>
        </p:nvSpPr>
        <p:spPr>
          <a:xfrm>
            <a:off x="5175504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MagnifyingGlas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2664" y="2039112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54880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抢票中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持续监控余票</a:t>
            </a:r>
          </a:p>
        </p:txBody>
      </p:sp>
      <p:sp>
        <p:nvSpPr>
          <p:cNvPr id="12" name="arrow"/>
          <p:cNvSpPr/>
          <p:nvPr/>
        </p:nvSpPr>
        <p:spPr>
          <a:xfrm>
            <a:off x="6245352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09160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1 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986016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List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3176" y="2039112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65392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推荐可立即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出票的替代方案</a:t>
            </a:r>
          </a:p>
        </p:txBody>
      </p:sp>
      <p:sp>
        <p:nvSpPr>
          <p:cNvPr id="18" name="arrow"/>
          <p:cNvSpPr/>
          <p:nvPr/>
        </p:nvSpPr>
        <p:spPr>
          <a:xfrm>
            <a:off x="8055864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19672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2 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30183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icon-circle"/>
          <p:cNvSpPr/>
          <p:nvPr/>
        </p:nvSpPr>
        <p:spPr>
          <a:xfrm>
            <a:off x="8796528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FaUser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33688" y="2039112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75904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用户让步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接受替代方案</a:t>
            </a:r>
          </a:p>
        </p:txBody>
      </p:sp>
      <p:sp>
        <p:nvSpPr>
          <p:cNvPr id="24" name="arrow"/>
          <p:cNvSpPr/>
          <p:nvPr/>
        </p:nvSpPr>
        <p:spPr>
          <a:xfrm>
            <a:off x="9866376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330183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3 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40696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10607040" y="1901952"/>
            <a:ext cx="548640" cy="54864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Tick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2039112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86416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0696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第 4 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9296" y="3200400"/>
            <a:ext cx="1024128" cy="274320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369296" y="3200400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需要修改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361188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第 4 步怎么走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09160" y="4069080"/>
            <a:ext cx="777240" cy="731520"/>
          </a:xfrm>
          <a:prstGeom prst="roundRect">
            <a:avLst>
              <a:gd name="adj" fmla="val 2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709160" y="4069080"/>
            <a:ext cx="777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05272" y="4069080"/>
            <a:ext cx="6053328" cy="73152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FaRotate_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0" y="4270248"/>
            <a:ext cx="329184" cy="3291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217920" y="40690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仍走抢票的捡漏扣位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200" y="425196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601200" y="42519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出票概率【待补充】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09160" y="5029200"/>
            <a:ext cx="777240" cy="731520"/>
          </a:xfrm>
          <a:prstGeom prst="roundRect">
            <a:avLst>
              <a:gd name="adj" fmla="val 2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09160" y="5029200"/>
            <a:ext cx="777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之后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05272" y="5029200"/>
            <a:ext cx="6053328" cy="73152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FaCircle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5230368"/>
            <a:ext cx="329184" cy="3291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217920" y="50292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支付宝（非黑名单）订单直接走买票接口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01200" y="521208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601200" y="52120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上线后增量【待补】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抢票：两个需求的共同点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我们主动给了“可以出票”的承诺，用户做出了行动，最后却没能出票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出票意愿最强的一批人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这些订单的用户都已经付了款或做出了妥协，在这里流失对票量最可惜，修复的回报也最直接。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6565392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Rout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965960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25512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两个问题的根源相同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用户的状态已经从“等待”变成了“确认”，后台却还沿用抢票订单原来的链路。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已付款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33172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已妥协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22376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等待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22" name="arrow"/>
          <p:cNvSpPr/>
          <p:nvPr/>
        </p:nvSpPr>
        <p:spPr>
          <a:xfrm>
            <a:off x="8641080" y="3749039"/>
            <a:ext cx="640080" cy="27432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57200" y="4572000"/>
            <a:ext cx="11274552" cy="15087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ullsey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983480"/>
            <a:ext cx="685800" cy="685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83080" y="4572000"/>
            <a:ext cx="969264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可复用的原则</a:t>
            </a:r>
          </a:p>
          <a:p>
            <a:pPr algn="l">
              <a:spcBef>
                <a:spcPts val="600"/>
              </a:spcBef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在每一个让用户做决定的节点，都要检查后面的链路能不能兑现这个决定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抢票：数据口径修正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需求改成了直付，数据却显示代付：数据口径会随业务演进而过期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6949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651760"/>
                <a:gridCol w="292608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判断依据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“候补直付”业务标记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订单上的直付出票标记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覆盖场景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只覆盖候补直付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候补、捡漏、智能等全部直付场景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捡漏、智能直付被判成代付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数仓新增“是否直付出票”字段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0916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处理过程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发现数据异常</a:t>
            </a:r>
          </a:p>
        </p:txBody>
      </p:sp>
      <p:sp>
        <p:nvSpPr>
          <p:cNvPr id="8" name="arrow"/>
          <p:cNvSpPr/>
          <p:nvPr/>
        </p:nvSpPr>
        <p:spPr>
          <a:xfrm>
            <a:off x="2029967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24028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4028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找开发核实标记</a:t>
            </a:r>
          </a:p>
        </p:txBody>
      </p:sp>
      <p:sp>
        <p:nvSpPr>
          <p:cNvPr id="11" name="arrow"/>
          <p:cNvSpPr/>
          <p:nvPr/>
        </p:nvSpPr>
        <p:spPr>
          <a:xfrm>
            <a:off x="381304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02336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02336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与 BI、数仓排查</a:t>
            </a:r>
          </a:p>
        </p:txBody>
      </p:sp>
      <p:sp>
        <p:nvSpPr>
          <p:cNvPr id="14" name="arrow"/>
          <p:cNvSpPr/>
          <p:nvPr/>
        </p:nvSpPr>
        <p:spPr>
          <a:xfrm>
            <a:off x="559612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80644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0644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统一判断口径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修正之后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210312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8046720" y="233172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Chart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740" y="2491739"/>
            <a:ext cx="320040" cy="320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69680" y="21031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需求效果能被正确评估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342900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FileInvoiceDoll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6740" y="3817620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69680" y="342900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财务结算报表随之修正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754879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8046720" y="4983479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People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6740" y="5143499"/>
            <a:ext cx="320040" cy="320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69680" y="4754879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团队之后的直付代付取数可直接复用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3、思考与未来规划 · 从 AI native 到 AI × 业务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从模型侧的质量工作，走到直接对业务结果负责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383280" cy="347472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83080"/>
            <a:ext cx="640080" cy="64008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943100"/>
            <a:ext cx="32004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760" y="1783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AI native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对模型能力负责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3580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模型本身就是产品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94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衡量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8736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模型表现得好不好</a:t>
            </a:r>
          </a:p>
        </p:txBody>
      </p:sp>
      <p:sp>
        <p:nvSpPr>
          <p:cNvPr id="12" name="arrow"/>
          <p:cNvSpPr/>
          <p:nvPr/>
        </p:nvSpPr>
        <p:spPr>
          <a:xfrm>
            <a:off x="3977639" y="3063240"/>
            <a:ext cx="502920" cy="45720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617720" y="1554480"/>
            <a:ext cx="7114032" cy="347472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-circle"/>
          <p:cNvSpPr/>
          <p:nvPr/>
        </p:nvSpPr>
        <p:spPr>
          <a:xfrm>
            <a:off x="4892040" y="178308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059" y="1943100"/>
            <a:ext cx="32004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0" y="17830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AI × 业务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对业务结果负责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7830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定位：AI 是服务业务的手段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2697480"/>
            <a:ext cx="6583680" cy="62179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5029200" y="2798064"/>
            <a:ext cx="420624" cy="420624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Layer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4356" y="2903220"/>
            <a:ext cx="210312" cy="2103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77840" y="2697480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697480"/>
            <a:ext cx="50749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由业务来定：什么属于火车、什么不属于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92040" y="3447288"/>
            <a:ext cx="6583680" cy="62179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icon-circle"/>
          <p:cNvSpPr/>
          <p:nvPr/>
        </p:nvSpPr>
        <p:spPr>
          <a:xfrm>
            <a:off x="5029200" y="3547872"/>
            <a:ext cx="420624" cy="420624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4356" y="3653028"/>
            <a:ext cx="210312" cy="21031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7840" y="3447288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形态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447288"/>
            <a:ext cx="50749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贴合用户习惯：对话 → 直接操作列表页，票量明显提升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92040" y="4197096"/>
            <a:ext cx="6583680" cy="62179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icon-circle"/>
          <p:cNvSpPr/>
          <p:nvPr/>
        </p:nvSpPr>
        <p:spPr>
          <a:xfrm>
            <a:off x="5029200" y="4297680"/>
            <a:ext cx="420624" cy="420624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FaChartLin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4356" y="440283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577840" y="4197096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衡量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197096"/>
            <a:ext cx="50749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票量这样的业务结果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57800"/>
            <a:ext cx="11274552" cy="8229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FaLightbulb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58968"/>
            <a:ext cx="420624" cy="42062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417320" y="5257800"/>
            <a:ext cx="101498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探索 AI + 业务时，先想清楚：</a:t>
            </a: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业务需要它解决什么？用户习惯怎么用？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在票量、收益、体验之间找平衡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抢票业务要同时平衡票量、收益与体验，AI 服务于三者的平衡</a:t>
            </a:r>
          </a:p>
        </p:txBody>
      </p:sp>
      <p:sp>
        <p:nvSpPr>
          <p:cNvPr id="4" name="Isosceles Triangle 3"/>
          <p:cNvSpPr/>
          <p:nvPr/>
        </p:nvSpPr>
        <p:spPr>
          <a:xfrm>
            <a:off x="868680" y="1965960"/>
            <a:ext cx="3017520" cy="2743200"/>
          </a:xfrm>
          <a:prstGeom prst="triangl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993392" y="139903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Ti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416" y="1591056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219456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票量</a:t>
            </a:r>
          </a:p>
        </p:txBody>
      </p:sp>
      <p:sp>
        <p:nvSpPr>
          <p:cNvPr id="8" name="icon-circle"/>
          <p:cNvSpPr/>
          <p:nvPr/>
        </p:nvSpPr>
        <p:spPr>
          <a:xfrm>
            <a:off x="484632" y="432511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517136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51206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收益</a:t>
            </a:r>
          </a:p>
        </p:txBody>
      </p:sp>
      <p:sp>
        <p:nvSpPr>
          <p:cNvPr id="11" name="icon-circle"/>
          <p:cNvSpPr/>
          <p:nvPr/>
        </p:nvSpPr>
        <p:spPr>
          <a:xfrm>
            <a:off x="3502152" y="432511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4517136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37560" y="51206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体验</a:t>
            </a:r>
          </a:p>
        </p:txBody>
      </p:sp>
      <p:sp>
        <p:nvSpPr>
          <p:cNvPr id="14" name="icon-circle"/>
          <p:cNvSpPr/>
          <p:nvPr/>
        </p:nvSpPr>
        <p:spPr>
          <a:xfrm>
            <a:off x="1920240" y="3154680"/>
            <a:ext cx="914400" cy="914400"/>
          </a:xfrm>
          <a:prstGeom prst="ellipse">
            <a:avLst/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383280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28800" y="4096512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AI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26280" y="1554480"/>
          <a:ext cx="720547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697480"/>
                <a:gridCol w="327355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方向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现状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接下来做什么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票量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小程序受风控影响无法代付，跳客服付款，流失多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小程序内：接入微信合单支付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场景转换：召回 App、引导信用付授权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收益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合规要求下，部分环节存在收益场景空白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梳理用户需要的服务，补齐收益场景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体验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提高收益的前提，是稳住用户体验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外呼场景的策略优化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已固化进个人工作流：飞书 CLI、Claude Code Skill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找到传统方法难解决的痛点，用平台用户最易接受的方式落地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18" name="icon-circle"/>
          <p:cNvSpPr/>
          <p:nvPr/>
        </p:nvSpPr>
        <p:spPr>
          <a:xfrm>
            <a:off x="4636008" y="23682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FaTi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020" y="2464308"/>
            <a:ext cx="192024" cy="192024"/>
          </a:xfrm>
          <a:prstGeom prst="rect">
            <a:avLst/>
          </a:prstGeom>
        </p:spPr>
      </p:pic>
      <p:sp>
        <p:nvSpPr>
          <p:cNvPr id="20" name="icon-circle"/>
          <p:cNvSpPr/>
          <p:nvPr/>
        </p:nvSpPr>
        <p:spPr>
          <a:xfrm>
            <a:off x="4636008" y="33969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020" y="3493008"/>
            <a:ext cx="192024" cy="192024"/>
          </a:xfrm>
          <a:prstGeom prst="rect">
            <a:avLst/>
          </a:prstGeom>
        </p:spPr>
      </p:pic>
      <p:sp>
        <p:nvSpPr>
          <p:cNvPr id="22" name="icon-circle"/>
          <p:cNvSpPr/>
          <p:nvPr/>
        </p:nvSpPr>
        <p:spPr>
          <a:xfrm>
            <a:off x="4636008" y="43113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20" y="4407408"/>
            <a:ext cx="192024" cy="192024"/>
          </a:xfrm>
          <a:prstGeom prst="rect">
            <a:avLst/>
          </a:prstGeom>
        </p:spPr>
      </p:pic>
      <p:sp>
        <p:nvSpPr>
          <p:cNvPr id="24" name="icon-circle"/>
          <p:cNvSpPr/>
          <p:nvPr/>
        </p:nvSpPr>
        <p:spPr>
          <a:xfrm>
            <a:off x="4636008" y="5317236"/>
            <a:ext cx="384048" cy="384048"/>
          </a:xfrm>
          <a:prstGeom prst="ellipse">
            <a:avLst/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020" y="5413248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